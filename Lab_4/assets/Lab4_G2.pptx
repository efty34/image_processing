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1"/>
  </p:notesMasterIdLst>
  <p:sldIdLst>
    <p:sldId id="256" r:id="rId2"/>
    <p:sldId id="289" r:id="rId3"/>
    <p:sldId id="299" r:id="rId4"/>
    <p:sldId id="300" r:id="rId5"/>
    <p:sldId id="301" r:id="rId6"/>
    <p:sldId id="308" r:id="rId7"/>
    <p:sldId id="309" r:id="rId8"/>
    <p:sldId id="306" r:id="rId9"/>
    <p:sldId id="310" r:id="rId10"/>
    <p:sldId id="330" r:id="rId11"/>
    <p:sldId id="302" r:id="rId12"/>
    <p:sldId id="331" r:id="rId13"/>
    <p:sldId id="311" r:id="rId14"/>
    <p:sldId id="307" r:id="rId15"/>
    <p:sldId id="472" r:id="rId16"/>
    <p:sldId id="1046" r:id="rId17"/>
    <p:sldId id="473" r:id="rId18"/>
    <p:sldId id="474" r:id="rId19"/>
    <p:sldId id="332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029" autoAdjust="0"/>
    <p:restoredTop sz="94660"/>
  </p:normalViewPr>
  <p:slideViewPr>
    <p:cSldViewPr snapToGrid="0">
      <p:cViewPr varScale="1">
        <p:scale>
          <a:sx n="85" d="100"/>
          <a:sy n="85" d="100"/>
        </p:scale>
        <p:origin x="542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5049794-C84E-4082-8D4E-5398E1A45EA7}" type="datetimeFigureOut">
              <a:rPr lang="en-US" smtClean="0"/>
              <a:t>9/24/2025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0BBC0CB-5391-4231-9479-19483AC32B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53041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07A3FF-9141-45E8-B755-E24412292F9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CDFA5BA-64EF-4BEF-A77D-59421F1CC5E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C374BA-0BF1-464A-A206-139518D508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71C1B8-AD85-425D-A891-7F7F61302E2F}" type="datetime1">
              <a:rPr lang="en-US" smtClean="0"/>
              <a:t>9/24/2025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245264-C8F3-454B-A2E8-F18608F54C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1407D2-BE6D-49D3-B82D-F52DAF80B9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BBE439-A689-4E67-A7FC-21353A5E32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62790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90D6E4-58FD-4F5E-8EF0-25336D4917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47887"/>
          </a:xfrm>
        </p:spPr>
        <p:txBody>
          <a:bodyPr/>
          <a:lstStyle>
            <a:lvl1pPr>
              <a:defRPr b="1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1BAE46-2D00-4EA2-BB3E-0D91A14A6B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01271"/>
            <a:ext cx="10515600" cy="497569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B3BC85-5AB3-4E0B-B666-19AC052F6D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A7C1C3-5378-46F6-AA21-02B58FE971C6}" type="datetime1">
              <a:rPr lang="en-US" smtClean="0"/>
              <a:t>9/24/2025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7DC114-8F75-43E7-979F-EF5C200153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66C484-0E3A-44EA-8559-A22A2FCB72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400">
                <a:solidFill>
                  <a:schemeClr val="tx1"/>
                </a:solidFill>
              </a:defRPr>
            </a:lvl1pPr>
          </a:lstStyle>
          <a:p>
            <a:fld id="{F1BBE439-A689-4E67-A7FC-21353A5E327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E770D6A-3FD7-42FD-A476-85B1F00CAE44}"/>
              </a:ext>
            </a:extLst>
          </p:cNvPr>
          <p:cNvSpPr/>
          <p:nvPr userDrawn="1"/>
        </p:nvSpPr>
        <p:spPr>
          <a:xfrm>
            <a:off x="775447" y="1013012"/>
            <a:ext cx="10578353" cy="124433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75000"/>
                </a:schemeClr>
              </a:gs>
              <a:gs pos="83000">
                <a:schemeClr val="accent1">
                  <a:lumMod val="50000"/>
                </a:schemeClr>
              </a:gs>
              <a:gs pos="100000">
                <a:schemeClr val="accent1">
                  <a:lumMod val="50000"/>
                </a:scheme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10035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7E8847-C3B2-4062-A312-8470639A43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0B21D18-4B57-451B-BCCE-6270B470F1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478026-920F-41C1-B09C-9C3AEC60FC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9A1A5E-9C33-4F86-80D9-4BAED0911429}" type="datetime1">
              <a:rPr lang="en-US" smtClean="0"/>
              <a:t>9/24/2025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A4277F-A567-4DE2-9069-3486F087AE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E7B2B2-8F13-43E4-8DBE-5E0DC650A7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BBE439-A689-4E67-A7FC-21353A5E32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81073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CF2885-D6AE-444D-9E93-D461D38D35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E7F0B0-7675-4CB4-B1F3-D1239E0E697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0E5491B-C40B-49C8-B56B-A1623FEF14B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1E647DA-E47F-4B79-A90B-AFF638B14F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A102CB-F384-4A4C-82B8-79D60BFA27C5}" type="datetime1">
              <a:rPr lang="en-US" smtClean="0"/>
              <a:t>9/24/2025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5827053-2487-412D-BFB4-93DBFC62EB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6A22E3A-B41E-4F6A-88ED-78DFFE1A5A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BBE439-A689-4E67-A7FC-21353A5E32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81905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FB6F89-A02B-4132-8774-A1395D1BCA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3062E5F-CA6C-4EDF-BD48-366EC90FF98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35B0677-BED7-4216-8A86-EA73D3EB0D8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826D05D-3447-4084-824C-10B64017181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3572110-AAE1-4116-8304-1279B9FEB78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1AB4AC0-DA9C-4B3B-B738-64DA18BE90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011134-CF07-4806-AC2D-C4CF86D8AF9B}" type="datetime1">
              <a:rPr lang="en-US" smtClean="0"/>
              <a:t>9/24/2025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9BC0346-E7CA-49D4-9F16-C51CE8763B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8C20EDF-1961-4C69-B624-FB250EC38A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BBE439-A689-4E67-A7FC-21353A5E32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6143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23C67B-7AEC-4DE3-B0C0-3F3AAE23B4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33688C5-E58C-49CE-995A-8C22DF6ABE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767434-8F23-4DD5-BD51-853123BE4FA3}" type="datetime1">
              <a:rPr lang="en-US" smtClean="0"/>
              <a:t>9/24/2025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42F5AB5-AB00-4E48-9ACA-C9C8EF7277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E57664E-F5E7-44AA-8CB8-05E72BB288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BBE439-A689-4E67-A7FC-21353A5E32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11516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4902297-8E8E-4AB4-9D68-4806C3DB46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4F706E-2165-4BB6-98D7-C9EE277D9AF2}" type="datetime1">
              <a:rPr lang="en-US" smtClean="0"/>
              <a:t>9/24/2025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1C1B121-2BB3-4C47-A8BB-0235FCC1B2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05A7427-D0DA-442F-8D0D-0CDCA9E6E8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BBE439-A689-4E67-A7FC-21353A5E32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6348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B45488-B7DC-4233-9CF4-2BAB6D2734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5622CB-FD0D-48BF-BEE0-48F522DA5E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0FAF1D7-322A-4F2D-B449-0B75EDAF87F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66A572E-12A5-4C6D-A0BD-E26583CA36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8749A3-5F0E-45E0-B660-E2BE0FDEF0DF}" type="datetime1">
              <a:rPr lang="en-US" smtClean="0"/>
              <a:t>9/24/2025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61F9001-C117-4F23-B486-FA26671483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9EC58DF-A1AA-4DBF-A169-6C121FC4F4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BBE439-A689-4E67-A7FC-21353A5E32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60244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F773-E3C1-45FC-89A6-256624740E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D7E4D61-5EDE-4C65-9A9B-95B9E159F80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E5776EE-E80C-4D2F-BF09-A2C53CFBA27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BCEE148-6E35-4ACE-AA60-7DB5D026D9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0F3D22-82D8-46A7-A4C0-7A6FA54084BE}" type="datetime1">
              <a:rPr lang="en-US" smtClean="0"/>
              <a:t>9/24/2025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97B866B-8263-405B-9B0A-014EF7528A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D3BC9C8-57C6-442E-9CD2-DE1361F90E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BBE439-A689-4E67-A7FC-21353A5E32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33845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8F9DA2-750B-4770-9615-DBF50FDEAE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C73B329-366B-4364-B3DD-6B02391CA8A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402620-E180-41CB-8196-DC02A9AE5B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FF004B-D373-4ACF-8E4D-48BE0C605F2C}" type="datetime1">
              <a:rPr lang="en-US" smtClean="0"/>
              <a:t>9/24/2025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719B56-7EC3-4CAC-A2B1-D41860A074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B3C05D-D514-433F-BF5B-B3AF249623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BBE439-A689-4E67-A7FC-21353A5E32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1231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058BD37-5EEC-4278-9EE0-DEDA68523E5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5954F55-9B66-4AF7-861C-2816F301B6C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4E022F-DB20-48FF-B7DE-A7D6AE7ACB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975FD9-FC47-40E4-9D7D-6C72459C26E6}" type="datetime1">
              <a:rPr lang="en-US" smtClean="0"/>
              <a:t>9/24/2025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A4F91C-FF26-425A-85F3-7D114B0018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A4D104-020C-4293-8961-D68B124F2A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BBE439-A689-4E67-A7FC-21353A5E32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62644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BAFB313-169D-44B0-B14E-EBFDCD9F3E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F2043F3-FEEE-4505-B1D8-82EAFD18454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139A35-A1B8-43A6-9D9A-6497217D9CF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4B2897B-F47E-49C0-A30B-118D7B86E5F3}" type="datetime1">
              <a:rPr lang="en-US" smtClean="0"/>
              <a:t>9/24/2025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EC52CA-23CF-4E6B-ADFB-73587FFDB23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E1C351-54FE-4C8D-8888-FAE1CFCA251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1BBE439-A689-4E67-A7FC-21353A5E32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25179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jp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jpg"/><Relationship Id="rId4" Type="http://schemas.openxmlformats.org/officeDocument/2006/relationships/image" Target="../media/image3.jp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1EC2EB1E-AE7D-4CC4-A870-7B3A94A884E7}"/>
              </a:ext>
            </a:extLst>
          </p:cNvPr>
          <p:cNvSpPr txBox="1">
            <a:spLocks/>
          </p:cNvSpPr>
          <p:nvPr/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Aft>
                <a:spcPts val="3600"/>
              </a:spcAft>
            </a:pPr>
            <a:r>
              <a:rPr lang="en-US" sz="4400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CSE 4128</a:t>
            </a:r>
            <a:br>
              <a:rPr lang="en-US" sz="4400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200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Image Processing and Computer Vision </a:t>
            </a:r>
            <a:br>
              <a:rPr lang="en-US" sz="3200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200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Laboratory</a:t>
            </a:r>
            <a:br>
              <a:rPr lang="en-US" sz="3200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2400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u="sng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Week 4: </a:t>
            </a:r>
            <a:r>
              <a:rPr lang="en-US" sz="2400" u="sng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Region Descriptors and Feature Matching 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7B72110-2830-405F-A97D-38124C49880A}"/>
              </a:ext>
            </a:extLst>
          </p:cNvPr>
          <p:cNvSpPr txBox="1"/>
          <p:nvPr/>
        </p:nvSpPr>
        <p:spPr>
          <a:xfrm>
            <a:off x="2117881" y="4087894"/>
            <a:ext cx="3616888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Dr. Sk. Md. </a:t>
            </a:r>
            <a:r>
              <a:rPr lang="en-US" sz="2400" b="1" dirty="0" err="1"/>
              <a:t>Masudul</a:t>
            </a:r>
            <a:r>
              <a:rPr lang="en-US" sz="2400" b="1" dirty="0"/>
              <a:t> Ahsan</a:t>
            </a:r>
          </a:p>
          <a:p>
            <a:r>
              <a:rPr lang="en-US" sz="2400" dirty="0"/>
              <a:t>Professor</a:t>
            </a:r>
          </a:p>
          <a:p>
            <a:r>
              <a:rPr lang="en-US" sz="2400" dirty="0"/>
              <a:t>Dept. of CSE, KUET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87AB50B-0179-40F3-A610-EF4D08807941}"/>
              </a:ext>
            </a:extLst>
          </p:cNvPr>
          <p:cNvSpPr txBox="1"/>
          <p:nvPr/>
        </p:nvSpPr>
        <p:spPr>
          <a:xfrm>
            <a:off x="7061514" y="4087894"/>
            <a:ext cx="2849626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Md Tajmilur Rahman</a:t>
            </a:r>
          </a:p>
          <a:p>
            <a:r>
              <a:rPr lang="en-US" sz="2400" dirty="0"/>
              <a:t>Lecturer</a:t>
            </a:r>
          </a:p>
          <a:p>
            <a:r>
              <a:rPr lang="en-US" sz="2400" dirty="0"/>
              <a:t>Dept. of CSE, KUET</a:t>
            </a: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829293B8-AE69-4EB7-8E1B-F058A1AF1A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BBE439-A689-4E67-A7FC-21353A5E3273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71851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42FD9C-350C-483E-A6A2-EDEA7E438D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400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Region Descriptors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837097-68AB-46E6-B63C-2016FA4975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altLang="en-US" dirty="0"/>
              <a:t>Information that lets you recognize a region.</a:t>
            </a:r>
          </a:p>
          <a:p>
            <a:r>
              <a:rPr lang="en-US" altLang="en-US" dirty="0"/>
              <a:t>They focus on the content and texture of objects in an image. </a:t>
            </a:r>
          </a:p>
          <a:p>
            <a:r>
              <a:rPr lang="en-US" altLang="en-US" dirty="0"/>
              <a:t>They describe the distribution of pixel values within a region and capture the spatial relationships between different regions. </a:t>
            </a:r>
          </a:p>
          <a:p>
            <a:r>
              <a:rPr lang="en-US" dirty="0"/>
              <a:t>They extract relevant information from the image and represent it in a way that can be easily compared and matched with other images.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0A79113-0370-4384-B7FA-44FA1BF2FE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BBE439-A689-4E67-A7FC-21353A5E3273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971899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A7C7E1-8A22-49CA-9727-353A387203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400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Region Descriptors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938C8AE-7CFC-41C5-BB24-25EF5D20953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199" y="1600757"/>
                <a:ext cx="10515601" cy="3907498"/>
              </a:xfrm>
            </p:spPr>
            <p:txBody>
              <a:bodyPr>
                <a:normAutofit/>
              </a:bodyPr>
              <a:lstStyle/>
              <a:p>
                <a:r>
                  <a:rPr lang="en-US" b="1" dirty="0"/>
                  <a:t>Compactness</a:t>
                </a:r>
                <a:r>
                  <a:rPr lang="en-US" dirty="0"/>
                  <a:t>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𝑃𝑒𝑟𝑖𝑚𝑒𝑡𝑒𝑟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𝐴𝑟𝑒𝑎</m:t>
                        </m:r>
                      </m:den>
                    </m:f>
                  </m:oMath>
                </a14:m>
                <a:endParaRPr lang="en-US" dirty="0"/>
              </a:p>
              <a:p>
                <a:r>
                  <a:rPr lang="en-US" b="1" dirty="0"/>
                  <a:t>Form</a:t>
                </a:r>
                <a:r>
                  <a:rPr lang="en-US" dirty="0"/>
                  <a:t> </a:t>
                </a:r>
                <a:r>
                  <a:rPr lang="en-US" b="1" dirty="0"/>
                  <a:t>factor</a:t>
                </a:r>
                <a:r>
                  <a:rPr lang="en-US" dirty="0"/>
                  <a:t>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𝜋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∗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𝐴𝑟𝑒𝑎</m:t>
                        </m:r>
                      </m:num>
                      <m:den>
                        <m:sSup>
                          <m:sSupPr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𝑃𝑒𝑟𝑖𝑚𝑒𝑡𝑒𝑟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endParaRPr lang="en-US" dirty="0"/>
              </a:p>
              <a:p>
                <a:r>
                  <a:rPr lang="en-US" b="1" dirty="0"/>
                  <a:t>Eccentricity </a:t>
                </a:r>
                <a:r>
                  <a:rPr lang="en-US" dirty="0"/>
                  <a:t>=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US" i="1" dirty="0" smtClean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dirty="0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US" i="0" dirty="0"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ctrlPr>
                              <a:rPr lang="en-US" i="1" dirty="0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sSupPr>
                                <m:ctrlPr>
                                  <a:rPr lang="en-US" i="1" dirty="0">
                                    <a:solidFill>
                                      <a:srgbClr val="83696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i="1" dirty="0"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e>
                              <m:sup>
                                <m:r>
                                  <a:rPr lang="en-US" i="0" dirty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num>
                          <m:den>
                            <m:sSup>
                              <m:sSupPr>
                                <m:ctrlPr>
                                  <a:rPr lang="en-US" i="1" dirty="0">
                                    <a:solidFill>
                                      <a:srgbClr val="83696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i="1" dirty="0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p>
                                <m:r>
                                  <a:rPr lang="en-US" i="0" dirty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den>
                        </m:f>
                      </m:e>
                    </m:rad>
                  </m:oMath>
                </a14:m>
                <a:r>
                  <a:rPr lang="en-US" dirty="0"/>
                  <a:t>    </a:t>
                </a:r>
              </a:p>
              <a:p>
                <a:r>
                  <a:rPr lang="en-US" dirty="0"/>
                  <a:t>Where, a = major axis length of the bounding ellipse</a:t>
                </a:r>
              </a:p>
              <a:p>
                <a:r>
                  <a:rPr lang="en-US" dirty="0"/>
                  <a:t>              b = minor axis length of the bounding </a:t>
                </a:r>
              </a:p>
              <a:p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938C8AE-7CFC-41C5-BB24-25EF5D20953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199" y="1600757"/>
                <a:ext cx="10515601" cy="3907498"/>
              </a:xfrm>
              <a:blipFill>
                <a:blip r:embed="rId2"/>
                <a:stretch>
                  <a:fillRect l="-98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0C60FFF-0AE9-4CB9-8F7D-E666906631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479842" y="6356350"/>
            <a:ext cx="873958" cy="365125"/>
          </a:xfrm>
        </p:spPr>
        <p:txBody>
          <a:bodyPr/>
          <a:lstStyle/>
          <a:p>
            <a:fld id="{F1BBE439-A689-4E67-A7FC-21353A5E3273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46488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9C9409-B692-410B-A39E-3726B1F64E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B3FD331-1F0E-4E8D-8E46-AE99EAF91A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BBE439-A689-4E67-A7FC-21353A5E3273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93EA9580-A6DD-43B8-AC12-D55F8B949A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42818" y="4432848"/>
            <a:ext cx="1600199" cy="162691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0.0480</a:t>
            </a:r>
          </a:p>
          <a:p>
            <a:pPr marL="0" indent="0">
              <a:buNone/>
            </a:pPr>
            <a:r>
              <a:rPr lang="en-US" dirty="0"/>
              <a:t>261.6433</a:t>
            </a:r>
          </a:p>
          <a:p>
            <a:pPr marL="0" indent="0">
              <a:buNone/>
            </a:pPr>
            <a:r>
              <a:rPr lang="en-US" dirty="0"/>
              <a:t>0.4073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120C5F9-A315-4510-B293-B071CE7801C0}"/>
              </a:ext>
            </a:extLst>
          </p:cNvPr>
          <p:cNvSpPr txBox="1"/>
          <p:nvPr/>
        </p:nvSpPr>
        <p:spPr>
          <a:xfrm>
            <a:off x="989208" y="4445274"/>
            <a:ext cx="2262189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Form factor</a:t>
            </a:r>
          </a:p>
          <a:p>
            <a:r>
              <a:rPr lang="en-US" sz="2800" b="1" dirty="0"/>
              <a:t>Compactness </a:t>
            </a:r>
          </a:p>
          <a:p>
            <a:r>
              <a:rPr lang="en-US" sz="2800" b="1" dirty="0"/>
              <a:t>Eccentricity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1D6CE88-9DA7-440E-9268-680431DE965D}"/>
              </a:ext>
            </a:extLst>
          </p:cNvPr>
          <p:cNvSpPr txBox="1"/>
          <p:nvPr/>
        </p:nvSpPr>
        <p:spPr>
          <a:xfrm>
            <a:off x="6630564" y="4445274"/>
            <a:ext cx="1372492" cy="13849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0.1644</a:t>
            </a:r>
          </a:p>
          <a:p>
            <a:r>
              <a:rPr lang="en-US" sz="2800" dirty="0"/>
              <a:t>76.4262</a:t>
            </a:r>
          </a:p>
          <a:p>
            <a:r>
              <a:rPr lang="en-US" sz="2800" dirty="0"/>
              <a:t>0.00000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6D78E10-D524-4DD8-87F5-838D5ECA4D6D}"/>
              </a:ext>
            </a:extLst>
          </p:cNvPr>
          <p:cNvSpPr txBox="1"/>
          <p:nvPr/>
        </p:nvSpPr>
        <p:spPr>
          <a:xfrm>
            <a:off x="9872665" y="4445274"/>
            <a:ext cx="1372492" cy="13849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0.1512</a:t>
            </a:r>
          </a:p>
          <a:p>
            <a:r>
              <a:rPr lang="en-US" sz="2800" dirty="0"/>
              <a:t>83.1189</a:t>
            </a:r>
          </a:p>
          <a:p>
            <a:r>
              <a:rPr lang="en-US" sz="2800" dirty="0"/>
              <a:t>0.4340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03327C94-866A-4835-AE70-4CEB906AAF0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1796209"/>
            <a:ext cx="2388394" cy="2208712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67769CAE-5C99-4C0D-8A08-08E6F535A13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84445" y="1726930"/>
            <a:ext cx="2743200" cy="2277992"/>
          </a:xfrm>
          <a:prstGeom prst="rect">
            <a:avLst/>
          </a:prstGeom>
        </p:spPr>
      </p:pic>
      <p:sp>
        <p:nvSpPr>
          <p:cNvPr id="17" name="Title 1">
            <a:extLst>
              <a:ext uri="{FF2B5EF4-FFF2-40B4-BE49-F238E27FC236}">
                <a16:creationId xmlns:a16="http://schemas.microsoft.com/office/drawing/2014/main" id="{47080C7D-A56F-4431-93BC-75BF57B87DFB}"/>
              </a:ext>
            </a:extLst>
          </p:cNvPr>
          <p:cNvSpPr txBox="1">
            <a:spLocks/>
          </p:cNvSpPr>
          <p:nvPr/>
        </p:nvSpPr>
        <p:spPr>
          <a:xfrm>
            <a:off x="719138" y="379842"/>
            <a:ext cx="10515600" cy="647887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defRPr>
            </a:lvl1pPr>
          </a:lstStyle>
          <a:p>
            <a:r>
              <a:rPr lang="en-US" dirty="0"/>
              <a:t>Example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F2D8F906-9F55-46E0-BDF5-456685AB9F13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018"/>
          <a:stretch/>
        </p:blipFill>
        <p:spPr>
          <a:xfrm>
            <a:off x="2991420" y="1796209"/>
            <a:ext cx="2480266" cy="22087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06806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3D302A-1722-4049-A164-52C86D15BE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Classwork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E66EE3-ACAE-4FCD-BE55-50D484B6F2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dirty="0"/>
              <a:t>Take one of each shape as train image and the other as test image.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For each binary image: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/>
              <a:t>Find the Boundary of the object in the image.</a:t>
            </a:r>
          </a:p>
          <a:p>
            <a:pPr marL="1371600" lvl="2" indent="-457200">
              <a:buFont typeface="+mj-lt"/>
              <a:buAutoNum type="arabicPeriod"/>
            </a:pPr>
            <a:r>
              <a:rPr lang="en-US" dirty="0"/>
              <a:t>Apply erosion to the binary image. </a:t>
            </a:r>
          </a:p>
          <a:p>
            <a:pPr marL="1371600" lvl="2" indent="-457200">
              <a:buFont typeface="+mj-lt"/>
              <a:buAutoNum type="arabicPeriod"/>
            </a:pPr>
            <a:r>
              <a:rPr lang="en-US" dirty="0"/>
              <a:t>Subtract the eroded image from the binary image to get the border of the region.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/>
              <a:t>Calculate </a:t>
            </a:r>
            <a:r>
              <a:rPr lang="en-US" b="1" dirty="0"/>
              <a:t>Perimeter, Area, major (a) and minor (b) axis length of the bounding ellipse </a:t>
            </a:r>
            <a:r>
              <a:rPr lang="en-US" dirty="0"/>
              <a:t>of the region.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/>
              <a:t>Use Area, Perimeter, a and b the calculate </a:t>
            </a:r>
            <a:r>
              <a:rPr lang="en-US" b="1" dirty="0"/>
              <a:t>Form factor, Compactness and Eccentricity.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/>
              <a:t>Matching the descriptors of the test and train images to find close Match.</a:t>
            </a:r>
          </a:p>
          <a:p>
            <a:pPr marL="914400" lvl="1" indent="-457200">
              <a:buFont typeface="+mj-lt"/>
              <a:buAutoNum type="arabicPeriod"/>
            </a:pPr>
            <a:endParaRPr lang="en-US" dirty="0"/>
          </a:p>
          <a:p>
            <a:pPr marL="914400" lvl="1" indent="-457200">
              <a:buFont typeface="+mj-lt"/>
              <a:buAutoNum type="arabicPeriod"/>
            </a:pPr>
            <a:endParaRPr lang="en-US" dirty="0"/>
          </a:p>
          <a:p>
            <a:endParaRPr lang="en-US" dirty="0"/>
          </a:p>
          <a:p>
            <a:pPr marL="914400" lvl="1" indent="-457200">
              <a:buFont typeface="+mj-lt"/>
              <a:buAutoNum type="arabicPeriod"/>
            </a:pPr>
            <a:endParaRPr lang="en-US" dirty="0"/>
          </a:p>
          <a:p>
            <a:pPr lvl="1"/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BF89E3A-130C-4A16-868D-9D3A4B0D19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BBE439-A689-4E67-A7FC-21353A5E3273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1835105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7E89EE-1E5C-4307-9D8F-7FC66C4EB4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Erosion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27AFD7B-43DF-4B87-907F-4EAFA57E7F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BBE439-A689-4E67-A7FC-21353A5E3273}" type="slidenum">
              <a:rPr lang="en-US" smtClean="0"/>
              <a:pPr/>
              <a:t>6</a:t>
            </a:fld>
            <a:endParaRPr lang="en-US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29A2896B-9B8E-4744-87F4-1789BF14B94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924018247"/>
              </p:ext>
            </p:extLst>
          </p:nvPr>
        </p:nvGraphicFramePr>
        <p:xfrm>
          <a:off x="1486686" y="3341189"/>
          <a:ext cx="2682666" cy="23155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47111">
                  <a:extLst>
                    <a:ext uri="{9D8B030D-6E8A-4147-A177-3AD203B41FA5}">
                      <a16:colId xmlns:a16="http://schemas.microsoft.com/office/drawing/2014/main" val="2314675912"/>
                    </a:ext>
                  </a:extLst>
                </a:gridCol>
                <a:gridCol w="447111">
                  <a:extLst>
                    <a:ext uri="{9D8B030D-6E8A-4147-A177-3AD203B41FA5}">
                      <a16:colId xmlns:a16="http://schemas.microsoft.com/office/drawing/2014/main" val="3802689118"/>
                    </a:ext>
                  </a:extLst>
                </a:gridCol>
                <a:gridCol w="447111">
                  <a:extLst>
                    <a:ext uri="{9D8B030D-6E8A-4147-A177-3AD203B41FA5}">
                      <a16:colId xmlns:a16="http://schemas.microsoft.com/office/drawing/2014/main" val="3299837732"/>
                    </a:ext>
                  </a:extLst>
                </a:gridCol>
                <a:gridCol w="447111">
                  <a:extLst>
                    <a:ext uri="{9D8B030D-6E8A-4147-A177-3AD203B41FA5}">
                      <a16:colId xmlns:a16="http://schemas.microsoft.com/office/drawing/2014/main" val="739001043"/>
                    </a:ext>
                  </a:extLst>
                </a:gridCol>
                <a:gridCol w="447111">
                  <a:extLst>
                    <a:ext uri="{9D8B030D-6E8A-4147-A177-3AD203B41FA5}">
                      <a16:colId xmlns:a16="http://schemas.microsoft.com/office/drawing/2014/main" val="377864490"/>
                    </a:ext>
                  </a:extLst>
                </a:gridCol>
                <a:gridCol w="447111">
                  <a:extLst>
                    <a:ext uri="{9D8B030D-6E8A-4147-A177-3AD203B41FA5}">
                      <a16:colId xmlns:a16="http://schemas.microsoft.com/office/drawing/2014/main" val="139325948"/>
                    </a:ext>
                  </a:extLst>
                </a:gridCol>
              </a:tblGrid>
              <a:tr h="463108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1</a:t>
                      </a:r>
                    </a:p>
                  </a:txBody>
                  <a:tcPr marL="72736" marR="72736" marT="37469" marB="37469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1</a:t>
                      </a:r>
                    </a:p>
                  </a:txBody>
                  <a:tcPr marL="72736" marR="72736" marT="37469" marB="37469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1</a:t>
                      </a:r>
                    </a:p>
                  </a:txBody>
                  <a:tcPr marL="72736" marR="72736" marT="37469" marB="37469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1</a:t>
                      </a:r>
                    </a:p>
                  </a:txBody>
                  <a:tcPr marL="72736" marR="72736" marT="37469" marB="37469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1</a:t>
                      </a:r>
                    </a:p>
                  </a:txBody>
                  <a:tcPr marL="72736" marR="72736" marT="37469" marB="37469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1</a:t>
                      </a:r>
                    </a:p>
                  </a:txBody>
                  <a:tcPr marL="72736" marR="72736" marT="37469" marB="37469" anchor="ctr"/>
                </a:tc>
                <a:extLst>
                  <a:ext uri="{0D108BD9-81ED-4DB2-BD59-A6C34878D82A}">
                    <a16:rowId xmlns:a16="http://schemas.microsoft.com/office/drawing/2014/main" val="1311442152"/>
                  </a:ext>
                </a:extLst>
              </a:tr>
              <a:tr h="463108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1</a:t>
                      </a:r>
                    </a:p>
                  </a:txBody>
                  <a:tcPr marL="72736" marR="72736" marT="37469" marB="37469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1</a:t>
                      </a:r>
                    </a:p>
                  </a:txBody>
                  <a:tcPr marL="72736" marR="72736" marT="37469" marB="37469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0</a:t>
                      </a:r>
                    </a:p>
                  </a:txBody>
                  <a:tcPr marL="72736" marR="72736" marT="37469" marB="37469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0</a:t>
                      </a:r>
                    </a:p>
                  </a:txBody>
                  <a:tcPr marL="72736" marR="72736" marT="37469" marB="37469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1</a:t>
                      </a:r>
                    </a:p>
                  </a:txBody>
                  <a:tcPr marL="72736" marR="72736" marT="37469" marB="37469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1</a:t>
                      </a:r>
                    </a:p>
                  </a:txBody>
                  <a:tcPr marL="72736" marR="72736" marT="37469" marB="37469" anchor="ctr"/>
                </a:tc>
                <a:extLst>
                  <a:ext uri="{0D108BD9-81ED-4DB2-BD59-A6C34878D82A}">
                    <a16:rowId xmlns:a16="http://schemas.microsoft.com/office/drawing/2014/main" val="392705759"/>
                  </a:ext>
                </a:extLst>
              </a:tr>
              <a:tr h="463108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1</a:t>
                      </a:r>
                    </a:p>
                  </a:txBody>
                  <a:tcPr marL="72736" marR="72736" marT="37469" marB="37469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0</a:t>
                      </a:r>
                    </a:p>
                  </a:txBody>
                  <a:tcPr marL="72736" marR="72736" marT="37469" marB="37469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0</a:t>
                      </a:r>
                    </a:p>
                  </a:txBody>
                  <a:tcPr marL="72736" marR="72736" marT="37469" marB="37469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0</a:t>
                      </a:r>
                    </a:p>
                  </a:txBody>
                  <a:tcPr marL="72736" marR="72736" marT="37469" marB="37469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0</a:t>
                      </a:r>
                    </a:p>
                  </a:txBody>
                  <a:tcPr marL="72736" marR="72736" marT="37469" marB="37469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1</a:t>
                      </a:r>
                    </a:p>
                  </a:txBody>
                  <a:tcPr marL="72736" marR="72736" marT="37469" marB="37469" anchor="ctr"/>
                </a:tc>
                <a:extLst>
                  <a:ext uri="{0D108BD9-81ED-4DB2-BD59-A6C34878D82A}">
                    <a16:rowId xmlns:a16="http://schemas.microsoft.com/office/drawing/2014/main" val="2777131985"/>
                  </a:ext>
                </a:extLst>
              </a:tr>
              <a:tr h="463108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1</a:t>
                      </a:r>
                    </a:p>
                  </a:txBody>
                  <a:tcPr marL="72736" marR="72736" marT="37469" marB="37469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1</a:t>
                      </a:r>
                    </a:p>
                  </a:txBody>
                  <a:tcPr marL="72736" marR="72736" marT="37469" marB="37469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0</a:t>
                      </a:r>
                    </a:p>
                  </a:txBody>
                  <a:tcPr marL="72736" marR="72736" marT="37469" marB="37469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0</a:t>
                      </a:r>
                    </a:p>
                  </a:txBody>
                  <a:tcPr marL="72736" marR="72736" marT="37469" marB="37469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1</a:t>
                      </a:r>
                    </a:p>
                  </a:txBody>
                  <a:tcPr marL="72736" marR="72736" marT="37469" marB="37469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1</a:t>
                      </a:r>
                    </a:p>
                  </a:txBody>
                  <a:tcPr marL="72736" marR="72736" marT="37469" marB="37469" anchor="ctr"/>
                </a:tc>
                <a:extLst>
                  <a:ext uri="{0D108BD9-81ED-4DB2-BD59-A6C34878D82A}">
                    <a16:rowId xmlns:a16="http://schemas.microsoft.com/office/drawing/2014/main" val="1261991514"/>
                  </a:ext>
                </a:extLst>
              </a:tr>
              <a:tr h="463108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1</a:t>
                      </a:r>
                    </a:p>
                  </a:txBody>
                  <a:tcPr marL="72736" marR="72736" marT="37469" marB="37469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1</a:t>
                      </a:r>
                    </a:p>
                  </a:txBody>
                  <a:tcPr marL="72736" marR="72736" marT="37469" marB="37469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1</a:t>
                      </a:r>
                    </a:p>
                  </a:txBody>
                  <a:tcPr marL="72736" marR="72736" marT="37469" marB="37469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1</a:t>
                      </a:r>
                    </a:p>
                  </a:txBody>
                  <a:tcPr marL="72736" marR="72736" marT="37469" marB="37469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1</a:t>
                      </a:r>
                    </a:p>
                  </a:txBody>
                  <a:tcPr marL="72736" marR="72736" marT="37469" marB="37469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1</a:t>
                      </a:r>
                    </a:p>
                  </a:txBody>
                  <a:tcPr marL="72736" marR="72736" marT="37469" marB="37469" anchor="ctr"/>
                </a:tc>
                <a:extLst>
                  <a:ext uri="{0D108BD9-81ED-4DB2-BD59-A6C34878D82A}">
                    <a16:rowId xmlns:a16="http://schemas.microsoft.com/office/drawing/2014/main" val="1292990503"/>
                  </a:ext>
                </a:extLst>
              </a:tr>
            </a:tbl>
          </a:graphicData>
        </a:graphic>
      </p:graphicFrame>
      <p:graphicFrame>
        <p:nvGraphicFramePr>
          <p:cNvPr id="6" name="Table 4">
            <a:extLst>
              <a:ext uri="{FF2B5EF4-FFF2-40B4-BE49-F238E27FC236}">
                <a16:creationId xmlns:a16="http://schemas.microsoft.com/office/drawing/2014/main" id="{F1FC66C3-F5E7-45FC-93F3-C8A0E101A684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228710768"/>
              </p:ext>
            </p:extLst>
          </p:nvPr>
        </p:nvGraphicFramePr>
        <p:xfrm>
          <a:off x="6900301" y="3357949"/>
          <a:ext cx="2682666" cy="23155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47111">
                  <a:extLst>
                    <a:ext uri="{9D8B030D-6E8A-4147-A177-3AD203B41FA5}">
                      <a16:colId xmlns:a16="http://schemas.microsoft.com/office/drawing/2014/main" val="2314675912"/>
                    </a:ext>
                  </a:extLst>
                </a:gridCol>
                <a:gridCol w="447111">
                  <a:extLst>
                    <a:ext uri="{9D8B030D-6E8A-4147-A177-3AD203B41FA5}">
                      <a16:colId xmlns:a16="http://schemas.microsoft.com/office/drawing/2014/main" val="3802689118"/>
                    </a:ext>
                  </a:extLst>
                </a:gridCol>
                <a:gridCol w="447111">
                  <a:extLst>
                    <a:ext uri="{9D8B030D-6E8A-4147-A177-3AD203B41FA5}">
                      <a16:colId xmlns:a16="http://schemas.microsoft.com/office/drawing/2014/main" val="3299837732"/>
                    </a:ext>
                  </a:extLst>
                </a:gridCol>
                <a:gridCol w="447111">
                  <a:extLst>
                    <a:ext uri="{9D8B030D-6E8A-4147-A177-3AD203B41FA5}">
                      <a16:colId xmlns:a16="http://schemas.microsoft.com/office/drawing/2014/main" val="739001043"/>
                    </a:ext>
                  </a:extLst>
                </a:gridCol>
                <a:gridCol w="447111">
                  <a:extLst>
                    <a:ext uri="{9D8B030D-6E8A-4147-A177-3AD203B41FA5}">
                      <a16:colId xmlns:a16="http://schemas.microsoft.com/office/drawing/2014/main" val="377864490"/>
                    </a:ext>
                  </a:extLst>
                </a:gridCol>
                <a:gridCol w="447111">
                  <a:extLst>
                    <a:ext uri="{9D8B030D-6E8A-4147-A177-3AD203B41FA5}">
                      <a16:colId xmlns:a16="http://schemas.microsoft.com/office/drawing/2014/main" val="139325948"/>
                    </a:ext>
                  </a:extLst>
                </a:gridCol>
              </a:tblGrid>
              <a:tr h="463108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0</a:t>
                      </a:r>
                    </a:p>
                  </a:txBody>
                  <a:tcPr marL="72736" marR="72736" marT="37469" marB="37469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0</a:t>
                      </a:r>
                    </a:p>
                  </a:txBody>
                  <a:tcPr marL="72736" marR="72736" marT="37469" marB="37469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0</a:t>
                      </a:r>
                    </a:p>
                  </a:txBody>
                  <a:tcPr marL="72736" marR="72736" marT="37469" marB="37469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0</a:t>
                      </a:r>
                    </a:p>
                  </a:txBody>
                  <a:tcPr marL="72736" marR="72736" marT="37469" marB="37469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0</a:t>
                      </a:r>
                    </a:p>
                  </a:txBody>
                  <a:tcPr marL="72736" marR="72736" marT="37469" marB="37469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0</a:t>
                      </a:r>
                    </a:p>
                  </a:txBody>
                  <a:tcPr marL="72736" marR="72736" marT="37469" marB="37469" anchor="ctr"/>
                </a:tc>
                <a:extLst>
                  <a:ext uri="{0D108BD9-81ED-4DB2-BD59-A6C34878D82A}">
                    <a16:rowId xmlns:a16="http://schemas.microsoft.com/office/drawing/2014/main" val="1311442152"/>
                  </a:ext>
                </a:extLst>
              </a:tr>
              <a:tr h="463108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1</a:t>
                      </a:r>
                    </a:p>
                  </a:txBody>
                  <a:tcPr marL="72736" marR="72736" marT="37469" marB="37469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0</a:t>
                      </a:r>
                    </a:p>
                  </a:txBody>
                  <a:tcPr marL="72736" marR="72736" marT="37469" marB="37469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0</a:t>
                      </a:r>
                    </a:p>
                  </a:txBody>
                  <a:tcPr marL="72736" marR="72736" marT="37469" marB="37469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0</a:t>
                      </a:r>
                    </a:p>
                  </a:txBody>
                  <a:tcPr marL="72736" marR="72736" marT="37469" marB="37469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0</a:t>
                      </a:r>
                    </a:p>
                  </a:txBody>
                  <a:tcPr marL="72736" marR="72736" marT="37469" marB="37469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1</a:t>
                      </a:r>
                    </a:p>
                  </a:txBody>
                  <a:tcPr marL="72736" marR="72736" marT="37469" marB="37469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2705759"/>
                  </a:ext>
                </a:extLst>
              </a:tr>
              <a:tr h="463108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1</a:t>
                      </a:r>
                    </a:p>
                  </a:txBody>
                  <a:tcPr marL="72736" marR="72736" marT="37469" marB="37469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0</a:t>
                      </a:r>
                    </a:p>
                  </a:txBody>
                  <a:tcPr marL="72736" marR="72736" marT="37469" marB="37469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0</a:t>
                      </a:r>
                    </a:p>
                  </a:txBody>
                  <a:tcPr marL="72736" marR="72736" marT="37469" marB="37469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0</a:t>
                      </a:r>
                    </a:p>
                  </a:txBody>
                  <a:tcPr marL="72736" marR="72736" marT="37469" marB="37469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0</a:t>
                      </a:r>
                    </a:p>
                  </a:txBody>
                  <a:tcPr marL="72736" marR="72736" marT="37469" marB="37469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1</a:t>
                      </a:r>
                    </a:p>
                  </a:txBody>
                  <a:tcPr marL="72736" marR="72736" marT="37469" marB="37469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77131985"/>
                  </a:ext>
                </a:extLst>
              </a:tr>
              <a:tr h="463108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1</a:t>
                      </a:r>
                    </a:p>
                  </a:txBody>
                  <a:tcPr marL="72736" marR="72736" marT="37469" marB="37469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0</a:t>
                      </a:r>
                    </a:p>
                  </a:txBody>
                  <a:tcPr marL="72736" marR="72736" marT="37469" marB="37469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0</a:t>
                      </a:r>
                    </a:p>
                  </a:txBody>
                  <a:tcPr marL="72736" marR="72736" marT="37469" marB="37469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0</a:t>
                      </a:r>
                    </a:p>
                  </a:txBody>
                  <a:tcPr marL="72736" marR="72736" marT="37469" marB="37469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0</a:t>
                      </a:r>
                    </a:p>
                  </a:txBody>
                  <a:tcPr marL="72736" marR="72736" marT="37469" marB="37469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1</a:t>
                      </a:r>
                    </a:p>
                  </a:txBody>
                  <a:tcPr marL="72736" marR="72736" marT="37469" marB="37469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61991514"/>
                  </a:ext>
                </a:extLst>
              </a:tr>
              <a:tr h="463108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0</a:t>
                      </a:r>
                    </a:p>
                  </a:txBody>
                  <a:tcPr marL="72736" marR="72736" marT="37469" marB="37469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0</a:t>
                      </a:r>
                    </a:p>
                  </a:txBody>
                  <a:tcPr marL="72736" marR="72736" marT="37469" marB="37469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0</a:t>
                      </a:r>
                    </a:p>
                  </a:txBody>
                  <a:tcPr marL="72736" marR="72736" marT="37469" marB="37469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0</a:t>
                      </a:r>
                    </a:p>
                  </a:txBody>
                  <a:tcPr marL="72736" marR="72736" marT="37469" marB="37469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0</a:t>
                      </a:r>
                    </a:p>
                  </a:txBody>
                  <a:tcPr marL="72736" marR="72736" marT="37469" marB="37469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0</a:t>
                      </a:r>
                    </a:p>
                  </a:txBody>
                  <a:tcPr marL="72736" marR="72736" marT="37469" marB="37469" anchor="ctr"/>
                </a:tc>
                <a:extLst>
                  <a:ext uri="{0D108BD9-81ED-4DB2-BD59-A6C34878D82A}">
                    <a16:rowId xmlns:a16="http://schemas.microsoft.com/office/drawing/2014/main" val="1292990503"/>
                  </a:ext>
                </a:extLst>
              </a:tr>
            </a:tbl>
          </a:graphicData>
        </a:graphic>
      </p:graphicFrame>
      <p:graphicFrame>
        <p:nvGraphicFramePr>
          <p:cNvPr id="7" name="Table 7">
            <a:extLst>
              <a:ext uri="{FF2B5EF4-FFF2-40B4-BE49-F238E27FC236}">
                <a16:creationId xmlns:a16="http://schemas.microsoft.com/office/drawing/2014/main" id="{131887AC-D8F6-42C6-8367-C1FB52F0A4F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63980043"/>
              </p:ext>
            </p:extLst>
          </p:nvPr>
        </p:nvGraphicFramePr>
        <p:xfrm>
          <a:off x="5181125" y="4062882"/>
          <a:ext cx="475604" cy="1091823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75604">
                  <a:extLst>
                    <a:ext uri="{9D8B030D-6E8A-4147-A177-3AD203B41FA5}">
                      <a16:colId xmlns:a16="http://schemas.microsoft.com/office/drawing/2014/main" val="1980894848"/>
                    </a:ext>
                  </a:extLst>
                </a:gridCol>
              </a:tblGrid>
              <a:tr h="363941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1</a:t>
                      </a:r>
                    </a:p>
                  </a:txBody>
                  <a:tcPr marL="72736" marR="72736" marT="37469" marB="37469"/>
                </a:tc>
                <a:extLst>
                  <a:ext uri="{0D108BD9-81ED-4DB2-BD59-A6C34878D82A}">
                    <a16:rowId xmlns:a16="http://schemas.microsoft.com/office/drawing/2014/main" val="1303570797"/>
                  </a:ext>
                </a:extLst>
              </a:tr>
              <a:tr h="363941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1</a:t>
                      </a:r>
                    </a:p>
                  </a:txBody>
                  <a:tcPr marL="72736" marR="72736" marT="37469" marB="37469"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07611626"/>
                  </a:ext>
                </a:extLst>
              </a:tr>
              <a:tr h="363941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1</a:t>
                      </a:r>
                    </a:p>
                  </a:txBody>
                  <a:tcPr marL="72736" marR="72736" marT="37469" marB="37469"/>
                </a:tc>
                <a:extLst>
                  <a:ext uri="{0D108BD9-81ED-4DB2-BD59-A6C34878D82A}">
                    <a16:rowId xmlns:a16="http://schemas.microsoft.com/office/drawing/2014/main" val="2110240063"/>
                  </a:ext>
                </a:extLst>
              </a:tr>
            </a:tbl>
          </a:graphicData>
        </a:graphic>
      </p:graphicFrame>
      <p:pic>
        <p:nvPicPr>
          <p:cNvPr id="8" name="Picture 7">
            <a:extLst>
              <a:ext uri="{FF2B5EF4-FFF2-40B4-BE49-F238E27FC236}">
                <a16:creationId xmlns:a16="http://schemas.microsoft.com/office/drawing/2014/main" id="{DD3F2CBB-FF53-44CC-BFAD-60303DB0A9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27418" y="5744540"/>
            <a:ext cx="745120" cy="37876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4E6EC4E-9F29-4F26-B241-4D1E4A3E971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69383"/>
          <a:stretch/>
        </p:blipFill>
        <p:spPr>
          <a:xfrm>
            <a:off x="5276194" y="5277962"/>
            <a:ext cx="228135" cy="378767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248BC633-C7CA-4B12-AA07-24B8AA9B2FD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62716"/>
          <a:stretch/>
        </p:blipFill>
        <p:spPr>
          <a:xfrm>
            <a:off x="2689113" y="5831988"/>
            <a:ext cx="277812" cy="378767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309E495F-013E-4F49-867C-8E0C9B7020A5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51238" b="53613"/>
          <a:stretch/>
        </p:blipFill>
        <p:spPr>
          <a:xfrm>
            <a:off x="1311593" y="1418899"/>
            <a:ext cx="5438832" cy="15331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115451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0D5F50-D969-4539-B9FB-6DBF594BF4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Erosion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E26BA0B-1DE3-4B4B-9699-3469F67735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BBE439-A689-4E67-A7FC-21353A5E3273}" type="slidenum">
              <a:rPr lang="en-US" smtClean="0"/>
              <a:pPr/>
              <a:t>7</a:t>
            </a:fld>
            <a:endParaRPr lang="en-US" dirty="0"/>
          </a:p>
        </p:txBody>
      </p:sp>
      <p:pic>
        <p:nvPicPr>
          <p:cNvPr id="8" name="Content Placeholder 3">
            <a:extLst>
              <a:ext uri="{FF2B5EF4-FFF2-40B4-BE49-F238E27FC236}">
                <a16:creationId xmlns:a16="http://schemas.microsoft.com/office/drawing/2014/main" id="{2D4031F4-B8D7-46E3-9370-50CC0D2E17A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b="51719"/>
          <a:stretch/>
        </p:blipFill>
        <p:spPr>
          <a:xfrm>
            <a:off x="578225" y="1420956"/>
            <a:ext cx="6656160" cy="253960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34B26C5-E90F-4B2D-9E99-5CB95F59A908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51238" b="53613"/>
          <a:stretch/>
        </p:blipFill>
        <p:spPr>
          <a:xfrm>
            <a:off x="6908994" y="1691302"/>
            <a:ext cx="4913211" cy="1384994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1265A541-D7B2-4C9C-B47F-C4D6EACA6871}"/>
              </a:ext>
            </a:extLst>
          </p:cNvPr>
          <p:cNvSpPr txBox="1"/>
          <p:nvPr/>
        </p:nvSpPr>
        <p:spPr>
          <a:xfrm>
            <a:off x="838200" y="4844823"/>
            <a:ext cx="10889876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kernel = </a:t>
            </a:r>
            <a:r>
              <a:rPr lang="en-US" sz="2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np.ones</a:t>
            </a:r>
            <a:r>
              <a:rPr lang="en-US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((3,3), np.uint8)</a:t>
            </a:r>
          </a:p>
          <a:p>
            <a:r>
              <a:rPr lang="en-US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eroded = cv2.erode(binary, kernel, iterations=1)</a:t>
            </a:r>
          </a:p>
          <a:p>
            <a:r>
              <a:rPr lang="en-US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border = binary - eroded</a:t>
            </a:r>
          </a:p>
        </p:txBody>
      </p:sp>
    </p:spTree>
    <p:extLst>
      <p:ext uri="{BB962C8B-B14F-4D97-AF65-F5344CB8AC3E}">
        <p14:creationId xmlns:p14="http://schemas.microsoft.com/office/powerpoint/2010/main" val="121550094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9A78F4-2097-4A28-A485-6D542D0EC5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Parameters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FCE3213-CD4A-4F61-81DB-A12EA09689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BBE439-A689-4E67-A7FC-21353A5E3273}" type="slidenum">
              <a:rPr lang="en-US" smtClean="0"/>
              <a:pPr/>
              <a:t>8</a:t>
            </a:fld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5465CB1-5C6D-4508-87B9-310790405E4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01863" y="1368497"/>
            <a:ext cx="2791215" cy="2181529"/>
          </a:xfrm>
          <a:prstGeom prst="rect">
            <a:avLst/>
          </a:prstGeom>
        </p:spPr>
      </p:pic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59ECF8F5-D00F-46AA-92DC-7F9F4D292B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29693"/>
            <a:ext cx="5948084" cy="166743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dirty="0"/>
              <a:t>Area</a:t>
            </a:r>
            <a:r>
              <a:rPr lang="en-US" sz="2400" dirty="0"/>
              <a:t> of a region is defined as the number of pixels in the region. </a:t>
            </a:r>
          </a:p>
          <a:p>
            <a:pPr marL="0" indent="0">
              <a:buNone/>
            </a:pPr>
            <a:r>
              <a:rPr lang="en-US" sz="2400" dirty="0"/>
              <a:t>area = </a:t>
            </a:r>
            <a:r>
              <a:rPr lang="en-US" sz="2400" dirty="0" err="1"/>
              <a:t>np.count_nonzero</a:t>
            </a:r>
            <a:r>
              <a:rPr lang="en-US" sz="2400" dirty="0"/>
              <a:t>(</a:t>
            </a:r>
            <a:r>
              <a:rPr lang="en-US" sz="2400" dirty="0" err="1"/>
              <a:t>binary_image</a:t>
            </a:r>
            <a:r>
              <a:rPr lang="en-US" sz="2400" dirty="0"/>
              <a:t>)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B83D089B-3E10-40F5-8586-F54FB3540FA8}"/>
              </a:ext>
            </a:extLst>
          </p:cNvPr>
          <p:cNvSpPr txBox="1">
            <a:spLocks/>
          </p:cNvSpPr>
          <p:nvPr/>
        </p:nvSpPr>
        <p:spPr>
          <a:xfrm>
            <a:off x="838200" y="4274111"/>
            <a:ext cx="6145306" cy="208223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400" b="1" dirty="0"/>
              <a:t>Perimeter</a:t>
            </a:r>
            <a:r>
              <a:rPr lang="en-US" sz="2400" dirty="0"/>
              <a:t> of a region is the length of its boundary.</a:t>
            </a:r>
          </a:p>
          <a:p>
            <a:pPr marL="0" indent="0">
              <a:buNone/>
            </a:pPr>
            <a:r>
              <a:rPr lang="en-US" sz="2400" dirty="0"/>
              <a:t>perimeter = </a:t>
            </a:r>
            <a:r>
              <a:rPr lang="en-US" sz="2400" dirty="0" err="1"/>
              <a:t>np.count_nonzero</a:t>
            </a:r>
            <a:r>
              <a:rPr lang="en-US" sz="2400" dirty="0"/>
              <a:t>(</a:t>
            </a:r>
            <a:r>
              <a:rPr lang="en-US" sz="2400" dirty="0" err="1"/>
              <a:t>border_image</a:t>
            </a:r>
            <a:r>
              <a:rPr lang="en-US" sz="2400" dirty="0"/>
              <a:t>)</a:t>
            </a:r>
          </a:p>
          <a:p>
            <a:endParaRPr lang="en-US" sz="24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EB35E40-757A-474B-933E-EF61F80926E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88416" y="4113810"/>
            <a:ext cx="2791215" cy="21624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590919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457E53-9029-44E1-83D1-13CC54737D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Parameters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0829705-1C0E-4CA1-9E22-23C220613C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BBE439-A689-4E67-A7FC-21353A5E3273}" type="slidenum">
              <a:rPr lang="en-US" smtClean="0"/>
              <a:pPr/>
              <a:t>9</a:t>
            </a:fld>
            <a:endParaRPr lang="en-US" dirty="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69B7DC85-1A83-43A8-9739-18BF957DC2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5106" y="1462366"/>
            <a:ext cx="5952565" cy="882220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01F7E1A9-2016-4B79-A479-27CB34C1CE4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4425" y="2941544"/>
            <a:ext cx="6680150" cy="27689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663789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639C50-A085-4B5D-A900-E9C2E1FA7A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How to find axes?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DA7772-6187-4F19-A231-5065AF253B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201271"/>
            <a:ext cx="10708341" cy="4975692"/>
          </a:xfrm>
        </p:spPr>
        <p:txBody>
          <a:bodyPr/>
          <a:lstStyle/>
          <a:p>
            <a:pPr marL="0" indent="0">
              <a:buNone/>
            </a:pPr>
            <a:r>
              <a:rPr lang="fr-FR" b="1" dirty="0">
                <a:latin typeface="Courier New" panose="02070309020205020404" pitchFamily="49" charset="0"/>
                <a:cs typeface="Courier New" panose="02070309020205020404" pitchFamily="49" charset="0"/>
              </a:rPr>
              <a:t>contours, _ = cv2.findContours(</a:t>
            </a:r>
            <a:r>
              <a:rPr lang="fr-FR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binary</a:t>
            </a:r>
            <a:r>
              <a:rPr lang="fr-FR" b="1" dirty="0">
                <a:latin typeface="Courier New" panose="02070309020205020404" pitchFamily="49" charset="0"/>
                <a:cs typeface="Courier New" panose="02070309020205020404" pitchFamily="49" charset="0"/>
              </a:rPr>
              <a:t>, 			cv2.RETR_EXTERNAL, cv2.CHAIN_APPROX_SIMPLE)</a:t>
            </a:r>
          </a:p>
          <a:p>
            <a:pPr marL="0" indent="0">
              <a:buNone/>
            </a:pPr>
            <a:endParaRPr lang="fr-FR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cnt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= max(contours, key=cv2.contourArea)</a:t>
            </a:r>
          </a:p>
          <a:p>
            <a:pPr marL="0" indent="0">
              <a:buNone/>
            </a:pPr>
            <a:endParaRPr lang="en-US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fr-FR" b="1" dirty="0">
                <a:latin typeface="Courier New" panose="02070309020205020404" pitchFamily="49" charset="0"/>
                <a:cs typeface="Courier New" panose="02070309020205020404" pitchFamily="49" charset="0"/>
              </a:rPr>
              <a:t>if </a:t>
            </a:r>
            <a:r>
              <a:rPr lang="fr-FR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len</a:t>
            </a:r>
            <a:r>
              <a:rPr lang="fr-FR" b="1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fr-FR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cnt</a:t>
            </a:r>
            <a:r>
              <a:rPr lang="fr-FR" b="1" dirty="0">
                <a:latin typeface="Courier New" panose="02070309020205020404" pitchFamily="49" charset="0"/>
                <a:cs typeface="Courier New" panose="02070309020205020404" pitchFamily="49" charset="0"/>
              </a:rPr>
              <a:t>) &gt;= 5:</a:t>
            </a:r>
          </a:p>
          <a:p>
            <a:pPr marL="0" indent="0">
              <a:buNone/>
            </a:pPr>
            <a:r>
              <a:rPr lang="fr-FR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(x, y), (MA, ma), angle = cv2.fitEllipse(</a:t>
            </a:r>
            <a:r>
              <a:rPr lang="fr-FR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cnt</a:t>
            </a:r>
            <a:r>
              <a:rPr lang="fr-FR" b="1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 marL="0" indent="0">
              <a:buNone/>
            </a:pPr>
            <a:endParaRPr lang="en-US" b="1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5E2FF86-3777-4848-9B88-CDD6C208F1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BBE439-A689-4E67-A7FC-21353A5E3273}" type="slidenum">
              <a:rPr lang="en-US" smtClean="0"/>
              <a:pPr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9170630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A04C47-04C9-4193-9450-08BD73F64A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err="1"/>
              <a:t>Kullback-Leibler</a:t>
            </a:r>
            <a:r>
              <a:rPr lang="en-US" dirty="0"/>
              <a:t> Distance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23EE987-368C-4A43-AF48-BFEC1114A2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BBE439-A689-4E67-A7FC-21353A5E3273}" type="slidenum">
              <a:rPr lang="en-US" smtClean="0"/>
              <a:pPr/>
              <a:t>11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70F7AA4-0E86-40EE-A0D7-2F889D0175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199838"/>
            <a:ext cx="9541516" cy="54126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449160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4DDB00-2127-406B-86DD-54DD3DE6EB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Show Distance Matrix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B875D45-376B-4CC6-A1D2-76AF4208CD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BBE439-A689-4E67-A7FC-21353A5E3273}" type="slidenum">
              <a:rPr lang="en-US" smtClean="0"/>
              <a:pPr/>
              <a:t>12</a:t>
            </a:fld>
            <a:endParaRPr lang="en-US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36F31293-2D85-4764-9340-9289924092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01271"/>
            <a:ext cx="10515600" cy="4975692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sz="2600" dirty="0"/>
              <a:t>Calculate the </a:t>
            </a:r>
            <a:r>
              <a:rPr lang="en-US" sz="2600" i="1" dirty="0" err="1"/>
              <a:t>Kullback-Leibler</a:t>
            </a:r>
            <a:r>
              <a:rPr lang="en-US" sz="2600" dirty="0"/>
              <a:t> Distance between each 2 images.</a:t>
            </a:r>
          </a:p>
          <a:p>
            <a:pPr marL="514350" indent="-514350">
              <a:buFont typeface="+mj-lt"/>
              <a:buAutoNum type="arabicPeriod" startAt="2"/>
            </a:pPr>
            <a:r>
              <a:rPr lang="en-US" sz="2600" dirty="0"/>
              <a:t>Create a matrix showing the similarity among each pairs.</a:t>
            </a:r>
          </a:p>
          <a:p>
            <a:pPr marL="514350" indent="-514350">
              <a:buFont typeface="+mj-lt"/>
              <a:buAutoNum type="arabicPeriod" startAt="2"/>
            </a:pPr>
            <a:r>
              <a:rPr lang="en-US" sz="2600" dirty="0"/>
              <a:t>Find  which images from test cases match the most with the image from train cases. </a:t>
            </a:r>
          </a:p>
          <a:p>
            <a:pPr marL="514350" indent="-514350">
              <a:buFont typeface="+mj-lt"/>
              <a:buAutoNum type="arabicPeriod" startAt="2"/>
            </a:pPr>
            <a:r>
              <a:rPr lang="en-US" sz="2600" dirty="0"/>
              <a:t>Show the output distance matrix as a table</a:t>
            </a:r>
          </a:p>
        </p:txBody>
      </p:sp>
    </p:spTree>
    <p:extLst>
      <p:ext uri="{BB962C8B-B14F-4D97-AF65-F5344CB8AC3E}">
        <p14:creationId xmlns:p14="http://schemas.microsoft.com/office/powerpoint/2010/main" val="271923116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3AE81E-AD33-4B61-8FFD-8948D4C272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Show as table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D4A5A14-5AEA-4BD9-961B-CD717A869F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BBE439-A689-4E67-A7FC-21353A5E3273}" type="slidenum">
              <a:rPr lang="en-US" smtClean="0"/>
              <a:pPr/>
              <a:t>13</a:t>
            </a:fld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C9AA728-3465-43B4-B75E-5FE9AD74822A}"/>
              </a:ext>
            </a:extLst>
          </p:cNvPr>
          <p:cNvSpPr txBox="1"/>
          <p:nvPr/>
        </p:nvSpPr>
        <p:spPr>
          <a:xfrm>
            <a:off x="439271" y="2251973"/>
            <a:ext cx="11555505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row_headers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= [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f'Test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{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+ 1}' for 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in range(4)]</a:t>
            </a:r>
          </a:p>
          <a:p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col_headers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= [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f'GT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{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+ 1}' for 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in range(3)]</a:t>
            </a:r>
          </a:p>
          <a:p>
            <a:endParaRPr lang="en-US" sz="2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distances_matrix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np.array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distances_matrix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# Display the distance matrix as a table</a:t>
            </a:r>
          </a:p>
          <a:p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print(tabulate(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distances_matrix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[0:4,0:3], headers=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col_headers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showindex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row_headers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tablefmt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='grid'))</a:t>
            </a:r>
          </a:p>
        </p:txBody>
      </p:sp>
    </p:spTree>
    <p:extLst>
      <p:ext uri="{BB962C8B-B14F-4D97-AF65-F5344CB8AC3E}">
        <p14:creationId xmlns:p14="http://schemas.microsoft.com/office/powerpoint/2010/main" val="115189405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able 7">
            <a:extLst>
              <a:ext uri="{FF2B5EF4-FFF2-40B4-BE49-F238E27FC236}">
                <a16:creationId xmlns:a16="http://schemas.microsoft.com/office/drawing/2014/main" id="{9599935D-0863-4230-8E3E-7BED50DBE99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76813411"/>
              </p:ext>
            </p:extLst>
          </p:nvPr>
        </p:nvGraphicFramePr>
        <p:xfrm>
          <a:off x="1138518" y="176446"/>
          <a:ext cx="9529481" cy="641757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25647">
                  <a:extLst>
                    <a:ext uri="{9D8B030D-6E8A-4147-A177-3AD203B41FA5}">
                      <a16:colId xmlns:a16="http://schemas.microsoft.com/office/drawing/2014/main" val="4223002077"/>
                    </a:ext>
                  </a:extLst>
                </a:gridCol>
                <a:gridCol w="1836643">
                  <a:extLst>
                    <a:ext uri="{9D8B030D-6E8A-4147-A177-3AD203B41FA5}">
                      <a16:colId xmlns:a16="http://schemas.microsoft.com/office/drawing/2014/main" val="1377747093"/>
                    </a:ext>
                  </a:extLst>
                </a:gridCol>
                <a:gridCol w="1986863">
                  <a:extLst>
                    <a:ext uri="{9D8B030D-6E8A-4147-A177-3AD203B41FA5}">
                      <a16:colId xmlns:a16="http://schemas.microsoft.com/office/drawing/2014/main" val="967094551"/>
                    </a:ext>
                  </a:extLst>
                </a:gridCol>
                <a:gridCol w="1353436">
                  <a:extLst>
                    <a:ext uri="{9D8B030D-6E8A-4147-A177-3AD203B41FA5}">
                      <a16:colId xmlns:a16="http://schemas.microsoft.com/office/drawing/2014/main" val="2079737647"/>
                    </a:ext>
                  </a:extLst>
                </a:gridCol>
                <a:gridCol w="2626892">
                  <a:extLst>
                    <a:ext uri="{9D8B030D-6E8A-4147-A177-3AD203B41FA5}">
                      <a16:colId xmlns:a16="http://schemas.microsoft.com/office/drawing/2014/main" val="1720254334"/>
                    </a:ext>
                  </a:extLst>
                </a:gridCol>
              </a:tblGrid>
              <a:tr h="603483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GT1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GT2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GT3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18956579"/>
                  </a:ext>
                </a:extLst>
              </a:tr>
              <a:tr h="118872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6022142"/>
                  </a:ext>
                </a:extLst>
              </a:tr>
              <a:tr h="1059215"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</a:pPr>
                      <a:r>
                        <a:rPr lang="en-US" sz="3200" dirty="0"/>
                        <a:t>Test 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</a:pPr>
                      <a:r>
                        <a:rPr lang="en-US" sz="3200" dirty="0"/>
                        <a:t>0.0000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</a:pPr>
                      <a:r>
                        <a:rPr lang="en-US" sz="3200" dirty="0"/>
                        <a:t>0.0049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</a:pPr>
                      <a:r>
                        <a:rPr lang="en-US" sz="3200" dirty="0"/>
                        <a:t>0.0052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8401093"/>
                  </a:ext>
                </a:extLst>
              </a:tr>
              <a:tr h="1188720"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</a:pPr>
                      <a:r>
                        <a:rPr lang="en-US" sz="3200"/>
                        <a:t>Test 2</a:t>
                      </a:r>
                      <a:endParaRPr lang="en-US" sz="3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dirty="0"/>
                        <a:t>0.0324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</a:pPr>
                      <a:r>
                        <a:rPr lang="en-US" sz="3200" dirty="0"/>
                        <a:t>0.0000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</a:pPr>
                      <a:r>
                        <a:rPr lang="en-US" sz="3200" dirty="0"/>
                        <a:t>0.0030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66779599"/>
                  </a:ext>
                </a:extLst>
              </a:tr>
              <a:tr h="1188720"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</a:pPr>
                      <a:r>
                        <a:rPr lang="en-US" sz="3200"/>
                        <a:t>Test 3</a:t>
                      </a:r>
                      <a:endParaRPr lang="en-US" sz="3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</a:pPr>
                      <a:r>
                        <a:rPr lang="en-US" sz="3200" dirty="0"/>
                        <a:t>0.1095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</a:pPr>
                      <a:r>
                        <a:rPr lang="en-US" sz="3200" dirty="0"/>
                        <a:t>0.0051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</a:pPr>
                      <a:r>
                        <a:rPr lang="en-US" sz="3200" dirty="0"/>
                        <a:t>0.0000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50184675"/>
                  </a:ext>
                </a:extLst>
              </a:tr>
              <a:tr h="1188720"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</a:pPr>
                      <a:r>
                        <a:rPr lang="en-US" sz="3200"/>
                        <a:t>Test 4</a:t>
                      </a:r>
                      <a:endParaRPr lang="en-US" sz="3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</a:pPr>
                      <a:r>
                        <a:rPr lang="en-US" sz="3200" dirty="0"/>
                        <a:t>0.1480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</a:pPr>
                      <a:r>
                        <a:rPr lang="en-US" sz="3200" dirty="0"/>
                        <a:t>0.0060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</a:pPr>
                      <a:r>
                        <a:rPr lang="en-US" sz="3200" dirty="0"/>
                        <a:t>0.0004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11711920"/>
                  </a:ext>
                </a:extLst>
              </a:tr>
            </a:tbl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E77A58A-316E-41F2-A8D9-571ABCFE2C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BBE439-A689-4E67-A7FC-21353A5E3273}" type="slidenum">
              <a:rPr lang="en-US" smtClean="0"/>
              <a:pPr/>
              <a:t>14</a:t>
            </a:fld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CDC125D8-47F4-40F8-9349-6D234EE5C94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09286" y="845226"/>
            <a:ext cx="1269999" cy="99060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DB29A489-6D2A-4D21-A7F4-26DCF49ABA8D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218" t="4491" r="13057" b="13057"/>
          <a:stretch/>
        </p:blipFill>
        <p:spPr>
          <a:xfrm>
            <a:off x="3263153" y="845225"/>
            <a:ext cx="1129553" cy="990601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1C88ACDE-AED9-40C2-9AE8-E301967480B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57031" y="845225"/>
            <a:ext cx="1269999" cy="990601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0B4C352E-B112-4951-A316-E0F3F63B8E51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218" t="4491" r="13057" b="13057"/>
          <a:stretch/>
        </p:blipFill>
        <p:spPr>
          <a:xfrm>
            <a:off x="8556465" y="2019601"/>
            <a:ext cx="1270000" cy="990601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329FF164-7A8F-4FA1-B2F9-37B0AB8A974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56466" y="3122262"/>
            <a:ext cx="1269999" cy="990600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D537BC5A-A380-44A5-9C25-04965F2EE2D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56466" y="4358057"/>
            <a:ext cx="1269999" cy="9906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879FB5A-38BC-4421-8209-C3C433D4C25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80162" y="5504999"/>
            <a:ext cx="1275324" cy="9906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664723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21">
            <a:extLst>
              <a:ext uri="{FF2B5EF4-FFF2-40B4-BE49-F238E27FC236}">
                <a16:creationId xmlns:a16="http://schemas.microsoft.com/office/drawing/2014/main" id="{67F29B7B-4A52-05C2-D424-998CF01F4F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Assignment: Hu Moments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4EDA084C-98D6-1C24-9FC4-35FA8E1AD9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>
                <a:solidFill>
                  <a:srgbClr val="DD8047">
                    <a:lumMod val="50000"/>
                  </a:srgbClr>
                </a:solidFill>
              </a:rPr>
              <a:t>Prof. Dr. SMM Ahsan, CSE, KUET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A864C0E-0C89-52EB-74A1-8975629480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pPr>
              <a:defRPr/>
            </a:pPr>
            <a:fld id="{DA51144F-0BBA-4068-ABEE-4D8D26EE083D}" type="slidenum">
              <a:rPr lang="en-US" smtClean="0">
                <a:solidFill>
                  <a:srgbClr val="DD8047">
                    <a:lumMod val="50000"/>
                  </a:srgbClr>
                </a:solidFill>
              </a:rPr>
              <a:pPr>
                <a:defRPr/>
              </a:pPr>
              <a:t>15</a:t>
            </a:fld>
            <a:endParaRPr lang="en-US">
              <a:solidFill>
                <a:srgbClr val="DD8047">
                  <a:lumMod val="50000"/>
                </a:srgbClr>
              </a:solidFill>
            </a:endParaRP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117CB6A-5555-64C9-AF3D-94477C41B8D2}"/>
              </a:ext>
            </a:extLst>
          </p:cNvPr>
          <p:cNvGrpSpPr/>
          <p:nvPr/>
        </p:nvGrpSpPr>
        <p:grpSpPr>
          <a:xfrm>
            <a:off x="618565" y="1111623"/>
            <a:ext cx="11071411" cy="4383742"/>
            <a:chOff x="215900" y="1409700"/>
            <a:chExt cx="12161159" cy="4572000"/>
          </a:xfrm>
        </p:grpSpPr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C4B0E71F-0B63-B90B-5A6B-C53A0544442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28600" y="1409700"/>
              <a:ext cx="12148459" cy="4572000"/>
            </a:xfrm>
            <a:prstGeom prst="rect">
              <a:avLst/>
            </a:prstGeom>
          </p:spPr>
        </p:pic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82AF3C01-BE81-B1E1-A742-17A116EB070C}"/>
                </a:ext>
              </a:extLst>
            </p:cNvPr>
            <p:cNvSpPr txBox="1"/>
            <p:nvPr/>
          </p:nvSpPr>
          <p:spPr>
            <a:xfrm>
              <a:off x="373901" y="1430209"/>
              <a:ext cx="457200" cy="430887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lIns="0" tIns="0" rIns="0" bIns="0" rtlCol="0">
              <a:spAutoFit/>
            </a:bodyPr>
            <a:lstStyle/>
            <a:p>
              <a:pPr algn="r"/>
              <a:r>
                <a:rPr lang="en-US" sz="2800" dirty="0">
                  <a:sym typeface="Symbol" panose="05050102010706020507" pitchFamily="18" charset="2"/>
                </a:rPr>
                <a:t></a:t>
              </a:r>
              <a:r>
                <a:rPr lang="en-US" sz="2800" baseline="-25000" dirty="0">
                  <a:sym typeface="Symbol" panose="05050102010706020507" pitchFamily="18" charset="2"/>
                </a:rPr>
                <a:t>1</a:t>
              </a:r>
              <a:endParaRPr lang="en-US" sz="2800" baseline="-25000" dirty="0"/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6740268C-ECC8-7831-0460-B442F8FE6B81}"/>
                </a:ext>
              </a:extLst>
            </p:cNvPr>
            <p:cNvSpPr txBox="1"/>
            <p:nvPr/>
          </p:nvSpPr>
          <p:spPr>
            <a:xfrm>
              <a:off x="373901" y="1890527"/>
              <a:ext cx="457200" cy="430887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lIns="0" tIns="0" rIns="0" bIns="0" rtlCol="0">
              <a:spAutoFit/>
            </a:bodyPr>
            <a:lstStyle/>
            <a:p>
              <a:pPr algn="r"/>
              <a:r>
                <a:rPr lang="en-US" sz="2800" dirty="0">
                  <a:sym typeface="Symbol" panose="05050102010706020507" pitchFamily="18" charset="2"/>
                </a:rPr>
                <a:t></a:t>
              </a:r>
              <a:r>
                <a:rPr lang="en-US" sz="2800" baseline="-25000" dirty="0">
                  <a:sym typeface="Symbol" panose="05050102010706020507" pitchFamily="18" charset="2"/>
                </a:rPr>
                <a:t>2</a:t>
              </a:r>
              <a:endParaRPr lang="en-US" sz="2800" baseline="-25000" dirty="0"/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A1EBB266-3E19-222A-6BD4-664120275F10}"/>
                </a:ext>
              </a:extLst>
            </p:cNvPr>
            <p:cNvSpPr txBox="1"/>
            <p:nvPr/>
          </p:nvSpPr>
          <p:spPr>
            <a:xfrm>
              <a:off x="215900" y="2439345"/>
              <a:ext cx="615201" cy="430887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lIns="0" tIns="0" rIns="0" bIns="0" rtlCol="0">
              <a:spAutoFit/>
            </a:bodyPr>
            <a:lstStyle/>
            <a:p>
              <a:pPr algn="r"/>
              <a:r>
                <a:rPr lang="en-US" sz="2800" dirty="0">
                  <a:sym typeface="Symbol" panose="05050102010706020507" pitchFamily="18" charset="2"/>
                </a:rPr>
                <a:t></a:t>
              </a:r>
              <a:r>
                <a:rPr lang="en-US" sz="2800" baseline="-25000" dirty="0">
                  <a:sym typeface="Symbol" panose="05050102010706020507" pitchFamily="18" charset="2"/>
                </a:rPr>
                <a:t>3</a:t>
              </a:r>
              <a:endParaRPr lang="en-US" sz="2800" baseline="-25000" dirty="0"/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D57F720E-9D01-BB60-FAA6-A1ADFD6FB5A3}"/>
                </a:ext>
              </a:extLst>
            </p:cNvPr>
            <p:cNvSpPr txBox="1"/>
            <p:nvPr/>
          </p:nvSpPr>
          <p:spPr>
            <a:xfrm>
              <a:off x="341169" y="2963618"/>
              <a:ext cx="489932" cy="430887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lIns="0" tIns="0" rIns="0" bIns="0" rtlCol="0">
              <a:spAutoFit/>
            </a:bodyPr>
            <a:lstStyle/>
            <a:p>
              <a:pPr algn="r"/>
              <a:r>
                <a:rPr lang="en-US" sz="2800" dirty="0">
                  <a:sym typeface="Symbol" panose="05050102010706020507" pitchFamily="18" charset="2"/>
                </a:rPr>
                <a:t></a:t>
              </a:r>
              <a:r>
                <a:rPr lang="en-US" sz="2800" baseline="-25000" dirty="0">
                  <a:sym typeface="Symbol" panose="05050102010706020507" pitchFamily="18" charset="2"/>
                </a:rPr>
                <a:t>4</a:t>
              </a:r>
              <a:endParaRPr lang="en-US" sz="2800" baseline="-25000" dirty="0"/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37F0421B-FA60-0E03-EB2F-7EA545B85FC7}"/>
                </a:ext>
              </a:extLst>
            </p:cNvPr>
            <p:cNvSpPr txBox="1"/>
            <p:nvPr/>
          </p:nvSpPr>
          <p:spPr>
            <a:xfrm>
              <a:off x="288434" y="3389293"/>
              <a:ext cx="542667" cy="430887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lIns="0" tIns="0" rIns="0" bIns="0" rtlCol="0">
              <a:spAutoFit/>
            </a:bodyPr>
            <a:lstStyle/>
            <a:p>
              <a:pPr algn="r"/>
              <a:r>
                <a:rPr lang="en-US" sz="2800" dirty="0">
                  <a:sym typeface="Symbol" panose="05050102010706020507" pitchFamily="18" charset="2"/>
                </a:rPr>
                <a:t></a:t>
              </a:r>
              <a:r>
                <a:rPr lang="en-US" sz="2800" baseline="-25000" dirty="0">
                  <a:sym typeface="Symbol" panose="05050102010706020507" pitchFamily="18" charset="2"/>
                </a:rPr>
                <a:t>5</a:t>
              </a:r>
              <a:endParaRPr lang="en-US" sz="2800" baseline="-25000" dirty="0"/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743BF38B-1674-D870-B8E0-3AE739E6A9A6}"/>
                </a:ext>
              </a:extLst>
            </p:cNvPr>
            <p:cNvSpPr txBox="1"/>
            <p:nvPr/>
          </p:nvSpPr>
          <p:spPr>
            <a:xfrm>
              <a:off x="341169" y="4848850"/>
              <a:ext cx="489932" cy="430887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lIns="0" tIns="0" rIns="0" bIns="0" rtlCol="0">
              <a:spAutoFit/>
            </a:bodyPr>
            <a:lstStyle/>
            <a:p>
              <a:pPr algn="r"/>
              <a:r>
                <a:rPr lang="en-US" sz="2800" dirty="0">
                  <a:sym typeface="Symbol" panose="05050102010706020507" pitchFamily="18" charset="2"/>
                </a:rPr>
                <a:t></a:t>
              </a:r>
              <a:r>
                <a:rPr lang="en-US" sz="2800" baseline="-25000" dirty="0">
                  <a:sym typeface="Symbol" panose="05050102010706020507" pitchFamily="18" charset="2"/>
                </a:rPr>
                <a:t>7</a:t>
              </a:r>
              <a:endParaRPr lang="en-US" sz="2800" baseline="-25000" dirty="0"/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59BC3C64-CEA6-F305-A2AB-E74D123E22C8}"/>
                </a:ext>
              </a:extLst>
            </p:cNvPr>
            <p:cNvSpPr txBox="1"/>
            <p:nvPr/>
          </p:nvSpPr>
          <p:spPr>
            <a:xfrm>
              <a:off x="288434" y="4360357"/>
              <a:ext cx="542667" cy="430887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lIns="0" tIns="0" rIns="0" bIns="0" rtlCol="0">
              <a:spAutoFit/>
            </a:bodyPr>
            <a:lstStyle/>
            <a:p>
              <a:pPr algn="r"/>
              <a:r>
                <a:rPr lang="en-US" sz="2800" dirty="0">
                  <a:sym typeface="Symbol" panose="05050102010706020507" pitchFamily="18" charset="2"/>
                </a:rPr>
                <a:t></a:t>
              </a:r>
              <a:r>
                <a:rPr lang="en-US" sz="2800" baseline="-25000" dirty="0">
                  <a:sym typeface="Symbol" panose="05050102010706020507" pitchFamily="18" charset="2"/>
                </a:rPr>
                <a:t>6</a:t>
              </a:r>
              <a:endParaRPr lang="en-US" sz="2800" baseline="-25000" dirty="0"/>
            </a:p>
          </p:txBody>
        </p:sp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A4C364F5-C70F-3123-E6DF-7AA6B4A322FD}"/>
              </a:ext>
            </a:extLst>
          </p:cNvPr>
          <p:cNvSpPr txBox="1"/>
          <p:nvPr/>
        </p:nvSpPr>
        <p:spPr>
          <a:xfrm>
            <a:off x="353543" y="5842337"/>
            <a:ext cx="12001386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0" i="0" dirty="0">
                <a:solidFill>
                  <a:srgbClr val="242021"/>
                </a:solidFill>
                <a:effectLst/>
                <a:latin typeface="TimesTen-Roman"/>
              </a:rPr>
              <a:t>Derivation of these results requires concepts that are beyond the scope of this discussion. The book by Bell [1965] and the paper by Hu [1962] contain detailed discussions of these concepts. For generating moment invariants of an order higher than seven, see </a:t>
            </a:r>
            <a:r>
              <a:rPr lang="en-US" sz="1400" b="0" i="0" dirty="0" err="1">
                <a:solidFill>
                  <a:srgbClr val="242021"/>
                </a:solidFill>
                <a:effectLst/>
                <a:latin typeface="TimesTen-Roman"/>
              </a:rPr>
              <a:t>Flusser</a:t>
            </a:r>
            <a:r>
              <a:rPr lang="en-US" sz="1400" b="0" i="0" dirty="0">
                <a:solidFill>
                  <a:srgbClr val="242021"/>
                </a:solidFill>
                <a:effectLst/>
                <a:latin typeface="TimesTen-Roman"/>
              </a:rPr>
              <a:t> [2000]. Moment invariants can be generalized to </a:t>
            </a:r>
            <a:r>
              <a:rPr lang="en-US" sz="1400" b="0" i="1" dirty="0">
                <a:solidFill>
                  <a:srgbClr val="242021"/>
                </a:solidFill>
                <a:effectLst/>
                <a:latin typeface="TimesTen-Italic"/>
              </a:rPr>
              <a:t>n </a:t>
            </a:r>
            <a:r>
              <a:rPr lang="en-US" sz="1400" b="0" i="0" dirty="0">
                <a:solidFill>
                  <a:srgbClr val="242021"/>
                </a:solidFill>
                <a:effectLst/>
                <a:latin typeface="TimesTen-Roman"/>
              </a:rPr>
              <a:t>dimensions (see </a:t>
            </a:r>
            <a:r>
              <a:rPr lang="en-US" sz="1400" b="0" i="0" dirty="0" err="1">
                <a:solidFill>
                  <a:srgbClr val="242021"/>
                </a:solidFill>
                <a:effectLst/>
                <a:latin typeface="TimesTen-Roman"/>
              </a:rPr>
              <a:t>Mamistvalov</a:t>
            </a:r>
            <a:r>
              <a:rPr lang="en-US" sz="1400" b="0" i="0" dirty="0">
                <a:solidFill>
                  <a:srgbClr val="242021"/>
                </a:solidFill>
                <a:effectLst/>
                <a:latin typeface="TimesTen-Roman"/>
              </a:rPr>
              <a:t> [1998]).</a:t>
            </a:r>
            <a:r>
              <a:rPr lang="en-US" sz="1400" dirty="0"/>
              <a:t> </a:t>
            </a:r>
            <a:br>
              <a:rPr lang="en-US" sz="1400" dirty="0"/>
            </a:b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159719218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643DC6D7-847C-F8F0-A35E-A7E7A96356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21">
            <a:extLst>
              <a:ext uri="{FF2B5EF4-FFF2-40B4-BE49-F238E27FC236}">
                <a16:creationId xmlns:a16="http://schemas.microsoft.com/office/drawing/2014/main" id="{48C840F2-CD2F-3B08-0207-732BFB32DC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Hu Moments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4A59CEB-2021-EB6E-091B-BFD443552411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762000" y="1313329"/>
            <a:ext cx="10820400" cy="4572000"/>
          </a:xfrm>
        </p:spPr>
        <p:txBody>
          <a:bodyPr>
            <a:normAutofit/>
          </a:bodyPr>
          <a:lstStyle/>
          <a:p>
            <a:r>
              <a:rPr lang="en-US" dirty="0"/>
              <a:t>This set of moments is invariant to translation, scale change, mirroring (within a minus sign), and rotation. </a:t>
            </a:r>
          </a:p>
          <a:p>
            <a:r>
              <a:rPr lang="en-US" dirty="0"/>
              <a:t>We can attach physical meaning to some of the low-order moment invariants. </a:t>
            </a:r>
          </a:p>
          <a:p>
            <a:pPr lvl="1"/>
            <a:r>
              <a:rPr lang="en-US" dirty="0"/>
              <a:t>For example, </a:t>
            </a:r>
            <a:r>
              <a:rPr lang="en-US" sz="2400" dirty="0">
                <a:sym typeface="Symbol" panose="05050102010706020507" pitchFamily="18" charset="2"/>
              </a:rPr>
              <a:t></a:t>
            </a:r>
            <a:r>
              <a:rPr lang="en-US" dirty="0"/>
              <a:t>1 is the sum of two second moments with respect to the principal axes of data spread, so this moment can be interpreted as a measure of data spread. </a:t>
            </a:r>
          </a:p>
          <a:p>
            <a:pPr lvl="1"/>
            <a:r>
              <a:rPr lang="en-US" dirty="0"/>
              <a:t>Similarly, </a:t>
            </a:r>
            <a:r>
              <a:rPr lang="en-US" sz="2400" dirty="0">
                <a:sym typeface="Symbol" panose="05050102010706020507" pitchFamily="18" charset="2"/>
              </a:rPr>
              <a:t></a:t>
            </a:r>
            <a:r>
              <a:rPr lang="en-US" dirty="0"/>
              <a:t>3 is the difference of second moments, and may be interpreted as a measure of “slenderness.” </a:t>
            </a:r>
          </a:p>
          <a:p>
            <a:pPr lvl="1"/>
            <a:r>
              <a:rPr lang="en-US" dirty="0"/>
              <a:t>However, as the order of the moment invariants increases, the complexity of their formulation causes physical meaning to be lost.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4453F7C0-AE12-79E4-BA15-71D8891B34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>
                <a:solidFill>
                  <a:srgbClr val="DD8047">
                    <a:lumMod val="50000"/>
                  </a:srgbClr>
                </a:solidFill>
              </a:rPr>
              <a:t>Prof. Dr. SMM Ahsan, CSE, KUET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4EF6112-3E9D-2CC2-A540-19EDDB344E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pPr>
              <a:defRPr/>
            </a:pPr>
            <a:fld id="{DA51144F-0BBA-4068-ABEE-4D8D26EE083D}" type="slidenum">
              <a:rPr lang="en-US" smtClean="0">
                <a:solidFill>
                  <a:srgbClr val="DD8047">
                    <a:lumMod val="50000"/>
                  </a:srgbClr>
                </a:solidFill>
              </a:rPr>
              <a:pPr>
                <a:defRPr/>
              </a:pPr>
              <a:t>16</a:t>
            </a:fld>
            <a:endParaRPr lang="en-US">
              <a:solidFill>
                <a:srgbClr val="DD8047">
                  <a:lumMod val="50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2922809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464421-D688-FF45-A6A9-7E05E8A410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Hu Moments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30D46EE-7CA4-FE9F-43CE-A58C9FF554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pPr>
              <a:defRPr/>
            </a:pPr>
            <a:fld id="{D55C524C-7A57-4389-B084-E69453A2BAA2}" type="slidenum">
              <a:rPr lang="en-US" smtClean="0">
                <a:solidFill>
                  <a:srgbClr val="DD8047">
                    <a:lumMod val="50000"/>
                  </a:srgbClr>
                </a:solidFill>
              </a:rPr>
              <a:pPr>
                <a:defRPr/>
              </a:pPr>
              <a:t>17</a:t>
            </a:fld>
            <a:endParaRPr lang="en-US" dirty="0">
              <a:solidFill>
                <a:srgbClr val="DD8047">
                  <a:lumMod val="50000"/>
                </a:srgbClr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891D1D2-D68A-30E1-024F-FEFDBCC501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298" y="1176337"/>
            <a:ext cx="8001302" cy="5362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89738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464421-D688-FF45-A6A9-7E05E8A410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Hu Moments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BA2C93C-1D1C-32BD-BFCA-7BC5BC6E03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>
                <a:solidFill>
                  <a:srgbClr val="DD8047">
                    <a:lumMod val="50000"/>
                  </a:srgbClr>
                </a:solidFill>
              </a:rPr>
              <a:t>Prof. Dr. SMM Ahsan, CSE, KUET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30D46EE-7CA4-FE9F-43CE-A58C9FF554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pPr>
              <a:defRPr/>
            </a:pPr>
            <a:fld id="{D55C524C-7A57-4389-B084-E69453A2BAA2}" type="slidenum">
              <a:rPr lang="en-US" smtClean="0">
                <a:solidFill>
                  <a:srgbClr val="DD8047">
                    <a:lumMod val="50000"/>
                  </a:srgbClr>
                </a:solidFill>
              </a:rPr>
              <a:pPr>
                <a:defRPr/>
              </a:pPr>
              <a:t>18</a:t>
            </a:fld>
            <a:endParaRPr lang="en-US" dirty="0">
              <a:solidFill>
                <a:srgbClr val="DD8047">
                  <a:lumMod val="50000"/>
                </a:srgbClr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D71F4B7-E7C9-9710-0611-1062CEDE7E6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582238" y="1360581"/>
            <a:ext cx="11485232" cy="4556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139520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DFF190-E7F6-4574-A2FD-76770E35C0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Assignment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679B54-3164-4024-9DC8-77452F91D0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3C2EDF2-832E-4D97-AF7D-B4B78A50B6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BBE439-A689-4E67-A7FC-21353A5E3273}" type="slidenum">
              <a:rPr lang="en-US" smtClean="0"/>
              <a:pPr/>
              <a:t>19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832361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2112</TotalTime>
  <Words>899</Words>
  <Application>Microsoft Office PowerPoint</Application>
  <PresentationFormat>Widescreen</PresentationFormat>
  <Paragraphs>197</Paragraphs>
  <Slides>19</Slides>
  <Notes>0</Notes>
  <HiddenSlides>2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8" baseType="lpstr">
      <vt:lpstr>Arial</vt:lpstr>
      <vt:lpstr>Calibri</vt:lpstr>
      <vt:lpstr>Calibri Light</vt:lpstr>
      <vt:lpstr>Cambria Math</vt:lpstr>
      <vt:lpstr>Courier New</vt:lpstr>
      <vt:lpstr>Times New Roman</vt:lpstr>
      <vt:lpstr>TimesTen-Italic</vt:lpstr>
      <vt:lpstr>TimesTen-Roman</vt:lpstr>
      <vt:lpstr>Office Theme</vt:lpstr>
      <vt:lpstr>PowerPoint Presentation</vt:lpstr>
      <vt:lpstr>Region Descriptors</vt:lpstr>
      <vt:lpstr>Region Descriptors</vt:lpstr>
      <vt:lpstr> </vt:lpstr>
      <vt:lpstr>Classwork</vt:lpstr>
      <vt:lpstr>Erosion</vt:lpstr>
      <vt:lpstr>Erosion</vt:lpstr>
      <vt:lpstr>Parameters</vt:lpstr>
      <vt:lpstr>Parameters</vt:lpstr>
      <vt:lpstr>How to find axes?</vt:lpstr>
      <vt:lpstr>Kullback-Leibler Distance</vt:lpstr>
      <vt:lpstr>Show Distance Matrix </vt:lpstr>
      <vt:lpstr>Show as table</vt:lpstr>
      <vt:lpstr>PowerPoint Presentation</vt:lpstr>
      <vt:lpstr>Assignment: Hu Moments</vt:lpstr>
      <vt:lpstr>Hu Moments</vt:lpstr>
      <vt:lpstr>Hu Moments</vt:lpstr>
      <vt:lpstr>Hu Moments</vt:lpstr>
      <vt:lpstr>Assignment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CSE 4128 Lab 1</dc:title>
  <dc:creator>Sunanda_Das</dc:creator>
  <cp:lastModifiedBy>Tajmilur</cp:lastModifiedBy>
  <cp:revision>147</cp:revision>
  <dcterms:created xsi:type="dcterms:W3CDTF">2022-03-22T12:35:29Z</dcterms:created>
  <dcterms:modified xsi:type="dcterms:W3CDTF">2025-09-24T06:26:17Z</dcterms:modified>
</cp:coreProperties>
</file>