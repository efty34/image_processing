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1" r:id="rId4"/>
    <p:sldId id="283" r:id="rId5"/>
    <p:sldId id="270" r:id="rId6"/>
    <p:sldId id="271" r:id="rId7"/>
    <p:sldId id="272" r:id="rId8"/>
    <p:sldId id="273" r:id="rId9"/>
    <p:sldId id="274" r:id="rId10"/>
    <p:sldId id="264" r:id="rId11"/>
    <p:sldId id="265" r:id="rId12"/>
    <p:sldId id="266" r:id="rId13"/>
    <p:sldId id="292" r:id="rId14"/>
    <p:sldId id="293" r:id="rId15"/>
    <p:sldId id="282" r:id="rId16"/>
    <p:sldId id="261" r:id="rId17"/>
    <p:sldId id="277" r:id="rId18"/>
    <p:sldId id="278" r:id="rId19"/>
    <p:sldId id="286" r:id="rId20"/>
    <p:sldId id="294" r:id="rId21"/>
    <p:sldId id="287" r:id="rId22"/>
    <p:sldId id="288" r:id="rId23"/>
    <p:sldId id="298" r:id="rId24"/>
    <p:sldId id="284" r:id="rId25"/>
    <p:sldId id="295" r:id="rId26"/>
    <p:sldId id="258" r:id="rId27"/>
    <p:sldId id="29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AB62E-2385-49D2-BC61-CC7D828A7D26}" type="datetimeFigureOut">
              <a:rPr lang="en-US" smtClean="0"/>
              <a:t>22-Aug-25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3706-A8D8-4844-982A-04D6A2D9C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80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83706-A8D8-4844-982A-04D6A2D9C8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676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(as C++ is syntactically complex and needs manual memory management).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83706-A8D8-4844-982A-04D6A2D9C8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88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50EE-4430-488F-A699-5B4C7A913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A361-235E-4DC4-9E90-950A2C5A2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BF4EE-223E-4BEC-B5B0-644979166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36BB-3B66-41B8-87E6-EF8FDBAF7436}" type="datetime1">
              <a:rPr lang="en-US" smtClean="0"/>
              <a:t>22-Aug-25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D9E84-197E-423C-9DB0-77F07F00C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F84FD-338F-4F02-8F3C-A7CAE95F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5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C8D3-8EDE-477D-9075-C662CB65A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328100"/>
            <a:ext cx="10515600" cy="629957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1261-0AA0-4025-B2E0-004D6E269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400783"/>
            <a:ext cx="10578353" cy="477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86559-DB24-4C42-8C3F-846EF034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45A6D-E6EC-4B0B-AEA7-1970BD0A44C9}" type="datetime1">
              <a:rPr lang="en-US" smtClean="0"/>
              <a:t>22-Aug-25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FF1CE-16A3-42CD-90C9-67ED03F9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15EAF-BAD0-4D23-BC1E-8A041010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944523E5-3816-41A4-AAA3-3A12428561F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41F6AB-A45E-4DD5-A2B3-AE74DFD493A3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95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23EF7-E9E9-4D79-A7E2-427813B14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8E8F0-510F-4FAE-9756-927E424A6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CBD43-C0B9-413B-BA3B-FC5B482B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50989-71EB-4874-B3B2-0E757C60DB0F}" type="datetime1">
              <a:rPr lang="en-US" smtClean="0"/>
              <a:t>22-Aug-25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B02D0-49AB-4D27-A188-6CCC55BF9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94A0A-2A5A-4489-AE45-B3D96E51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50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F7C6-26F0-49FE-8A90-324F59BC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23491-D5C5-4006-AA45-566A01C94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8F47C-8DB8-4E6C-AE43-17CC827C8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1E8E4-D860-4EBA-9EB9-678E1F90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B3A7-8D76-4F3B-97AC-4FF7A882D36D}" type="datetime1">
              <a:rPr lang="en-US" smtClean="0"/>
              <a:t>22-Aug-25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95AB7-5FFA-41D0-B108-D1F7F2F75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E5C5B-A6F3-409D-88D0-E19E1F64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5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83122-D793-439D-A06C-5CFDF63A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2E788-DD67-4D70-AAF2-469C73896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7DA4E-F4ED-40EF-ACE6-016185DDA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D3EEE-35DD-492B-8438-4A4A5910D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E0FC3-5D01-448F-908A-D07C45306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2A8071-7A64-4227-8311-B5DD68EE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AD856-5EBF-4CD7-B205-E9A3806EE8BF}" type="datetime1">
              <a:rPr lang="en-US" smtClean="0"/>
              <a:t>22-Aug-25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1FA9B7-A6A3-4867-BF46-483FA9ED0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C526B-8916-47C1-A456-A0E3EA30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48BA-1E47-491E-9884-94306E83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F8689-3FC1-4326-90A4-F8E5C9E29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13A0-E657-40BA-B2A2-4664E16746BF}" type="datetime1">
              <a:rPr lang="en-US" smtClean="0"/>
              <a:t>22-Aug-25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F1830-A0D8-4CEF-927F-D58F9B33D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760AF-4D43-4B22-B964-E1049CE3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1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FF7DF-DB4F-46AB-95FA-36AF2AC1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1E34C-47A0-48BB-A7B1-5B332C6BA600}" type="datetime1">
              <a:rPr lang="en-US" smtClean="0"/>
              <a:t>22-Aug-25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F963F-665D-4201-955C-75754257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A6F19-C489-47CC-9134-2FC9632F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5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82EB-C225-49B0-A559-FFC287EA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6ED6-D4B2-49F8-956E-04D667DD2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BFDA2-61F2-4133-91BF-68BEEB6F7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85F6-EE5D-47F9-8CFF-79731051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25B1D-D8D5-41BE-B04B-DFD70CC95471}" type="datetime1">
              <a:rPr lang="en-US" smtClean="0"/>
              <a:t>22-Aug-25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79AD3-B77B-4B22-9D49-8B8919CEC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902BB-85E3-4E68-A053-06CE4A3A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6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C67E-44DC-4BF8-96E7-F15DF6D2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F315D-EDF9-410C-A835-E1018309A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5332C-6761-4122-95D0-8A6175FFF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EC2C0-6B51-4C02-9CC5-702DB659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C4B8-CCBF-41EB-B223-259EA97D8CF9}" type="datetime1">
              <a:rPr lang="en-US" smtClean="0"/>
              <a:t>22-Aug-25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CE51A-D6CC-4467-8140-83E3B6F01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B199C-EFC1-4518-9AE7-69527F99A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5F2F-97AC-4A3E-AE90-7439DEEE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9F053-EC72-4B5B-86F0-6DAFBDB73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45FF9-5287-43C6-847B-C0E4FABE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EAE2-3D6F-4866-A13C-F75C58F15157}" type="datetime1">
              <a:rPr lang="en-US" smtClean="0"/>
              <a:t>22-Aug-25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EBBD9-4135-4D08-B689-81756445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095E5-A709-4E02-9C8B-F9CDD9E6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2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A5170C-6EF1-4B66-923F-1DF96724E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ED107-5DDB-408D-AAC1-12A7A0A76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681E1-4AFA-4D41-A788-BEA6C465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53E78-B83A-4781-8D42-136C3E2BA95E}" type="datetime1">
              <a:rPr lang="en-US" smtClean="0"/>
              <a:t>22-Aug-25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725BB-97A0-4D31-ACF1-63789BF3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4FF4F-1A25-45FA-9447-87D84C69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5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62B932-F298-46C5-B620-E78DDA22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2FECC-8CB8-43E3-A9A6-C63B38CE4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47173-EC4E-4B31-83E3-C7D05D877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B4765-D284-4DEA-9ACE-1633024C0C5A}" type="datetime1">
              <a:rPr lang="en-US" smtClean="0"/>
              <a:t>22-Aug-25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77267-EAB0-4F1D-80AB-914533E2D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607D5-BA9F-4D11-928F-0B9DD4C9E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523E5-3816-41A4-AAA3-3A1242856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1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aconda.com/anaconda/install/" TargetMode="External"/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C6FE504-872B-492C-95B4-91BC0384D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002" y="887150"/>
            <a:ext cx="9165996" cy="2839727"/>
          </a:xfrm>
        </p:spPr>
        <p:txBody>
          <a:bodyPr>
            <a:normAutofit/>
          </a:bodyPr>
          <a:lstStyle/>
          <a:p>
            <a:r>
              <a:rPr lang="en-US" sz="5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CSE 4128</a:t>
            </a:r>
            <a:br>
              <a:rPr lang="en-US" sz="5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Computer Vision Laboratory</a:t>
            </a:r>
            <a:endParaRPr lang="en-US" sz="23300" b="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F0BE7-5D6C-4B7C-B81A-057AF89EDE18}"/>
              </a:ext>
            </a:extLst>
          </p:cNvPr>
          <p:cNvSpPr txBox="1"/>
          <p:nvPr/>
        </p:nvSpPr>
        <p:spPr>
          <a:xfrm>
            <a:off x="1118640" y="4503393"/>
            <a:ext cx="36168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Dr. Sk. Md. </a:t>
            </a:r>
            <a:r>
              <a:rPr lang="en-US" sz="2400" b="1" dirty="0" err="1"/>
              <a:t>Masudul</a:t>
            </a:r>
            <a:r>
              <a:rPr lang="en-US" sz="2400" b="1" dirty="0"/>
              <a:t> Ahsan</a:t>
            </a:r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Dept. of CSE, KUET</a:t>
            </a:r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7BB82-BDC2-47D1-9B2E-A0A8F0A73DBD}"/>
              </a:ext>
            </a:extLst>
          </p:cNvPr>
          <p:cNvSpPr txBox="1"/>
          <p:nvPr/>
        </p:nvSpPr>
        <p:spPr>
          <a:xfrm>
            <a:off x="8032475" y="4503393"/>
            <a:ext cx="2849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Md Tajmilur Rahman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38242F5-F51A-40B2-8B65-7695182D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z="1800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6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6E15-31B7-4C76-B9D1-D41C517CB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F70A41-5072-4D5B-A71C-E7272E2033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6061209"/>
              </p:ext>
            </p:extLst>
          </p:nvPr>
        </p:nvGraphicFramePr>
        <p:xfrm>
          <a:off x="1152524" y="2147889"/>
          <a:ext cx="9191625" cy="3331867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322218">
                  <a:extLst>
                    <a:ext uri="{9D8B030D-6E8A-4147-A177-3AD203B41FA5}">
                      <a16:colId xmlns:a16="http://schemas.microsoft.com/office/drawing/2014/main" val="4032461317"/>
                    </a:ext>
                  </a:extLst>
                </a:gridCol>
                <a:gridCol w="7869407">
                  <a:extLst>
                    <a:ext uri="{9D8B030D-6E8A-4147-A177-3AD203B41FA5}">
                      <a16:colId xmlns:a16="http://schemas.microsoft.com/office/drawing/2014/main" val="858126397"/>
                    </a:ext>
                  </a:extLst>
                </a:gridCol>
              </a:tblGrid>
              <a:tr h="537398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4524575"/>
                  </a:ext>
                </a:extLst>
              </a:tr>
              <a:tr h="49606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Segmentation applying  edge detection and thresholding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5010382"/>
                  </a:ext>
                </a:extLst>
              </a:tr>
              <a:tr h="55117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Histogram equalization and matching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1430523"/>
                  </a:ext>
                </a:extLst>
              </a:tr>
              <a:tr h="5603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Domain Filtering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9595172"/>
                  </a:ext>
                </a:extLst>
              </a:tr>
              <a:tr h="59343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 Descriptors  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3019695"/>
                  </a:ext>
                </a:extLst>
              </a:tr>
              <a:tr h="59343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WEEK 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Showcasing and </a:t>
                      </a:r>
                      <a:r>
                        <a:rPr lang="en-US" sz="2000" b="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Labtest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567836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7C9118-C6FA-4357-AC66-53AEB9FE7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5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D895C9-E973-4A30-8A13-FF3E58014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87462"/>
          </a:xfrm>
        </p:spPr>
        <p:txBody>
          <a:bodyPr/>
          <a:lstStyle/>
          <a:p>
            <a:r>
              <a:rPr lang="en-US" b="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lang="en-US" sz="60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B9721-B15B-4A7B-B42E-EC4A5E34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0D09749F-20D8-4D38-8CF3-699E239DBDB1}"/>
              </a:ext>
            </a:extLst>
          </p:cNvPr>
          <p:cNvSpPr txBox="1">
            <a:spLocks/>
          </p:cNvSpPr>
          <p:nvPr/>
        </p:nvSpPr>
        <p:spPr>
          <a:xfrm>
            <a:off x="1524000" y="2922588"/>
            <a:ext cx="9144000" cy="12874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 Convolution</a:t>
            </a:r>
          </a:p>
        </p:txBody>
      </p:sp>
    </p:spTree>
    <p:extLst>
      <p:ext uri="{BB962C8B-B14F-4D97-AF65-F5344CB8AC3E}">
        <p14:creationId xmlns:p14="http://schemas.microsoft.com/office/powerpoint/2010/main" val="905570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4B72-67AD-45CA-913A-3FA278E2E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33A54-1994-4763-916E-8E45E9653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is an operation performed on two functions to produce a third function.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image processing, convolution is the process of transforming an image by applying a kernel over each pixel and its local neighbors across the entire image.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convolution operation applied on Image I(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using a kernel F is given by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1D9A5-3F38-4360-B3BB-0F372FD6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528440E-3443-4A44-ABD9-5F831FC73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4350675"/>
            <a:ext cx="6781800" cy="138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43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C1A154-AB8A-4E35-B71A-9BBE0033D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481363"/>
              </p:ext>
            </p:extLst>
          </p:nvPr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B31A65-229C-4E90-96F0-C0F144CCD0CA}"/>
              </a:ext>
            </a:extLst>
          </p:cNvPr>
          <p:cNvSpPr txBox="1"/>
          <p:nvPr/>
        </p:nvSpPr>
        <p:spPr>
          <a:xfrm>
            <a:off x="5911126" y="5821895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FCA32-B900-42FD-835A-560C6C480A0E}"/>
              </a:ext>
            </a:extLst>
          </p:cNvPr>
          <p:cNvSpPr txBox="1"/>
          <p:nvPr/>
        </p:nvSpPr>
        <p:spPr>
          <a:xfrm>
            <a:off x="2145088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916227-EE33-4438-BEAA-3C49531F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152026-ABCB-47A5-99C4-077573AE8C11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46634846-DFE1-4DC6-985D-0EE9988B5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265443"/>
              </p:ext>
            </p:extLst>
          </p:nvPr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5249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529306"/>
              </p:ext>
            </p:extLst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1X9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1X8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0X7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0X6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1X4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0X3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6543704-0FA1-44DC-B9B9-3415060D7D17}"/>
              </a:ext>
            </a:extLst>
          </p:cNvPr>
          <p:cNvSpPr txBox="1"/>
          <p:nvPr/>
        </p:nvSpPr>
        <p:spPr>
          <a:xfrm>
            <a:off x="1904214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E55C5-6956-4792-92FD-BB187392D77A}"/>
              </a:ext>
            </a:extLst>
          </p:cNvPr>
          <p:cNvSpPr txBox="1"/>
          <p:nvPr/>
        </p:nvSpPr>
        <p:spPr>
          <a:xfrm>
            <a:off x="5693790" y="5731497"/>
            <a:ext cx="65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I(X,Y)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C8FAF-289B-4EB8-9899-1496698D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1CBFA65-7A0B-4024-9EA5-95B8EB113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183633"/>
              </p:ext>
            </p:extLst>
          </p:nvPr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98A51709-E103-4B28-A872-12103E1F4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99043"/>
              </p:ext>
            </p:extLst>
          </p:nvPr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FD6BA63-926C-4596-98D1-8A838A969661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0105D0-CC26-4DAC-991C-10F6693F1DF4}"/>
              </a:ext>
            </a:extLst>
          </p:cNvPr>
          <p:cNvSpPr txBox="1"/>
          <p:nvPr/>
        </p:nvSpPr>
        <p:spPr>
          <a:xfrm>
            <a:off x="939338" y="167917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</a:t>
            </a:r>
          </a:p>
        </p:txBody>
      </p:sp>
    </p:spTree>
    <p:extLst>
      <p:ext uri="{BB962C8B-B14F-4D97-AF65-F5344CB8AC3E}">
        <p14:creationId xmlns:p14="http://schemas.microsoft.com/office/powerpoint/2010/main" val="1892173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365634"/>
              </p:ext>
            </p:extLst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0X8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0X6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0X4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1X3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0X1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089776-5268-4A43-B892-E4156350872E}"/>
              </a:ext>
            </a:extLst>
          </p:cNvPr>
          <p:cNvSpPr txBox="1"/>
          <p:nvPr/>
        </p:nvSpPr>
        <p:spPr>
          <a:xfrm>
            <a:off x="1904214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D8684-07B1-4417-AA79-9A0513F41399}"/>
              </a:ext>
            </a:extLst>
          </p:cNvPr>
          <p:cNvSpPr txBox="1"/>
          <p:nvPr/>
        </p:nvSpPr>
        <p:spPr>
          <a:xfrm>
            <a:off x="5693790" y="5731497"/>
            <a:ext cx="65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I(X,Y)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51F665-11B0-4046-AF42-D5A86D92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9CB3242-7D3D-4815-997B-5178A623B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183633"/>
              </p:ext>
            </p:extLst>
          </p:nvPr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D56DC8A8-3F8F-461F-9B31-A14545D45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62041"/>
              </p:ext>
            </p:extLst>
          </p:nvPr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3BDF433-C136-4591-A739-A6C805AC943A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D09FBF-6837-4EB1-899E-1A939C47DB35}"/>
              </a:ext>
            </a:extLst>
          </p:cNvPr>
          <p:cNvSpPr txBox="1"/>
          <p:nvPr/>
        </p:nvSpPr>
        <p:spPr>
          <a:xfrm>
            <a:off x="939338" y="167917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442573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AAF17FB-AD58-473A-A39D-EA94908F0F19}"/>
              </a:ext>
            </a:extLst>
          </p:cNvPr>
          <p:cNvSpPr txBox="1"/>
          <p:nvPr/>
        </p:nvSpPr>
        <p:spPr>
          <a:xfrm>
            <a:off x="1904214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5381FB-3574-40B0-916B-46A89D62878A}"/>
              </a:ext>
            </a:extLst>
          </p:cNvPr>
          <p:cNvSpPr txBox="1"/>
          <p:nvPr/>
        </p:nvSpPr>
        <p:spPr>
          <a:xfrm>
            <a:off x="5693790" y="5731497"/>
            <a:ext cx="65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I(X,Y)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B3FCD5-C044-4E20-B562-564ADEF1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5568DE-B2A7-464D-A416-0488B9F71C6B}"/>
              </a:ext>
            </a:extLst>
          </p:cNvPr>
          <p:cNvGraphicFramePr>
            <a:graphicFrameLocks noGrp="1"/>
          </p:cNvGraphicFramePr>
          <p:nvPr/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ED975C25-FF4B-40D0-88AF-05E181045E6D}"/>
              </a:ext>
            </a:extLst>
          </p:cNvPr>
          <p:cNvGraphicFramePr>
            <a:graphicFrameLocks noGrp="1"/>
          </p:cNvGraphicFramePr>
          <p:nvPr/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A86B1A7-3CD3-46ED-B520-325275EB1CD6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F52D5-7F02-4326-8E6B-3A44B74B26F6}"/>
              </a:ext>
            </a:extLst>
          </p:cNvPr>
          <p:cNvSpPr txBox="1"/>
          <p:nvPr/>
        </p:nvSpPr>
        <p:spPr>
          <a:xfrm>
            <a:off x="939338" y="167917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</a:t>
            </a:r>
          </a:p>
        </p:txBody>
      </p:sp>
    </p:spTree>
    <p:extLst>
      <p:ext uri="{BB962C8B-B14F-4D97-AF65-F5344CB8AC3E}">
        <p14:creationId xmlns:p14="http://schemas.microsoft.com/office/powerpoint/2010/main" val="3690881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8C42BD7-93FC-49B2-8A6B-73AAFB7AB458}"/>
              </a:ext>
            </a:extLst>
          </p:cNvPr>
          <p:cNvSpPr txBox="1"/>
          <p:nvPr/>
        </p:nvSpPr>
        <p:spPr>
          <a:xfrm>
            <a:off x="1904214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48672-20DC-4198-AA71-B20029A4A4CA}"/>
              </a:ext>
            </a:extLst>
          </p:cNvPr>
          <p:cNvSpPr txBox="1"/>
          <p:nvPr/>
        </p:nvSpPr>
        <p:spPr>
          <a:xfrm>
            <a:off x="5693790" y="5731497"/>
            <a:ext cx="65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I(X,Y)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93FD2E-478A-4989-A7B9-9591E67F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6393E8-F05A-44CF-B705-56195D4777CD}"/>
              </a:ext>
            </a:extLst>
          </p:cNvPr>
          <p:cNvGraphicFramePr>
            <a:graphicFrameLocks noGrp="1"/>
          </p:cNvGraphicFramePr>
          <p:nvPr/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2AC15B11-1C09-49ED-BF90-DCFEC1FE4A49}"/>
              </a:ext>
            </a:extLst>
          </p:cNvPr>
          <p:cNvGraphicFramePr>
            <a:graphicFrameLocks noGrp="1"/>
          </p:cNvGraphicFramePr>
          <p:nvPr/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4B1B869-3EDB-4979-8A7E-87758DB1841B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CDB12-5C06-4970-AAC4-0EBC0A021427}"/>
              </a:ext>
            </a:extLst>
          </p:cNvPr>
          <p:cNvSpPr txBox="1"/>
          <p:nvPr/>
        </p:nvSpPr>
        <p:spPr>
          <a:xfrm>
            <a:off x="939338" y="167917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4</a:t>
            </a:r>
          </a:p>
        </p:txBody>
      </p:sp>
    </p:spTree>
    <p:extLst>
      <p:ext uri="{BB962C8B-B14F-4D97-AF65-F5344CB8AC3E}">
        <p14:creationId xmlns:p14="http://schemas.microsoft.com/office/powerpoint/2010/main" val="3178540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BD20662-5BBC-4F28-A6D6-3CC9D08B5E3D}"/>
              </a:ext>
            </a:extLst>
          </p:cNvPr>
          <p:cNvSpPr txBox="1"/>
          <p:nvPr/>
        </p:nvSpPr>
        <p:spPr>
          <a:xfrm>
            <a:off x="1904214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D5F92-F03C-45E9-9706-9915F162B4F3}"/>
              </a:ext>
            </a:extLst>
          </p:cNvPr>
          <p:cNvSpPr txBox="1"/>
          <p:nvPr/>
        </p:nvSpPr>
        <p:spPr>
          <a:xfrm>
            <a:off x="5693790" y="5731497"/>
            <a:ext cx="65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I(X,Y)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CA8CA3-2D3B-42B6-8400-814423DC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3A55B6-34A0-4236-B6FE-BA4A3E6564AC}"/>
              </a:ext>
            </a:extLst>
          </p:cNvPr>
          <p:cNvGraphicFramePr>
            <a:graphicFrameLocks noGrp="1"/>
          </p:cNvGraphicFramePr>
          <p:nvPr/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AA52EB5F-E278-45DF-BB45-93645F066F04}"/>
              </a:ext>
            </a:extLst>
          </p:cNvPr>
          <p:cNvGraphicFramePr>
            <a:graphicFrameLocks noGrp="1"/>
          </p:cNvGraphicFramePr>
          <p:nvPr/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5DCCCE3-AE71-4906-BA47-1CF9261240D8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797733-85A9-4C04-80E7-CE69F518FBBE}"/>
              </a:ext>
            </a:extLst>
          </p:cNvPr>
          <p:cNvSpPr txBox="1"/>
          <p:nvPr/>
        </p:nvSpPr>
        <p:spPr>
          <a:xfrm>
            <a:off x="939338" y="167917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5</a:t>
            </a:r>
          </a:p>
        </p:txBody>
      </p:sp>
    </p:spTree>
    <p:extLst>
      <p:ext uri="{BB962C8B-B14F-4D97-AF65-F5344CB8AC3E}">
        <p14:creationId xmlns:p14="http://schemas.microsoft.com/office/powerpoint/2010/main" val="1738700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C3AF6D-9830-4952-B5B7-9EA24EC54853}"/>
              </a:ext>
            </a:extLst>
          </p:cNvPr>
          <p:cNvSpPr txBox="1"/>
          <p:nvPr/>
        </p:nvSpPr>
        <p:spPr>
          <a:xfrm>
            <a:off x="1904214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7B0DA-23A7-4330-BAF4-8BBEFF9D89F1}"/>
              </a:ext>
            </a:extLst>
          </p:cNvPr>
          <p:cNvSpPr txBox="1"/>
          <p:nvPr/>
        </p:nvSpPr>
        <p:spPr>
          <a:xfrm>
            <a:off x="5693790" y="5731497"/>
            <a:ext cx="65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I(X,Y)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35F5C2-EAA7-4A1D-9E21-C6905916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4ABA2BA-A829-453F-8BDA-B5C64DC8D36A}"/>
              </a:ext>
            </a:extLst>
          </p:cNvPr>
          <p:cNvGraphicFramePr>
            <a:graphicFrameLocks noGrp="1"/>
          </p:cNvGraphicFramePr>
          <p:nvPr/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8D3E0329-E4E6-438F-A9CE-55783F43C442}"/>
              </a:ext>
            </a:extLst>
          </p:cNvPr>
          <p:cNvGraphicFramePr>
            <a:graphicFrameLocks noGrp="1"/>
          </p:cNvGraphicFramePr>
          <p:nvPr/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F6EB8B7-7677-4DE4-9D1D-EBBDD3C59155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F2138-CE70-4CB3-850C-3F7904922361}"/>
              </a:ext>
            </a:extLst>
          </p:cNvPr>
          <p:cNvSpPr txBox="1"/>
          <p:nvPr/>
        </p:nvSpPr>
        <p:spPr>
          <a:xfrm>
            <a:off x="939338" y="167917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6</a:t>
            </a:r>
          </a:p>
        </p:txBody>
      </p:sp>
    </p:spTree>
    <p:extLst>
      <p:ext uri="{BB962C8B-B14F-4D97-AF65-F5344CB8AC3E}">
        <p14:creationId xmlns:p14="http://schemas.microsoft.com/office/powerpoint/2010/main" val="2104786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F083577-7514-442A-8E02-7539250AF204}"/>
              </a:ext>
            </a:extLst>
          </p:cNvPr>
          <p:cNvSpPr txBox="1"/>
          <p:nvPr/>
        </p:nvSpPr>
        <p:spPr>
          <a:xfrm>
            <a:off x="1904214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02B72-8504-454E-BFB3-76DCAF3CC5BD}"/>
              </a:ext>
            </a:extLst>
          </p:cNvPr>
          <p:cNvSpPr txBox="1"/>
          <p:nvPr/>
        </p:nvSpPr>
        <p:spPr>
          <a:xfrm>
            <a:off x="5693790" y="5731497"/>
            <a:ext cx="65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I(X,Y)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0D274F-6054-44C4-A8DA-0E06B73C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F151AF6-CCF7-4356-B1DC-869108B85CE4}"/>
              </a:ext>
            </a:extLst>
          </p:cNvPr>
          <p:cNvGraphicFramePr>
            <a:graphicFrameLocks noGrp="1"/>
          </p:cNvGraphicFramePr>
          <p:nvPr/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A08A9505-2506-40ED-9423-B7AEE4B5172B}"/>
              </a:ext>
            </a:extLst>
          </p:cNvPr>
          <p:cNvGraphicFramePr>
            <a:graphicFrameLocks noGrp="1"/>
          </p:cNvGraphicFramePr>
          <p:nvPr/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A1F3843-B83A-456C-9DA0-59CFE66431D3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36148-EB5D-49B9-8562-400821484FB2}"/>
              </a:ext>
            </a:extLst>
          </p:cNvPr>
          <p:cNvSpPr txBox="1"/>
          <p:nvPr/>
        </p:nvSpPr>
        <p:spPr>
          <a:xfrm>
            <a:off x="939338" y="167917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7</a:t>
            </a:r>
          </a:p>
        </p:txBody>
      </p:sp>
    </p:spTree>
    <p:extLst>
      <p:ext uri="{BB962C8B-B14F-4D97-AF65-F5344CB8AC3E}">
        <p14:creationId xmlns:p14="http://schemas.microsoft.com/office/powerpoint/2010/main" val="1559606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B0E9137-D1A0-49E1-8C0E-0B91980FE90A}"/>
              </a:ext>
            </a:extLst>
          </p:cNvPr>
          <p:cNvSpPr txBox="1"/>
          <p:nvPr/>
        </p:nvSpPr>
        <p:spPr>
          <a:xfrm>
            <a:off x="1904214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A3A43-12DA-4B48-919A-2680F6B8723D}"/>
              </a:ext>
            </a:extLst>
          </p:cNvPr>
          <p:cNvSpPr txBox="1"/>
          <p:nvPr/>
        </p:nvSpPr>
        <p:spPr>
          <a:xfrm>
            <a:off x="5693790" y="5731497"/>
            <a:ext cx="65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I(X,Y)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F7F49B-F5DC-48A7-BC16-692BEBED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822256A-73C9-4A4D-B311-4FF140D2D4BC}"/>
              </a:ext>
            </a:extLst>
          </p:cNvPr>
          <p:cNvGraphicFramePr>
            <a:graphicFrameLocks noGrp="1"/>
          </p:cNvGraphicFramePr>
          <p:nvPr/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C92A9271-CCCA-4FCE-AC4F-EC1F32D45A6F}"/>
              </a:ext>
            </a:extLst>
          </p:cNvPr>
          <p:cNvGraphicFramePr>
            <a:graphicFrameLocks noGrp="1"/>
          </p:cNvGraphicFramePr>
          <p:nvPr/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251443B-58EC-43E2-A388-59F21053A96C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84BB65-56E2-4767-B76F-9E7D32EE3E90}"/>
              </a:ext>
            </a:extLst>
          </p:cNvPr>
          <p:cNvSpPr txBox="1"/>
          <p:nvPr/>
        </p:nvSpPr>
        <p:spPr>
          <a:xfrm>
            <a:off x="939338" y="167917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8</a:t>
            </a:r>
          </a:p>
        </p:txBody>
      </p:sp>
    </p:spTree>
    <p:extLst>
      <p:ext uri="{BB962C8B-B14F-4D97-AF65-F5344CB8AC3E}">
        <p14:creationId xmlns:p14="http://schemas.microsoft.com/office/powerpoint/2010/main" val="1237138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5634-014C-4C9E-BA24-B1853356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C821387-2C21-44E7-8ACF-AFD9F8E4EC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58879"/>
          <a:ext cx="290424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0848">
                  <a:extLst>
                    <a:ext uri="{9D8B030D-6E8A-4147-A177-3AD203B41FA5}">
                      <a16:colId xmlns:a16="http://schemas.microsoft.com/office/drawing/2014/main" val="84783124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211762692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3959300151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825559865"/>
                    </a:ext>
                  </a:extLst>
                </a:gridCol>
                <a:gridCol w="580848">
                  <a:extLst>
                    <a:ext uri="{9D8B030D-6E8A-4147-A177-3AD203B41FA5}">
                      <a16:colId xmlns:a16="http://schemas.microsoft.com/office/drawing/2014/main" val="773077346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1795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609321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542339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449118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301749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BBB0975-DC1F-4912-8ED0-DF45E3A6CC93}"/>
              </a:ext>
            </a:extLst>
          </p:cNvPr>
          <p:cNvGraphicFramePr>
            <a:graphicFrameLocks noGrp="1"/>
          </p:cNvGraphicFramePr>
          <p:nvPr/>
        </p:nvGraphicFramePr>
        <p:xfrm>
          <a:off x="7661311" y="2758879"/>
          <a:ext cx="3032870" cy="2821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6574">
                  <a:extLst>
                    <a:ext uri="{9D8B030D-6E8A-4147-A177-3AD203B41FA5}">
                      <a16:colId xmlns:a16="http://schemas.microsoft.com/office/drawing/2014/main" val="3672323721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  <a:gridCol w="606574">
                  <a:extLst>
                    <a:ext uri="{9D8B030D-6E8A-4147-A177-3AD203B41FA5}">
                      <a16:colId xmlns:a16="http://schemas.microsoft.com/office/drawing/2014/main" val="3189925287"/>
                    </a:ext>
                  </a:extLst>
                </a:gridCol>
              </a:tblGrid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461994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  <a:tr h="5643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19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4B0AAE-0C4A-43A6-9C76-5AEB4E405C74}"/>
              </a:ext>
            </a:extLst>
          </p:cNvPr>
          <p:cNvSpPr txBox="1"/>
          <p:nvPr/>
        </p:nvSpPr>
        <p:spPr>
          <a:xfrm>
            <a:off x="1904214" y="583519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863EC-41D3-44F9-8020-5413F45C921B}"/>
              </a:ext>
            </a:extLst>
          </p:cNvPr>
          <p:cNvSpPr txBox="1"/>
          <p:nvPr/>
        </p:nvSpPr>
        <p:spPr>
          <a:xfrm>
            <a:off x="5693790" y="5731497"/>
            <a:ext cx="65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I(X,Y)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05CB2C-2AAA-4114-8005-9AA1A649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46913E5-1D32-4BD3-930A-68DC3278E7CD}"/>
              </a:ext>
            </a:extLst>
          </p:cNvPr>
          <p:cNvGraphicFramePr>
            <a:graphicFrameLocks noGrp="1"/>
          </p:cNvGraphicFramePr>
          <p:nvPr/>
        </p:nvGraphicFramePr>
        <p:xfrm>
          <a:off x="4912933" y="3206682"/>
          <a:ext cx="1996386" cy="181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5462">
                  <a:extLst>
                    <a:ext uri="{9D8B030D-6E8A-4147-A177-3AD203B41FA5}">
                      <a16:colId xmlns:a16="http://schemas.microsoft.com/office/drawing/2014/main" val="1145004362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3337836990"/>
                    </a:ext>
                  </a:extLst>
                </a:gridCol>
                <a:gridCol w="665462">
                  <a:extLst>
                    <a:ext uri="{9D8B030D-6E8A-4147-A177-3AD203B41FA5}">
                      <a16:colId xmlns:a16="http://schemas.microsoft.com/office/drawing/2014/main" val="706064886"/>
                    </a:ext>
                  </a:extLst>
                </a:gridCol>
              </a:tblGrid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96869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86637"/>
                  </a:ext>
                </a:extLst>
              </a:tr>
              <a:tr h="6044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0125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2101227-0C64-48D7-875F-FC0ABC8BC37B}"/>
              </a:ext>
            </a:extLst>
          </p:cNvPr>
          <p:cNvSpPr txBox="1"/>
          <p:nvPr/>
        </p:nvSpPr>
        <p:spPr>
          <a:xfrm>
            <a:off x="9159972" y="5731497"/>
            <a:ext cx="9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* I(X,Y)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012EFD-B56B-4278-B3A3-34620D0BF576}"/>
              </a:ext>
            </a:extLst>
          </p:cNvPr>
          <p:cNvSpPr/>
          <p:nvPr/>
        </p:nvSpPr>
        <p:spPr>
          <a:xfrm>
            <a:off x="8262851" y="3316779"/>
            <a:ext cx="1820487" cy="1703170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6F795-9A9A-4CB6-B6E9-1B3D44C456EB}"/>
              </a:ext>
            </a:extLst>
          </p:cNvPr>
          <p:cNvSpPr txBox="1"/>
          <p:nvPr/>
        </p:nvSpPr>
        <p:spPr>
          <a:xfrm>
            <a:off x="939338" y="1679171"/>
            <a:ext cx="772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9</a:t>
            </a:r>
          </a:p>
        </p:txBody>
      </p:sp>
    </p:spTree>
    <p:extLst>
      <p:ext uri="{BB962C8B-B14F-4D97-AF65-F5344CB8AC3E}">
        <p14:creationId xmlns:p14="http://schemas.microsoft.com/office/powerpoint/2010/main" val="3321747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9DF83-6FC3-42A6-9916-118CDC874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as Task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77CFE-6968-4089-8A19-D4D5E0968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readability and ease of learning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 libraries present, the majority are open source and free.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slower than C++ in terms of raw performance but more user-friendly.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(Open Source Computer Vision Library)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EB1F3-A096-413C-ABD1-B2963F74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701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B1BC-0888-4814-8F06-F6EDDC6F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D94A0-EFFA-4D19-82E7-0D7A40029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faster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also can perform certain computer vision-specific operations, like object detection, feature extraction, image segmentation, etc.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well with libraries like NumPy, scikit-learn, TensorFlow,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machine learning libraries.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B29B6-C7B5-4C7C-85FA-8040BD28B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0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7E01-06C9-435E-BC4D-B98392276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9DA6-EEF3-4FEF-856B-A78F3A84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FBDF3E-C373-4154-A8B0-FD985F19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Anaconda installer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link: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https://docs.anaconda.com/anaconda/install/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installation on Anaconda prompt: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-python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-python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updating pip: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-m pip install --upgrade pip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712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F722-F560-4C85-9EB1-692595882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Classwork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921E28-67A0-4AC1-AEB5-0493B5F0B9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460" y="914005"/>
            <a:ext cx="2743198" cy="27431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4F18A-14DD-4BC3-BDB7-545F1E3E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C01C9B-8694-4400-9280-9EA5363081FC}"/>
              </a:ext>
            </a:extLst>
          </p:cNvPr>
          <p:cNvSpPr txBox="1"/>
          <p:nvPr/>
        </p:nvSpPr>
        <p:spPr>
          <a:xfrm>
            <a:off x="10381824" y="2471870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F605D2-0CE3-4F01-ABB9-89AC62764628}"/>
              </a:ext>
            </a:extLst>
          </p:cNvPr>
          <p:cNvSpPr txBox="1"/>
          <p:nvPr/>
        </p:nvSpPr>
        <p:spPr>
          <a:xfrm>
            <a:off x="10381824" y="4724348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753399-B13C-4D28-BDFD-4286652A1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460" y="3877608"/>
            <a:ext cx="2743199" cy="26870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F5682F-4B82-49E5-8A4C-82242BEB8135}"/>
              </a:ext>
            </a:extLst>
          </p:cNvPr>
          <p:cNvSpPr txBox="1"/>
          <p:nvPr/>
        </p:nvSpPr>
        <p:spPr>
          <a:xfrm>
            <a:off x="933255" y="1295631"/>
            <a:ext cx="5162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5x5 kernel with center at (3,3)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image and apply appropriate padding 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convolution on the image using the kernel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and crop the original size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output of each step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0F63A-7DCE-49F5-AFEF-4B13DE77A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55" y="5546338"/>
            <a:ext cx="5655586" cy="12225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8854A0-CD4E-402F-81E7-D13F4BA1F390}"/>
              </a:ext>
            </a:extLst>
          </p:cNvPr>
          <p:cNvSpPr txBox="1"/>
          <p:nvPr/>
        </p:nvSpPr>
        <p:spPr>
          <a:xfrm>
            <a:off x="3107921" y="3369776"/>
            <a:ext cx="1915121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0   1   2   1   0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1   3   5   3   1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2   5   9   5   2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1   3   5   3   1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0   1   2   1   0</a:t>
            </a:r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C41F7A10-5F6D-4A29-B735-760879E9663C}"/>
              </a:ext>
            </a:extLst>
          </p:cNvPr>
          <p:cNvSpPr/>
          <p:nvPr/>
        </p:nvSpPr>
        <p:spPr>
          <a:xfrm>
            <a:off x="2906706" y="3242821"/>
            <a:ext cx="2259183" cy="2139884"/>
          </a:xfrm>
          <a:prstGeom prst="bracketPair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4F499-21C4-4B31-A26B-AF29454D467E}"/>
              </a:ext>
            </a:extLst>
          </p:cNvPr>
          <p:cNvSpPr txBox="1"/>
          <p:nvPr/>
        </p:nvSpPr>
        <p:spPr>
          <a:xfrm>
            <a:off x="1400008" y="3877608"/>
            <a:ext cx="1278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Kernel =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65AAAB-F1B2-4F53-96C6-23229F0AE599}"/>
              </a:ext>
            </a:extLst>
          </p:cNvPr>
          <p:cNvSpPr/>
          <p:nvPr/>
        </p:nvSpPr>
        <p:spPr>
          <a:xfrm>
            <a:off x="4204355" y="4550052"/>
            <a:ext cx="395926" cy="3330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49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413D9-8C4B-4BE3-A454-ED7E5567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1EEE9-7BD9-4523-A331-7737C4311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400784"/>
            <a:ext cx="10721055" cy="107571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Prewitt operator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center of the kernel is at (0,0):</a:t>
            </a:r>
          </a:p>
          <a:p>
            <a:pPr marL="914400" lvl="2" indent="0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works like as first order derivate and calculates the difference of pixel intensities in a edge region.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36FDC-4FF6-4001-BB08-20151634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E1A1016-41E4-4B0C-97B4-0A59582E1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973970"/>
              </p:ext>
            </p:extLst>
          </p:nvPr>
        </p:nvGraphicFramePr>
        <p:xfrm>
          <a:off x="2045616" y="2919227"/>
          <a:ext cx="2168936" cy="17284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5896">
                  <a:extLst>
                    <a:ext uri="{9D8B030D-6E8A-4147-A177-3AD203B41FA5}">
                      <a16:colId xmlns:a16="http://schemas.microsoft.com/office/drawing/2014/main" val="119183517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4036989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750792667"/>
                    </a:ext>
                  </a:extLst>
                </a:gridCol>
              </a:tblGrid>
              <a:tr h="5761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-1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1693"/>
                  </a:ext>
                </a:extLst>
              </a:tr>
              <a:tr h="5761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09539"/>
                  </a:ext>
                </a:extLst>
              </a:tr>
              <a:tr h="5761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83485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4E8040-4BE8-48CA-8F4D-BF424ED02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846245"/>
              </p:ext>
            </p:extLst>
          </p:nvPr>
        </p:nvGraphicFramePr>
        <p:xfrm>
          <a:off x="7065818" y="2900545"/>
          <a:ext cx="2194560" cy="17284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19183517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4036989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750792667"/>
                    </a:ext>
                  </a:extLst>
                </a:gridCol>
              </a:tblGrid>
              <a:tr h="5761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-1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21693"/>
                  </a:ext>
                </a:extLst>
              </a:tr>
              <a:tr h="5761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609539"/>
                  </a:ext>
                </a:extLst>
              </a:tr>
              <a:tr h="5761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8348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0CD64F3-35BF-41C3-BA51-1FFDB984D631}"/>
              </a:ext>
            </a:extLst>
          </p:cNvPr>
          <p:cNvSpPr txBox="1"/>
          <p:nvPr/>
        </p:nvSpPr>
        <p:spPr>
          <a:xfrm>
            <a:off x="1049518" y="5000843"/>
            <a:ext cx="4720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 find the edges in the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direction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AC2F8-B44E-4B29-ABF0-BDB74195BA35}"/>
              </a:ext>
            </a:extLst>
          </p:cNvPr>
          <p:cNvSpPr txBox="1"/>
          <p:nvPr/>
        </p:nvSpPr>
        <p:spPr>
          <a:xfrm>
            <a:off x="6421562" y="5052614"/>
            <a:ext cx="435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="1" i="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 find edges in the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814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2D35-9ECB-4A56-9975-CDAE9BAF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381FB-FB2B-4AC5-9060-7186E78B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A58CF-DB03-42D9-A2E9-499C17A5EF4E}"/>
              </a:ext>
            </a:extLst>
          </p:cNvPr>
          <p:cNvSpPr txBox="1"/>
          <p:nvPr/>
        </p:nvSpPr>
        <p:spPr>
          <a:xfrm>
            <a:off x="5031656" y="5235059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Applying G</a:t>
            </a:r>
            <a:r>
              <a:rPr lang="en-US" baseline="-25000" dirty="0"/>
              <a:t>x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223B0C-FCE4-4D32-9E78-27BACA0883E4}"/>
              </a:ext>
            </a:extLst>
          </p:cNvPr>
          <p:cNvSpPr txBox="1"/>
          <p:nvPr/>
        </p:nvSpPr>
        <p:spPr>
          <a:xfrm>
            <a:off x="8837948" y="5235059"/>
            <a:ext cx="126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Applying </a:t>
            </a:r>
            <a:r>
              <a:rPr lang="en-US" dirty="0" err="1"/>
              <a:t>G</a:t>
            </a:r>
            <a:r>
              <a:rPr lang="en-US" baseline="-25000" dirty="0" err="1"/>
              <a:t>y</a:t>
            </a:r>
            <a:endParaRPr lang="en-US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606FD-5B32-4FD9-84BB-554ED0ABA3C0}"/>
              </a:ext>
            </a:extLst>
          </p:cNvPr>
          <p:cNvSpPr txBox="1"/>
          <p:nvPr/>
        </p:nvSpPr>
        <p:spPr>
          <a:xfrm>
            <a:off x="1797311" y="523505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6A1B2D-19DB-45E7-9C71-907322B90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03" y="2117239"/>
            <a:ext cx="2857500" cy="285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687CD4-3E39-4C68-94AC-09F6F3876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284" y="2117238"/>
            <a:ext cx="2857498" cy="2857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BC9B97-D059-4193-9E0D-43AC27B83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680" y="2117238"/>
            <a:ext cx="2863038" cy="28574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DA07F5-00C5-4300-9BD8-CE9ABDDBEF42}"/>
              </a:ext>
            </a:extLst>
          </p:cNvPr>
          <p:cNvSpPr txBox="1"/>
          <p:nvPr/>
        </p:nvSpPr>
        <p:spPr>
          <a:xfrm>
            <a:off x="6356499" y="1352981"/>
            <a:ext cx="2481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Output of center at (1,1)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121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2D35-9ECB-4A56-9975-CDAE9BAF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381FB-FB2B-4AC5-9060-7186E78B0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A58CF-DB03-42D9-A2E9-499C17A5EF4E}"/>
              </a:ext>
            </a:extLst>
          </p:cNvPr>
          <p:cNvSpPr txBox="1"/>
          <p:nvPr/>
        </p:nvSpPr>
        <p:spPr>
          <a:xfrm>
            <a:off x="5092800" y="5117900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Applying G</a:t>
            </a:r>
            <a:r>
              <a:rPr lang="en-US" baseline="-25000" dirty="0"/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223B0C-FCE4-4D32-9E78-27BACA0883E4}"/>
              </a:ext>
            </a:extLst>
          </p:cNvPr>
          <p:cNvSpPr txBox="1"/>
          <p:nvPr/>
        </p:nvSpPr>
        <p:spPr>
          <a:xfrm>
            <a:off x="8833560" y="5111546"/>
            <a:ext cx="126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Applying </a:t>
            </a:r>
            <a:r>
              <a:rPr lang="en-US" dirty="0" err="1"/>
              <a:t>G</a:t>
            </a:r>
            <a:r>
              <a:rPr lang="en-US" baseline="-25000" dirty="0" err="1"/>
              <a:t>y</a:t>
            </a:r>
            <a:endParaRPr lang="en-US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606FD-5B32-4FD9-84BB-554ED0ABA3C0}"/>
              </a:ext>
            </a:extLst>
          </p:cNvPr>
          <p:cNvSpPr txBox="1"/>
          <p:nvPr/>
        </p:nvSpPr>
        <p:spPr>
          <a:xfrm>
            <a:off x="1797311" y="523505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6A1B2D-19DB-45E7-9C71-907322B90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03" y="2117239"/>
            <a:ext cx="2857500" cy="2857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749BE9-2153-4113-8373-80C0FEC07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345" y="2117239"/>
            <a:ext cx="2857500" cy="2857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0201C87-2574-4749-9B5A-095BD754E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887" y="2117239"/>
            <a:ext cx="2896115" cy="2857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567167-2158-42E9-BB51-3C3AED458D48}"/>
              </a:ext>
            </a:extLst>
          </p:cNvPr>
          <p:cNvSpPr txBox="1"/>
          <p:nvPr/>
        </p:nvSpPr>
        <p:spPr>
          <a:xfrm>
            <a:off x="6356499" y="1352981"/>
            <a:ext cx="2422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Output of center at (0,0)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559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987A-971E-4657-B214-BE126A7D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77605-5EB3-4B6D-9EDA-48DE3492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72300D-2D58-403D-B383-71F4148C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45" y="1864655"/>
            <a:ext cx="3802710" cy="3848433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803DD3C4-AB38-4DEB-BAB4-747948F06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588" y="2533650"/>
            <a:ext cx="2771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9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3000">
                <a:solidFill>
                  <a:schemeClr val="tx1"/>
                </a:solidFill>
                <a:latin typeface="Tw Cen MT" panose="020B0602020104020603" pitchFamily="34" charset="0"/>
                <a:cs typeface="FreesiaUPC" pitchFamily="34" charset="-34"/>
              </a:defRPr>
            </a:lvl1pPr>
            <a:lvl2pPr marL="742950" indent="-285750">
              <a:spcBef>
                <a:spcPts val="8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cs typeface="FreesiaUPC" pitchFamily="34" charset="-34"/>
              </a:defRPr>
            </a:lvl2pPr>
            <a:lvl3pPr marL="1143000" indent="-228600">
              <a:spcBef>
                <a:spcPts val="7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400">
                <a:solidFill>
                  <a:schemeClr val="tx1"/>
                </a:solidFill>
                <a:latin typeface="Tw Cen MT" panose="020B0602020104020603" pitchFamily="34" charset="0"/>
                <a:cs typeface="FreesiaUPC" pitchFamily="34" charset="-34"/>
              </a:defRPr>
            </a:lvl3pPr>
            <a:lvl4pPr marL="1600200" indent="-228600">
              <a:spcBef>
                <a:spcPts val="6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200">
                <a:solidFill>
                  <a:schemeClr val="tx1"/>
                </a:solidFill>
                <a:latin typeface="Tw Cen MT" panose="020B0602020104020603" pitchFamily="34" charset="0"/>
                <a:cs typeface="FreesiaUPC" pitchFamily="34" charset="-34"/>
              </a:defRPr>
            </a:lvl4pPr>
            <a:lvl5pPr marL="2057400" indent="-228600">
              <a:spcBef>
                <a:spcPts val="6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200">
                <a:solidFill>
                  <a:schemeClr val="tx1"/>
                </a:solidFill>
                <a:latin typeface="Tw Cen MT" panose="020B0602020104020603" pitchFamily="34" charset="0"/>
                <a:cs typeface="FreesiaUPC" pitchFamily="34" charset="-34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200">
                <a:solidFill>
                  <a:schemeClr val="tx1"/>
                </a:solidFill>
                <a:latin typeface="Tw Cen MT" panose="020B0602020104020603" pitchFamily="34" charset="0"/>
                <a:cs typeface="FreesiaUPC" pitchFamily="34" charset="-34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200">
                <a:solidFill>
                  <a:schemeClr val="tx1"/>
                </a:solidFill>
                <a:latin typeface="Tw Cen MT" panose="020B0602020104020603" pitchFamily="34" charset="0"/>
                <a:cs typeface="FreesiaUPC" pitchFamily="34" charset="-34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200">
                <a:solidFill>
                  <a:schemeClr val="tx1"/>
                </a:solidFill>
                <a:latin typeface="Tw Cen MT" panose="020B0602020104020603" pitchFamily="34" charset="0"/>
                <a:cs typeface="FreesiaUPC" pitchFamily="34" charset="-34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200">
                <a:solidFill>
                  <a:schemeClr val="tx1"/>
                </a:solidFill>
                <a:latin typeface="Tw Cen MT" panose="020B0602020104020603" pitchFamily="34" charset="0"/>
                <a:cs typeface="FreesiaUPC" pitchFamily="34" charset="-34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en-US" sz="2400">
                <a:latin typeface="Times New Roman" panose="02020603050405020304" pitchFamily="18" charset="0"/>
                <a:cs typeface="Angsana New" pitchFamily="18" charset="-120"/>
              </a:rPr>
              <a:t>Gradient Magnitude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3B4075-D664-4F89-9E53-A5BB356DC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588" y="2994025"/>
            <a:ext cx="2549157" cy="86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43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4AD4-49DF-455A-8770-D72A7569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CCF6C-1307-4F07-8611-D0552135F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400783"/>
            <a:ext cx="10578353" cy="5129117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Convolution using both smoothing and sharpening kernels on a RGB color image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bserve the difference and discuss it in your report by comparing the results: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algn="just">
              <a:lnSpc>
                <a:spcPct val="12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Smoothing kernel is a gaussian filter of size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x sigma  </a:t>
            </a:r>
          </a:p>
          <a:p>
            <a:pPr marL="1428750" lvl="2" indent="-514350" algn="just">
              <a:lnSpc>
                <a:spcPct val="12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Sharpening kernel is a gaussian derivative kernel of size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x sigma</a:t>
            </a: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Apply separately on each channel of the RGB image and merge the outputs.</a:t>
            </a: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Convert the RGB image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HSV mode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apply separately on each channel of 	HSV space and merge the outputs.</a:t>
            </a:r>
          </a:p>
          <a:p>
            <a:pPr marL="457200" lvl="1" indent="0" algn="just">
              <a:buNone/>
            </a:pPr>
            <a:endParaRPr lang="en-US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You can use library functions as required to do the tasks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DBA14-8C29-4E09-BEBE-8299F400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84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4AD4-49DF-455A-8770-D72A7569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CCF6C-1307-4F07-8611-D0552135F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400783"/>
            <a:ext cx="10578353" cy="512911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Take an arbitrary 2D kernel and a grayscale image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 algn="just">
              <a:lnSpc>
                <a:spcPct val="120000"/>
              </a:lnSpc>
              <a:buFont typeface="+mj-lt"/>
              <a:buAutoNum type="alpha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convolution with the 2D kernel, count the number of operations and show the output</a:t>
            </a:r>
          </a:p>
          <a:p>
            <a:pPr marL="914400" lvl="1" indent="-457200" algn="just">
              <a:lnSpc>
                <a:spcPct val="120000"/>
              </a:lnSpc>
              <a:buFont typeface="+mj-lt"/>
              <a:buAutoNum type="alpha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the 2D kernel into 2 vectors (x and y)  and convolve the image with the vectors. Count the number of operations and compare with the previous process (a).</a:t>
            </a:r>
          </a:p>
          <a:p>
            <a:pPr marL="914400" lvl="1" indent="-457200" algn="just">
              <a:lnSpc>
                <a:spcPct val="120000"/>
              </a:lnSpc>
              <a:buFont typeface="+mj-lt"/>
              <a:buAutoNum type="alphaL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Singular Value Decomposition (SVD) technique to decompose the 2D kernel, use the largest value of sigma to get the rank-1 approximation. </a:t>
            </a:r>
          </a:p>
          <a:p>
            <a:pPr marL="457200" lvl="1" indent="0" algn="just">
              <a:lnSpc>
                <a:spcPct val="12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You can use library functions as required to do the tasks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DBA14-8C29-4E09-BEBE-8299F400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25664-ADA9-9C21-2E02-B287D0A56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1" y="4218967"/>
            <a:ext cx="69723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7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E8A0-B8EE-4D55-A9C8-8408535F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Outputs for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Grayscale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CD438E3-BEB4-48BB-AAE2-BABA47216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20492" y="5599473"/>
            <a:ext cx="4080763" cy="115243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D67C8-69DB-483E-894B-37760CEE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151" descr="Edittex">
            <a:extLst>
              <a:ext uri="{FF2B5EF4-FFF2-40B4-BE49-F238E27FC236}">
                <a16:creationId xmlns:a16="http://schemas.microsoft.com/office/drawing/2014/main" id="{3269A87E-BD90-4E3C-A923-D29A74706F56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61676" y="3391451"/>
            <a:ext cx="3099198" cy="707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295002-0BBE-4EF3-92BF-17D42C5D8234}"/>
              </a:ext>
            </a:extLst>
          </p:cNvPr>
          <p:cNvSpPr txBox="1"/>
          <p:nvPr/>
        </p:nvSpPr>
        <p:spPr>
          <a:xfrm>
            <a:off x="1469845" y="2964706"/>
            <a:ext cx="3838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Smoothing Filter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FA9D2-C9C3-4F9B-929E-C1FB9DBCD1E4}"/>
              </a:ext>
            </a:extLst>
          </p:cNvPr>
          <p:cNvSpPr txBox="1"/>
          <p:nvPr/>
        </p:nvSpPr>
        <p:spPr>
          <a:xfrm>
            <a:off x="1526274" y="5035478"/>
            <a:ext cx="3781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Sharpening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Filter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FD10A6-3E21-47D5-B48C-17ACBDCCCEDE}"/>
              </a:ext>
            </a:extLst>
          </p:cNvPr>
          <p:cNvCxnSpPr>
            <a:cxnSpLocks/>
          </p:cNvCxnSpPr>
          <p:nvPr/>
        </p:nvCxnSpPr>
        <p:spPr>
          <a:xfrm>
            <a:off x="4618845" y="4247804"/>
            <a:ext cx="0" cy="12031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A2D40CF-74A3-4162-9F21-A7C32041755A}"/>
              </a:ext>
            </a:extLst>
          </p:cNvPr>
          <p:cNvSpPr txBox="1"/>
          <p:nvPr/>
        </p:nvSpPr>
        <p:spPr>
          <a:xfrm>
            <a:off x="1906051" y="4441952"/>
            <a:ext cx="2712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Order Partial Derivative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696EA4-9CD1-4C23-A3C2-6BFDE76098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2913" y="4749159"/>
            <a:ext cx="1914682" cy="19146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2F1E00-BB7C-413A-8E1E-7345910DE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731" y="3141967"/>
            <a:ext cx="1926743" cy="19146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B982850-1845-4895-BEE4-1C0290FD1B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8365" y="1134125"/>
            <a:ext cx="1923685" cy="19146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8D7F57F-3988-4085-B812-41F7DC663419}"/>
              </a:ext>
            </a:extLst>
          </p:cNvPr>
          <p:cNvSpPr txBox="1"/>
          <p:nvPr/>
        </p:nvSpPr>
        <p:spPr>
          <a:xfrm>
            <a:off x="1597543" y="1764418"/>
            <a:ext cx="1819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</a:p>
        </p:txBody>
      </p:sp>
    </p:spTree>
    <p:extLst>
      <p:ext uri="{BB962C8B-B14F-4D97-AF65-F5344CB8AC3E}">
        <p14:creationId xmlns:p14="http://schemas.microsoft.com/office/powerpoint/2010/main" val="59419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C993-CB3B-4285-8F1F-275BB75E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Splitting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3C6F3E-7892-49B0-9BD8-D68C54B00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0"/>
          <a:stretch/>
        </p:blipFill>
        <p:spPr>
          <a:xfrm>
            <a:off x="4298622" y="4250115"/>
            <a:ext cx="7680523" cy="228879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04F03-F6F7-4CDB-98DF-94BE1057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D9A81D-CD1D-408B-9187-C8760F7AE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623" y="1272618"/>
            <a:ext cx="7680523" cy="22887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286FAE-F69A-461F-997A-F286786B1E4A}"/>
              </a:ext>
            </a:extLst>
          </p:cNvPr>
          <p:cNvSpPr txBox="1"/>
          <p:nvPr/>
        </p:nvSpPr>
        <p:spPr>
          <a:xfrm>
            <a:off x="5796989" y="3665489"/>
            <a:ext cx="523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Figure(Left to right): Blue, Green, Red Channel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B04832-3816-4F27-B97B-97F584204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47" y="2152371"/>
            <a:ext cx="2641554" cy="26625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C01228-37D1-44C5-89C5-7A30540D8064}"/>
              </a:ext>
            </a:extLst>
          </p:cNvPr>
          <p:cNvSpPr txBox="1"/>
          <p:nvPr/>
        </p:nvSpPr>
        <p:spPr>
          <a:xfrm>
            <a:off x="775447" y="5079534"/>
            <a:ext cx="2623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Color image in RGB space</a:t>
            </a:r>
          </a:p>
        </p:txBody>
      </p:sp>
    </p:spTree>
    <p:extLst>
      <p:ext uri="{BB962C8B-B14F-4D97-AF65-F5344CB8AC3E}">
        <p14:creationId xmlns:p14="http://schemas.microsoft.com/office/powerpoint/2010/main" val="991906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5FC1-8EE4-461B-A6DD-9F12B197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278" y="2756571"/>
            <a:ext cx="3758847" cy="1344857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6000" dirty="0"/>
              <a:t> 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5F49F-C21F-4754-9E62-EE4B7ECE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523E5-3816-41A4-AAA3-3A12428561F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329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h(u,v) = \frac{1}{2 \pi \sigma^2} e^{-\frac{u^2+v^2}{\sigma^2}}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820.7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8773</TotalTime>
  <Words>1508</Words>
  <Application>Microsoft Office PowerPoint</Application>
  <PresentationFormat>Widescreen</PresentationFormat>
  <Paragraphs>795</Paragraphs>
  <Slides>27</Slides>
  <Notes>2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CSE 4128  Image Processing and Computer Vision Laboratory</vt:lpstr>
      <vt:lpstr>Course Outlines</vt:lpstr>
      <vt:lpstr>Week 1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Convolution</vt:lpstr>
      <vt:lpstr>Python as Task Language</vt:lpstr>
      <vt:lpstr>OpenCV</vt:lpstr>
      <vt:lpstr>Installation </vt:lpstr>
      <vt:lpstr>Classwork</vt:lpstr>
      <vt:lpstr>Classwork</vt:lpstr>
      <vt:lpstr>Classwork</vt:lpstr>
      <vt:lpstr>Classwork</vt:lpstr>
      <vt:lpstr>PowerPoint Presentation</vt:lpstr>
      <vt:lpstr>Assignment 1</vt:lpstr>
      <vt:lpstr>Assignment 2</vt:lpstr>
      <vt:lpstr>Sample Outputs for Grayscale Image</vt:lpstr>
      <vt:lpstr>Image Splitting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 B</dc:creator>
  <cp:lastModifiedBy>Efty Hasan</cp:lastModifiedBy>
  <cp:revision>108</cp:revision>
  <dcterms:created xsi:type="dcterms:W3CDTF">2024-01-28T14:46:17Z</dcterms:created>
  <dcterms:modified xsi:type="dcterms:W3CDTF">2025-08-22T08:40:47Z</dcterms:modified>
</cp:coreProperties>
</file>