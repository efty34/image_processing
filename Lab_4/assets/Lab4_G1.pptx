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7.jpg" ContentType="image/jpg"/>
  <Override PartName="/ppt/media/image18.jpg" ContentType="image/jpg"/>
  <Override PartName="/ppt/media/image1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99" r:id="rId4"/>
    <p:sldId id="300" r:id="rId5"/>
    <p:sldId id="301" r:id="rId6"/>
    <p:sldId id="308" r:id="rId7"/>
    <p:sldId id="309" r:id="rId8"/>
    <p:sldId id="306" r:id="rId9"/>
    <p:sldId id="303" r:id="rId10"/>
    <p:sldId id="310" r:id="rId11"/>
    <p:sldId id="302" r:id="rId12"/>
    <p:sldId id="311" r:id="rId13"/>
    <p:sldId id="307" r:id="rId14"/>
    <p:sldId id="328" r:id="rId15"/>
    <p:sldId id="329" r:id="rId16"/>
    <p:sldId id="326" r:id="rId17"/>
    <p:sldId id="313" r:id="rId18"/>
    <p:sldId id="314" r:id="rId19"/>
    <p:sldId id="327" r:id="rId20"/>
    <p:sldId id="315" r:id="rId21"/>
    <p:sldId id="32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05-Oct-25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05-Oct-25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05-Oct-25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05-Oct-25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05-Oct-25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05-Oct-25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05-Oct-25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05-Oct-25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.jp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4: Region Descriptors and Feature Matching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2117881" y="4087894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7061514" y="4087894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Information that lets you recognize a region.</a:t>
            </a:r>
          </a:p>
          <a:p>
            <a:r>
              <a:rPr lang="en-US" altLang="en-US" dirty="0"/>
              <a:t>They focus on the content and texture of objects in an image. </a:t>
            </a:r>
          </a:p>
          <a:p>
            <a:r>
              <a:rPr lang="en-US" altLang="en-US" dirty="0"/>
              <a:t>They describe the distribution of pixel values within a region and capture the spatial relationships between different regions. </a:t>
            </a:r>
          </a:p>
          <a:p>
            <a:r>
              <a:rPr lang="en-US" dirty="0"/>
              <a:t>They extract relevant information from the image and represent it in a way that can be easily compared and matched with other images.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C7E1-8A22-49CA-9727-353A3872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6239"/>
                <a:ext cx="5921188" cy="390749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Compactness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Form</a:t>
                </a:r>
                <a:r>
                  <a:rPr lang="en-US" dirty="0"/>
                  <a:t> </a:t>
                </a:r>
                <a:r>
                  <a:rPr lang="en-US" b="1" dirty="0"/>
                  <a:t>factor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Roundness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𝑀𝑎𝑥𝐷𝑖𝑎𝑚𝑒𝑡𝑒𝑟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6239"/>
                <a:ext cx="5921188" cy="3907498"/>
              </a:xfrm>
              <a:blipFill>
                <a:blip r:embed="rId2"/>
                <a:stretch>
                  <a:fillRect l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0FFF-0AE9-4CB9-8F7D-E6669066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9842" y="6356350"/>
            <a:ext cx="873958" cy="365125"/>
          </a:xfrm>
        </p:spPr>
        <p:txBody>
          <a:bodyPr/>
          <a:lstStyle/>
          <a:p>
            <a:fld id="{F1BBE439-A689-4E67-A7FC-21353A5E327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4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C9409-B692-410B-A39E-3726B1F6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FD331-1F0E-4E8D-8E46-AE99EAF9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EA9580-A6DD-43B8-AC12-D55F8B949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18" y="4432848"/>
            <a:ext cx="1600199" cy="1626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0.1644</a:t>
            </a:r>
          </a:p>
          <a:p>
            <a:pPr marL="0" indent="0">
              <a:buNone/>
            </a:pPr>
            <a:r>
              <a:rPr lang="en-US" dirty="0"/>
              <a:t>2.0132</a:t>
            </a:r>
          </a:p>
          <a:p>
            <a:pPr marL="0" indent="0">
              <a:buNone/>
            </a:pPr>
            <a:r>
              <a:rPr lang="en-US" dirty="0"/>
              <a:t>76.426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0C5F9-A315-4510-B293-B071CE7801C0}"/>
              </a:ext>
            </a:extLst>
          </p:cNvPr>
          <p:cNvSpPr txBox="1"/>
          <p:nvPr/>
        </p:nvSpPr>
        <p:spPr>
          <a:xfrm>
            <a:off x="630620" y="4445274"/>
            <a:ext cx="2262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Form factor</a:t>
            </a:r>
          </a:p>
          <a:p>
            <a:r>
              <a:rPr lang="en-US" sz="2800" b="1" dirty="0"/>
              <a:t>Roundness </a:t>
            </a:r>
          </a:p>
          <a:p>
            <a:r>
              <a:rPr lang="en-US" sz="2800" b="1" dirty="0"/>
              <a:t>Compactness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6CE88-9DA7-440E-9268-680431DE965D}"/>
              </a:ext>
            </a:extLst>
          </p:cNvPr>
          <p:cNvSpPr txBox="1"/>
          <p:nvPr/>
        </p:nvSpPr>
        <p:spPr>
          <a:xfrm>
            <a:off x="6675388" y="4445274"/>
            <a:ext cx="1372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0.1184</a:t>
            </a:r>
          </a:p>
          <a:p>
            <a:r>
              <a:rPr lang="en-US" sz="2800" dirty="0"/>
              <a:t>0.6075</a:t>
            </a:r>
          </a:p>
          <a:p>
            <a:r>
              <a:rPr lang="en-US" sz="2800" dirty="0"/>
              <a:t>106.097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78E10-D524-4DD8-87F5-838D5ECA4D6D}"/>
              </a:ext>
            </a:extLst>
          </p:cNvPr>
          <p:cNvSpPr txBox="1"/>
          <p:nvPr/>
        </p:nvSpPr>
        <p:spPr>
          <a:xfrm>
            <a:off x="9872665" y="4445274"/>
            <a:ext cx="11897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0.1512</a:t>
            </a:r>
          </a:p>
          <a:p>
            <a:r>
              <a:rPr lang="en-US" sz="2800" dirty="0"/>
              <a:t>1.1469</a:t>
            </a:r>
          </a:p>
          <a:p>
            <a:r>
              <a:rPr lang="en-US" sz="2800" dirty="0"/>
              <a:t>83.118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E51B85-21A5-4D45-AC15-47F3CCF1D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809" y="1857187"/>
            <a:ext cx="2565016" cy="21477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327C94-866A-4835-AE70-4CEB906AA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938" y="1846946"/>
            <a:ext cx="2388394" cy="21579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769CAE-5C99-4C0D-8A08-08E6F535A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45" y="1846946"/>
            <a:ext cx="2743200" cy="21579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7080C7D-A56F-4431-93BC-75BF57B87DFB}"/>
              </a:ext>
            </a:extLst>
          </p:cNvPr>
          <p:cNvSpPr txBox="1">
            <a:spLocks/>
          </p:cNvSpPr>
          <p:nvPr/>
        </p:nvSpPr>
        <p:spPr>
          <a:xfrm>
            <a:off x="719138" y="379842"/>
            <a:ext cx="10515600" cy="64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2068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302A-1722-4049-A164-52C86D15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6EE3-ACAE-4FCD-BE55-50D484B6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one of each shape as train image and the other as test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binary image: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 the Boundary of the object in the image.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Apply erosion to the binary image.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Subtract the eroded image from the binary image to get the border 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Perimeter, Area, Max Diameter </a:t>
            </a:r>
            <a:r>
              <a:rPr lang="en-US" dirty="0"/>
              <a:t>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Area, Perimeter, and Max Diameter to calculate </a:t>
            </a:r>
            <a:r>
              <a:rPr lang="en-US" b="1" dirty="0"/>
              <a:t>Form factor, Roundness, and Compactness </a:t>
            </a:r>
            <a:r>
              <a:rPr lang="en-US" dirty="0"/>
              <a:t>and save it in a txt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Matching the descriptors of the test and train images to find close Match.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9E3A-130C-4A16-868D-9D3A4B0D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5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89EE-1E5C-4307-9D8F-7FC66C4E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7A8F-D4E5-43C7-923F-5FD317BEF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460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AFD7B-43DF-4B87-907F-4EAFA57E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A2896B-9B8E-4744-87F4-1789BF14B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730355"/>
              </p:ext>
            </p:extLst>
          </p:nvPr>
        </p:nvGraphicFramePr>
        <p:xfrm>
          <a:off x="1845275" y="3429000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1FC66C3-F5E7-45FC-93F3-C8A0E101A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0768"/>
              </p:ext>
            </p:extLst>
          </p:nvPr>
        </p:nvGraphicFramePr>
        <p:xfrm>
          <a:off x="6900301" y="3357949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31887AC-D8F6-42C6-8367-C1FB52F0A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980043"/>
              </p:ext>
            </p:extLst>
          </p:nvPr>
        </p:nvGraphicFramePr>
        <p:xfrm>
          <a:off x="5181125" y="4062882"/>
          <a:ext cx="475604" cy="1091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604">
                  <a:extLst>
                    <a:ext uri="{9D8B030D-6E8A-4147-A177-3AD203B41FA5}">
                      <a16:colId xmlns:a16="http://schemas.microsoft.com/office/drawing/2014/main" val="1980894848"/>
                    </a:ext>
                  </a:extLst>
                </a:gridCol>
              </a:tblGrid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1303570797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11626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21102400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D3F2CBB-FF53-44CC-BFAD-60303DB0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418" y="5744540"/>
            <a:ext cx="745120" cy="378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6EC4E-9F29-4F26-B241-4D1E4A3E9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83"/>
          <a:stretch/>
        </p:blipFill>
        <p:spPr>
          <a:xfrm>
            <a:off x="5276194" y="5277962"/>
            <a:ext cx="228135" cy="378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8BC633-C7CA-4B12-AA07-24B8AA9B2F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716"/>
          <a:stretch/>
        </p:blipFill>
        <p:spPr>
          <a:xfrm>
            <a:off x="2689113" y="5831988"/>
            <a:ext cx="277812" cy="3787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9E495F-013E-4F49-867C-8E0C9B702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1338487" y="1719416"/>
            <a:ext cx="5438832" cy="153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5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5F50-D969-4539-B9FB-6DBF594B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6BA0B-1DE3-4B4B-9699-3469F677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D4031F4-B8D7-46E3-9370-50CC0D2E1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719"/>
          <a:stretch/>
        </p:blipFill>
        <p:spPr>
          <a:xfrm>
            <a:off x="578225" y="1420956"/>
            <a:ext cx="6656160" cy="2539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B26C5-E90F-4B2D-9E99-5CB95F59A9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6908994" y="1691302"/>
            <a:ext cx="4913211" cy="1384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5A541-D7B2-4C9C-B47F-C4D6EACA6871}"/>
              </a:ext>
            </a:extLst>
          </p:cNvPr>
          <p:cNvSpPr txBox="1"/>
          <p:nvPr/>
        </p:nvSpPr>
        <p:spPr>
          <a:xfrm>
            <a:off x="838200" y="4844823"/>
            <a:ext cx="108898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kernel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((3,3), np.uint8)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eroded = cv2.erode(binary, kernel, iterations=1)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border = binary - eroded</a:t>
            </a:r>
          </a:p>
        </p:txBody>
      </p:sp>
    </p:spTree>
    <p:extLst>
      <p:ext uri="{BB962C8B-B14F-4D97-AF65-F5344CB8AC3E}">
        <p14:creationId xmlns:p14="http://schemas.microsoft.com/office/powerpoint/2010/main" val="121550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78F4-2097-4A28-A485-6D542D0E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E3213-CD4A-4F61-81DB-A12EA096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65CB1-5C6D-4508-87B9-31079040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63" y="1368497"/>
            <a:ext cx="2791215" cy="21815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ECF8F5-D00F-46AA-92DC-7F9F4D292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693"/>
            <a:ext cx="5948084" cy="1667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Area</a:t>
            </a:r>
            <a:r>
              <a:rPr lang="en-US" sz="2400" dirty="0"/>
              <a:t> of a region is defined as the number of pixels in the region. </a:t>
            </a:r>
          </a:p>
          <a:p>
            <a:pPr marL="0" indent="0">
              <a:buNone/>
            </a:pPr>
            <a:r>
              <a:rPr lang="en-US" sz="2400" dirty="0"/>
              <a:t>area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binary_image</a:t>
            </a:r>
            <a:r>
              <a:rPr lang="en-US" sz="2400" dirty="0"/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3D089B-3E10-40F5-8586-F54FB3540FA8}"/>
              </a:ext>
            </a:extLst>
          </p:cNvPr>
          <p:cNvSpPr txBox="1">
            <a:spLocks/>
          </p:cNvSpPr>
          <p:nvPr/>
        </p:nvSpPr>
        <p:spPr>
          <a:xfrm>
            <a:off x="838200" y="4274111"/>
            <a:ext cx="6145306" cy="2082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Perimeter</a:t>
            </a:r>
            <a:r>
              <a:rPr lang="en-US" sz="2400" dirty="0"/>
              <a:t> of a region is the length of its boundary.</a:t>
            </a:r>
          </a:p>
          <a:p>
            <a:pPr marL="0" indent="0">
              <a:buNone/>
            </a:pPr>
            <a:r>
              <a:rPr lang="en-US" sz="2400" dirty="0"/>
              <a:t>perimeter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border_image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35E40-757A-474B-933E-EF61F8092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16" y="4113810"/>
            <a:ext cx="279121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0DB1-1842-4512-AFA1-C6382B75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5" y="338230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86AA-DACA-42DF-9BEF-F3E0EB46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CF7D3-E15E-495E-9CA9-57B231DF5F56}"/>
              </a:ext>
            </a:extLst>
          </p:cNvPr>
          <p:cNvSpPr/>
          <p:nvPr/>
        </p:nvSpPr>
        <p:spPr>
          <a:xfrm>
            <a:off x="8907622" y="2574707"/>
            <a:ext cx="831338" cy="84115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A951F-67A8-4430-9E47-913DA1ED0A3E}"/>
              </a:ext>
            </a:extLst>
          </p:cNvPr>
          <p:cNvSpPr/>
          <p:nvPr/>
        </p:nvSpPr>
        <p:spPr>
          <a:xfrm>
            <a:off x="8241454" y="2066355"/>
            <a:ext cx="2051339" cy="19612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96865813-87A9-4F8B-9368-5225B1EC4ED6}"/>
              </a:ext>
            </a:extLst>
          </p:cNvPr>
          <p:cNvSpPr/>
          <p:nvPr/>
        </p:nvSpPr>
        <p:spPr>
          <a:xfrm>
            <a:off x="8545499" y="2342455"/>
            <a:ext cx="1367329" cy="143826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81E097-44DF-40E6-8F7C-49F7768526A4}"/>
              </a:ext>
            </a:extLst>
          </p:cNvPr>
          <p:cNvSpPr txBox="1"/>
          <p:nvPr/>
        </p:nvSpPr>
        <p:spPr>
          <a:xfrm>
            <a:off x="8862942" y="1878608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(x1,y1)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17087-7026-4612-93F8-13FFFD5170B9}"/>
              </a:ext>
            </a:extLst>
          </p:cNvPr>
          <p:cNvSpPr txBox="1"/>
          <p:nvPr/>
        </p:nvSpPr>
        <p:spPr>
          <a:xfrm>
            <a:off x="9886813" y="2711509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(x2,y2)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8E87D-8F88-4A65-84BB-E12D78B528EA}"/>
              </a:ext>
            </a:extLst>
          </p:cNvPr>
          <p:cNvSpPr txBox="1"/>
          <p:nvPr/>
        </p:nvSpPr>
        <p:spPr>
          <a:xfrm>
            <a:off x="8481793" y="3756029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(x3,y3)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095788-DC98-4323-BCCA-A6C8D4F3234F}"/>
              </a:ext>
            </a:extLst>
          </p:cNvPr>
          <p:cNvSpPr txBox="1"/>
          <p:nvPr/>
        </p:nvSpPr>
        <p:spPr>
          <a:xfrm>
            <a:off x="7951618" y="2975463"/>
            <a:ext cx="106639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(x4,y4)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1859-F07E-430B-834D-04FC855175BF}"/>
              </a:ext>
            </a:extLst>
          </p:cNvPr>
          <p:cNvSpPr/>
          <p:nvPr/>
        </p:nvSpPr>
        <p:spPr>
          <a:xfrm>
            <a:off x="9198672" y="2305426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39EB8F-0D46-4E21-8648-C1BC067DDC20}"/>
              </a:ext>
            </a:extLst>
          </p:cNvPr>
          <p:cNvSpPr/>
          <p:nvPr/>
        </p:nvSpPr>
        <p:spPr>
          <a:xfrm>
            <a:off x="8508383" y="2870213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916D8B-D675-403E-8A1F-200B21A50F69}"/>
              </a:ext>
            </a:extLst>
          </p:cNvPr>
          <p:cNvSpPr/>
          <p:nvPr/>
        </p:nvSpPr>
        <p:spPr>
          <a:xfrm>
            <a:off x="9897918" y="2870215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085FCC-60B2-4DC9-8950-4D85392001A8}"/>
              </a:ext>
            </a:extLst>
          </p:cNvPr>
          <p:cNvSpPr/>
          <p:nvPr/>
        </p:nvSpPr>
        <p:spPr>
          <a:xfrm>
            <a:off x="8786291" y="3739791"/>
            <a:ext cx="76427" cy="798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659EE0-15F1-494E-87FA-5897DA444AB2}"/>
              </a:ext>
            </a:extLst>
          </p:cNvPr>
          <p:cNvCxnSpPr/>
          <p:nvPr/>
        </p:nvCxnSpPr>
        <p:spPr>
          <a:xfrm>
            <a:off x="7779359" y="2336389"/>
            <a:ext cx="297552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744F05-A560-48CA-B558-E6C9AB85C891}"/>
              </a:ext>
            </a:extLst>
          </p:cNvPr>
          <p:cNvCxnSpPr>
            <a:cxnSpLocks/>
          </p:cNvCxnSpPr>
          <p:nvPr/>
        </p:nvCxnSpPr>
        <p:spPr>
          <a:xfrm>
            <a:off x="8540153" y="1752436"/>
            <a:ext cx="4090" cy="26483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265348-3B09-4A65-8DEA-0B0847A626AC}"/>
              </a:ext>
            </a:extLst>
          </p:cNvPr>
          <p:cNvCxnSpPr>
            <a:cxnSpLocks/>
          </p:cNvCxnSpPr>
          <p:nvPr/>
        </p:nvCxnSpPr>
        <p:spPr>
          <a:xfrm flipV="1">
            <a:off x="7741399" y="3764160"/>
            <a:ext cx="2975528" cy="3258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2072E0-156C-4186-91D2-BD324DCA1F66}"/>
              </a:ext>
            </a:extLst>
          </p:cNvPr>
          <p:cNvCxnSpPr/>
          <p:nvPr/>
        </p:nvCxnSpPr>
        <p:spPr>
          <a:xfrm flipH="1" flipV="1">
            <a:off x="9911159" y="1752436"/>
            <a:ext cx="42163" cy="265060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D988F7-6EE3-48A6-8563-A244531C1184}"/>
              </a:ext>
            </a:extLst>
          </p:cNvPr>
          <p:cNvSpPr txBox="1"/>
          <p:nvPr/>
        </p:nvSpPr>
        <p:spPr>
          <a:xfrm>
            <a:off x="10846472" y="2139683"/>
            <a:ext cx="638037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FE627C-5593-47F4-8765-DCAA97A5782A}"/>
              </a:ext>
            </a:extLst>
          </p:cNvPr>
          <p:cNvSpPr txBox="1"/>
          <p:nvPr/>
        </p:nvSpPr>
        <p:spPr>
          <a:xfrm>
            <a:off x="10767085" y="3387714"/>
            <a:ext cx="667611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8DB314-B4C9-4959-8E00-A33527951A62}"/>
              </a:ext>
            </a:extLst>
          </p:cNvPr>
          <p:cNvSpPr txBox="1"/>
          <p:nvPr/>
        </p:nvSpPr>
        <p:spPr>
          <a:xfrm>
            <a:off x="8465627" y="4400756"/>
            <a:ext cx="643904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4C4AB8-E74B-4823-861A-E668C0A9E29C}"/>
              </a:ext>
            </a:extLst>
          </p:cNvPr>
          <p:cNvSpPr txBox="1"/>
          <p:nvPr/>
        </p:nvSpPr>
        <p:spPr>
          <a:xfrm>
            <a:off x="9535956" y="4365449"/>
            <a:ext cx="673480" cy="497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AEFC4-420C-45B2-B712-CFFF483852F8}"/>
              </a:ext>
            </a:extLst>
          </p:cNvPr>
          <p:cNvSpPr txBox="1"/>
          <p:nvPr/>
        </p:nvSpPr>
        <p:spPr>
          <a:xfrm>
            <a:off x="652290" y="1576179"/>
            <a:ext cx="66527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MaxDiameter</a:t>
            </a:r>
            <a:r>
              <a:rPr lang="en-US" sz="2400" dirty="0"/>
              <a:t> is considered here as the largest distance between the difference of leftmost, rightmost((x</a:t>
            </a:r>
            <a:r>
              <a:rPr lang="en-US" sz="2400" baseline="-25000" dirty="0"/>
              <a:t>2</a:t>
            </a:r>
            <a:r>
              <a:rPr lang="en-US" sz="2400" dirty="0"/>
              <a:t>,y</a:t>
            </a:r>
            <a:r>
              <a:rPr lang="en-US" sz="2400" baseline="-25000" dirty="0"/>
              <a:t>2</a:t>
            </a:r>
            <a:r>
              <a:rPr lang="en-US" sz="2400" dirty="0"/>
              <a:t>),(x</a:t>
            </a:r>
            <a:r>
              <a:rPr lang="en-US" sz="2400" baseline="-25000" dirty="0"/>
              <a:t>4</a:t>
            </a:r>
            <a:r>
              <a:rPr lang="en-US" sz="2400" dirty="0"/>
              <a:t>,x</a:t>
            </a:r>
            <a:r>
              <a:rPr lang="en-US" sz="2400" baseline="-25000" dirty="0"/>
              <a:t>4</a:t>
            </a:r>
            <a:r>
              <a:rPr lang="en-US" sz="2400" dirty="0"/>
              <a:t>)) </a:t>
            </a:r>
          </a:p>
          <a:p>
            <a:pPr marL="0" indent="0">
              <a:buNone/>
            </a:pPr>
            <a:r>
              <a:rPr lang="en-US" sz="2400" dirty="0"/>
              <a:t>and topmost, bottommost ((x</a:t>
            </a:r>
            <a:r>
              <a:rPr lang="en-US" sz="2400" baseline="-25000" dirty="0"/>
              <a:t>1</a:t>
            </a:r>
            <a:r>
              <a:rPr lang="en-US" sz="2400" dirty="0"/>
              <a:t>,y</a:t>
            </a:r>
            <a:r>
              <a:rPr lang="en-US" sz="2400" baseline="-25000" dirty="0"/>
              <a:t>1</a:t>
            </a:r>
            <a:r>
              <a:rPr lang="en-US" sz="2400" dirty="0"/>
              <a:t>),(x</a:t>
            </a:r>
            <a:r>
              <a:rPr lang="en-US" sz="2400" baseline="-25000" dirty="0"/>
              <a:t>3</a:t>
            </a:r>
            <a:r>
              <a:rPr lang="en-US" sz="2400" dirty="0"/>
              <a:t>,x</a:t>
            </a:r>
            <a:r>
              <a:rPr lang="en-US" sz="2400" baseline="-25000" dirty="0"/>
              <a:t>3</a:t>
            </a:r>
            <a:r>
              <a:rPr lang="en-US" sz="2400" dirty="0"/>
              <a:t> )).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MaxDiameter</a:t>
            </a:r>
            <a:r>
              <a:rPr lang="en-US" sz="2400" dirty="0"/>
              <a:t> = </a:t>
            </a:r>
          </a:p>
          <a:p>
            <a:r>
              <a:rPr lang="en-US" sz="2400" dirty="0"/>
              <a:t>maximum(</a:t>
            </a:r>
            <a:r>
              <a:rPr lang="en-US" sz="2400" dirty="0" err="1"/>
              <a:t>x</a:t>
            </a:r>
            <a:r>
              <a:rPr lang="en-US" sz="2400" baseline="-25000" dirty="0" err="1"/>
              <a:t>max-</a:t>
            </a:r>
            <a:r>
              <a:rPr lang="en-US" sz="2400" dirty="0" err="1"/>
              <a:t>x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, </a:t>
            </a:r>
            <a:r>
              <a:rPr lang="en-US" sz="2400" dirty="0" err="1"/>
              <a:t>y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-</a:t>
            </a:r>
            <a:r>
              <a:rPr lang="en-US" sz="2400" dirty="0"/>
              <a:t> </a:t>
            </a:r>
            <a:r>
              <a:rPr lang="en-US" sz="2400" dirty="0" err="1"/>
              <a:t>y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47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7E53-9029-44E1-83D1-13CC5473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29705-1C0E-4CA1-9E22-23C22061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2" descr="opencv - how can I get a rectangle from my binary image? - Stack Overflow">
            <a:extLst>
              <a:ext uri="{FF2B5EF4-FFF2-40B4-BE49-F238E27FC236}">
                <a16:creationId xmlns:a16="http://schemas.microsoft.com/office/drawing/2014/main" id="{A529D8FD-9FC4-4B7A-A423-9B6E76C18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07"/>
          <a:stretch/>
        </p:blipFill>
        <p:spPr bwMode="auto">
          <a:xfrm>
            <a:off x="7072109" y="1657106"/>
            <a:ext cx="4151040" cy="23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076966-E758-4DC9-AED3-9F98DE308FBD}"/>
              </a:ext>
            </a:extLst>
          </p:cNvPr>
          <p:cNvSpPr/>
          <p:nvPr/>
        </p:nvSpPr>
        <p:spPr>
          <a:xfrm>
            <a:off x="7153835" y="1963271"/>
            <a:ext cx="3827930" cy="1685364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E64BB-2992-4456-A83B-36ECFD9DC06C}"/>
              </a:ext>
            </a:extLst>
          </p:cNvPr>
          <p:cNvSpPr txBox="1"/>
          <p:nvPr/>
        </p:nvSpPr>
        <p:spPr>
          <a:xfrm>
            <a:off x="652290" y="1576179"/>
            <a:ext cx="62601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find </a:t>
            </a:r>
            <a:r>
              <a:rPr lang="en-US" sz="2400" b="1" dirty="0" err="1"/>
              <a:t>MaxDiameter</a:t>
            </a:r>
            <a:r>
              <a:rPr lang="en-US" sz="2400" dirty="0"/>
              <a:t> of an object</a:t>
            </a:r>
          </a:p>
          <a:p>
            <a:pPr marL="514350" indent="-514350">
              <a:buAutoNum type="romanLcParenR"/>
            </a:pPr>
            <a:r>
              <a:rPr lang="en-US" sz="2400" dirty="0"/>
              <a:t>Find the bounding rectangle of the object</a:t>
            </a:r>
          </a:p>
          <a:p>
            <a:pPr marL="514350" indent="-514350">
              <a:buAutoNum type="romanLcParenR"/>
            </a:pPr>
            <a:r>
              <a:rPr lang="en-US" sz="2400" dirty="0"/>
              <a:t>Find the x and y Extent of the rectangle</a:t>
            </a:r>
          </a:p>
          <a:p>
            <a:pPr marL="514350" indent="-514350">
              <a:buAutoNum type="romanLcParenR"/>
            </a:pPr>
            <a:r>
              <a:rPr lang="en-US" sz="2400" dirty="0"/>
              <a:t>Take the largest one between the x and y extent, </a:t>
            </a:r>
            <a:r>
              <a:rPr lang="en-US" sz="2400" dirty="0" err="1"/>
              <a:t>MaxDiameter</a:t>
            </a:r>
            <a:r>
              <a:rPr lang="en-US" sz="2400" dirty="0"/>
              <a:t> =  </a:t>
            </a:r>
          </a:p>
          <a:p>
            <a:r>
              <a:rPr lang="en-US" sz="2400" dirty="0"/>
              <a:t>                         maximum(</a:t>
            </a:r>
            <a:r>
              <a:rPr lang="en-US" sz="2400" dirty="0" err="1"/>
              <a:t>x</a:t>
            </a:r>
            <a:r>
              <a:rPr lang="en-US" sz="2400" baseline="-25000" dirty="0" err="1"/>
              <a:t>max-</a:t>
            </a:r>
            <a:r>
              <a:rPr lang="en-US" sz="2400" dirty="0" err="1"/>
              <a:t>x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, </a:t>
            </a:r>
            <a:r>
              <a:rPr lang="en-US" sz="2400" dirty="0" err="1"/>
              <a:t>y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-</a:t>
            </a:r>
            <a:r>
              <a:rPr lang="en-US" sz="2400" dirty="0"/>
              <a:t> </a:t>
            </a:r>
            <a:r>
              <a:rPr lang="en-US" sz="2400" dirty="0" err="1"/>
              <a:t>y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en-US" sz="24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35A7E3-F714-4808-973A-CFA861619ECB}"/>
              </a:ext>
            </a:extLst>
          </p:cNvPr>
          <p:cNvCxnSpPr>
            <a:cxnSpLocks/>
          </p:cNvCxnSpPr>
          <p:nvPr/>
        </p:nvCxnSpPr>
        <p:spPr>
          <a:xfrm flipV="1">
            <a:off x="7153835" y="3809999"/>
            <a:ext cx="3827930" cy="3"/>
          </a:xfrm>
          <a:prstGeom prst="straightConnector1">
            <a:avLst/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102070-D2DE-4BD6-9F95-AF3F375296FA}"/>
              </a:ext>
            </a:extLst>
          </p:cNvPr>
          <p:cNvCxnSpPr>
            <a:cxnSpLocks/>
          </p:cNvCxnSpPr>
          <p:nvPr/>
        </p:nvCxnSpPr>
        <p:spPr>
          <a:xfrm>
            <a:off x="7153835" y="3666564"/>
            <a:ext cx="0" cy="49813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181026-7696-40AF-ADCD-D99743144708}"/>
              </a:ext>
            </a:extLst>
          </p:cNvPr>
          <p:cNvCxnSpPr>
            <a:cxnSpLocks/>
          </p:cNvCxnSpPr>
          <p:nvPr/>
        </p:nvCxnSpPr>
        <p:spPr>
          <a:xfrm>
            <a:off x="10981765" y="3666564"/>
            <a:ext cx="0" cy="49813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338C0C-C9ED-481E-AB7C-5ABAF41F41F9}"/>
              </a:ext>
            </a:extLst>
          </p:cNvPr>
          <p:cNvCxnSpPr/>
          <p:nvPr/>
        </p:nvCxnSpPr>
        <p:spPr>
          <a:xfrm>
            <a:off x="11353800" y="1963271"/>
            <a:ext cx="0" cy="168536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DBCA4-BE40-4BDA-BBF1-57BA1503302E}"/>
              </a:ext>
            </a:extLst>
          </p:cNvPr>
          <p:cNvCxnSpPr>
            <a:cxnSpLocks/>
          </p:cNvCxnSpPr>
          <p:nvPr/>
        </p:nvCxnSpPr>
        <p:spPr>
          <a:xfrm>
            <a:off x="10981765" y="1963271"/>
            <a:ext cx="4751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4E6169-F937-48D9-9F77-F7A93094B590}"/>
              </a:ext>
            </a:extLst>
          </p:cNvPr>
          <p:cNvCxnSpPr>
            <a:cxnSpLocks/>
          </p:cNvCxnSpPr>
          <p:nvPr/>
        </p:nvCxnSpPr>
        <p:spPr>
          <a:xfrm>
            <a:off x="10985584" y="3648635"/>
            <a:ext cx="4751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C4FADE-FED8-4A8E-9599-11823BBF00A0}"/>
              </a:ext>
            </a:extLst>
          </p:cNvPr>
          <p:cNvSpPr txBox="1"/>
          <p:nvPr/>
        </p:nvSpPr>
        <p:spPr>
          <a:xfrm>
            <a:off x="11479318" y="17143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35E741-B858-407C-9A7A-00F81FEF18F9}"/>
              </a:ext>
            </a:extLst>
          </p:cNvPr>
          <p:cNvSpPr txBox="1"/>
          <p:nvPr/>
        </p:nvSpPr>
        <p:spPr>
          <a:xfrm>
            <a:off x="11464532" y="3417661"/>
            <a:ext cx="54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max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8C4D3-72FF-4138-A480-262E93CDF59E}"/>
              </a:ext>
            </a:extLst>
          </p:cNvPr>
          <p:cNvSpPr txBox="1"/>
          <p:nvPr/>
        </p:nvSpPr>
        <p:spPr>
          <a:xfrm>
            <a:off x="7072109" y="415561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min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C71A92-166E-4BCC-BACE-33EA811C2A5D}"/>
              </a:ext>
            </a:extLst>
          </p:cNvPr>
          <p:cNvSpPr txBox="1"/>
          <p:nvPr/>
        </p:nvSpPr>
        <p:spPr>
          <a:xfrm>
            <a:off x="10697777" y="4080426"/>
            <a:ext cx="56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63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4C47-04C9-4193-9450-08BD73F6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Similarity Measure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E751D-11E1-4D06-9EC7-5A5855BF4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600" dirty="0"/>
                  <a:t>Calculate the Euclidean Distance between each 2 images.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eqArr>
                            <m:eqArr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𝐹𝑜𝑟𝑚𝐹𝑎𝑐𝑡𝑜</m:t>
                                      </m:r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𝐹𝑜𝑟𝑚𝐹𝑎𝑐𝑡𝑜</m:t>
                                      </m:r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Roundness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Roundness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Compactness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𝑡𝑟𝑎𝑖𝑛</m:t>
                                          </m:r>
                                        </m:sub>
                                      </m:s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2600" dirty="0"/>
                                            <m:t>Compactness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𝑡𝑒𝑠𝑡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rad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600" dirty="0"/>
                  <a:t>Create a matrix showing the similarity among each pairs.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600" dirty="0"/>
                  <a:t>Find  which images from test cases match the most with the image from train cases.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E751D-11E1-4D06-9EC7-5A5855BF4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EE987-368C-4A43-AF48-BFEC1114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9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E81E-AD33-4B61-8FFD-8948D4C2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 as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A5A14-5AEA-4BD9-961B-CD717A8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AA728-3465-43B4-B75E-5FE9AD74822A}"/>
              </a:ext>
            </a:extLst>
          </p:cNvPr>
          <p:cNvSpPr txBox="1"/>
          <p:nvPr/>
        </p:nvSpPr>
        <p:spPr>
          <a:xfrm>
            <a:off x="439271" y="2251973"/>
            <a:ext cx="118423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f'Test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range(4)]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f'GT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range(3)]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Display the distance matrix as a table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print(tabulate(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[0:4,0:3], headers=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showindex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tablefmt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='grid'))</a:t>
            </a:r>
          </a:p>
        </p:txBody>
      </p:sp>
    </p:spTree>
    <p:extLst>
      <p:ext uri="{BB962C8B-B14F-4D97-AF65-F5344CB8AC3E}">
        <p14:creationId xmlns:p14="http://schemas.microsoft.com/office/powerpoint/2010/main" val="115189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599935D-0863-4230-8E3E-7BED50DBE9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8518" y="176446"/>
          <a:ext cx="9529481" cy="6417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47">
                  <a:extLst>
                    <a:ext uri="{9D8B030D-6E8A-4147-A177-3AD203B41FA5}">
                      <a16:colId xmlns:a16="http://schemas.microsoft.com/office/drawing/2014/main" val="4223002077"/>
                    </a:ext>
                  </a:extLst>
                </a:gridCol>
                <a:gridCol w="1836643">
                  <a:extLst>
                    <a:ext uri="{9D8B030D-6E8A-4147-A177-3AD203B41FA5}">
                      <a16:colId xmlns:a16="http://schemas.microsoft.com/office/drawing/2014/main" val="1377747093"/>
                    </a:ext>
                  </a:extLst>
                </a:gridCol>
                <a:gridCol w="1793003">
                  <a:extLst>
                    <a:ext uri="{9D8B030D-6E8A-4147-A177-3AD203B41FA5}">
                      <a16:colId xmlns:a16="http://schemas.microsoft.com/office/drawing/2014/main" val="967094551"/>
                    </a:ext>
                  </a:extLst>
                </a:gridCol>
                <a:gridCol w="1547296">
                  <a:extLst>
                    <a:ext uri="{9D8B030D-6E8A-4147-A177-3AD203B41FA5}">
                      <a16:colId xmlns:a16="http://schemas.microsoft.com/office/drawing/2014/main" val="2079737647"/>
                    </a:ext>
                  </a:extLst>
                </a:gridCol>
                <a:gridCol w="2626892">
                  <a:extLst>
                    <a:ext uri="{9D8B030D-6E8A-4147-A177-3AD203B41FA5}">
                      <a16:colId xmlns:a16="http://schemas.microsoft.com/office/drawing/2014/main" val="1720254334"/>
                    </a:ext>
                  </a:extLst>
                </a:gridCol>
              </a:tblGrid>
              <a:tr h="6034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95657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2142"/>
                  </a:ext>
                </a:extLst>
              </a:tr>
              <a:tr h="105921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28.59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5.61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109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23.11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7959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4.68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8467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Test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185.22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dirty="0"/>
                        <a:t>155.55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/>
                        <a:t>178.52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1192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7A58A-316E-41F2-A8D9-571ABCFE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C125D8-47F4-40F8-9349-6D234EE5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871" y="845226"/>
            <a:ext cx="1269999" cy="990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DECB4-2C02-464C-87CD-EF7BAA3762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2" b="12467"/>
          <a:stretch/>
        </p:blipFill>
        <p:spPr>
          <a:xfrm>
            <a:off x="4968937" y="912821"/>
            <a:ext cx="1270000" cy="990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9A489-6D2A-4D21-A7F4-26DCF49ABA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4491" r="13057" b="13057"/>
          <a:stretch/>
        </p:blipFill>
        <p:spPr>
          <a:xfrm>
            <a:off x="3320982" y="912821"/>
            <a:ext cx="959150" cy="990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237B6A-81F1-432C-9879-FD8C9C957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37" y="5479274"/>
            <a:ext cx="1567527" cy="1013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8C8A53-AABE-4456-AE0D-F586010E4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096531"/>
            <a:ext cx="1304365" cy="10131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BDB8B0-99BC-4281-8592-37186D41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37" y="4252775"/>
            <a:ext cx="1331528" cy="10652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A3D36E-D9C6-4ED9-A390-18A7E40347E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9" t="17618" b="8371"/>
          <a:stretch/>
        </p:blipFill>
        <p:spPr>
          <a:xfrm>
            <a:off x="8617323" y="1997248"/>
            <a:ext cx="1116106" cy="10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7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97E2-2E5E-4224-ADB6-B4995BC7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C109-C7C3-4C33-92C7-D0D2C112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Take a gray scale input image and Calculate the </a:t>
            </a:r>
          </a:p>
          <a:p>
            <a:pPr marL="1028700" lvl="1" indent="-571500">
              <a:buAutoNum type="romanLcParenR"/>
            </a:pPr>
            <a:r>
              <a:rPr lang="en-US" dirty="0"/>
              <a:t>Diagonal, Vertical and horizontal GLCM matrices and visualize them.</a:t>
            </a:r>
          </a:p>
          <a:p>
            <a:pPr marL="1028700" lvl="1" indent="-571500">
              <a:buAutoNum type="romanLcParenR"/>
            </a:pPr>
            <a:r>
              <a:rPr lang="en-US" dirty="0"/>
              <a:t>For each of the 3 GLCM matrices find the 5 texture features</a:t>
            </a:r>
          </a:p>
          <a:p>
            <a:pPr marL="1371600" lvl="2" indent="-457200">
              <a:buAutoNum type="alphaLcParenR"/>
            </a:pPr>
            <a:r>
              <a:rPr lang="en-US" dirty="0"/>
              <a:t>Maximum probability</a:t>
            </a:r>
          </a:p>
          <a:p>
            <a:pPr marL="1371600" lvl="2" indent="-457200">
              <a:buAutoNum type="alphaLcParenR"/>
            </a:pPr>
            <a:r>
              <a:rPr lang="en-US" dirty="0"/>
              <a:t>Energy</a:t>
            </a:r>
          </a:p>
          <a:p>
            <a:pPr marL="1371600" lvl="2" indent="-457200">
              <a:buAutoNum type="alphaLcParenR"/>
            </a:pPr>
            <a:r>
              <a:rPr lang="en-US" dirty="0"/>
              <a:t>Entropy</a:t>
            </a:r>
          </a:p>
          <a:p>
            <a:pPr marL="1371600" lvl="2" indent="-457200">
              <a:buAutoNum type="alphaLcParenR"/>
            </a:pPr>
            <a:r>
              <a:rPr lang="en-US" dirty="0"/>
              <a:t>Contrast</a:t>
            </a:r>
          </a:p>
          <a:p>
            <a:pPr marL="1371600" lvl="2" indent="-457200">
              <a:buAutoNum type="alphaLcParenR"/>
            </a:pPr>
            <a:r>
              <a:rPr lang="en-US" dirty="0"/>
              <a:t>Homogeneity</a:t>
            </a:r>
          </a:p>
          <a:p>
            <a:pPr marL="514350" indent="-514350">
              <a:buAutoNum type="arabicPeriod"/>
            </a:pPr>
            <a:r>
              <a:rPr lang="en-US" dirty="0"/>
              <a:t>Take a small 5x5 image patch from any of your input image. Apply the above mention operations and demonstrate in your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47219-994F-4A05-ABA1-940D99FA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00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0113-0493-4A22-AB00-F5FCAEF2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input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0F536-E4B3-4EE9-8780-90B11830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Tree Bark Texture Images – Browse 849,164 Stock Photos, Vectors, and Video  | Adobe Stock">
            <a:extLst>
              <a:ext uri="{FF2B5EF4-FFF2-40B4-BE49-F238E27FC236}">
                <a16:creationId xmlns:a16="http://schemas.microsoft.com/office/drawing/2014/main" id="{5672C620-4F20-4682-8084-E37C884A73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86" y="1455346"/>
            <a:ext cx="5313094" cy="213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own leather texture background close up | Premium Photo">
            <a:extLst>
              <a:ext uri="{FF2B5EF4-FFF2-40B4-BE49-F238E27FC236}">
                <a16:creationId xmlns:a16="http://schemas.microsoft.com/office/drawing/2014/main" id="{5AD4A3AC-D749-4920-984E-4BEB7B0C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86" y="3693082"/>
            <a:ext cx="5313094" cy="196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acterial and Fungal Leaf Spot | Planet Natural">
            <a:extLst>
              <a:ext uri="{FF2B5EF4-FFF2-40B4-BE49-F238E27FC236}">
                <a16:creationId xmlns:a16="http://schemas.microsoft.com/office/drawing/2014/main" id="{EFDD0819-E086-48C1-BC11-4548143A7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173" y="2180011"/>
            <a:ext cx="5344774" cy="300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518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1AC2-9038-4B42-A75F-50875B76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BB40-B853-4814-A646-DA4BF903E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Find the following texture based features of a gray scale image using GLCM: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2D82-6CF2-4A4D-AA22-F90F59D7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90AA787-F3B3-4B89-8634-2F332FF815B1}"/>
              </a:ext>
            </a:extLst>
          </p:cNvPr>
          <p:cNvSpPr/>
          <p:nvPr/>
        </p:nvSpPr>
        <p:spPr>
          <a:xfrm>
            <a:off x="2154476" y="1745876"/>
            <a:ext cx="4652682" cy="3366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D34B6F5-70A0-43FB-9371-ED073C09ED31}"/>
              </a:ext>
            </a:extLst>
          </p:cNvPr>
          <p:cNvSpPr/>
          <p:nvPr/>
        </p:nvSpPr>
        <p:spPr>
          <a:xfrm>
            <a:off x="1604683" y="5061933"/>
            <a:ext cx="8577789" cy="1647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9F5E2-26CC-469B-84A2-80082A3CFDBE}"/>
              </a:ext>
            </a:extLst>
          </p:cNvPr>
          <p:cNvSpPr txBox="1"/>
          <p:nvPr/>
        </p:nvSpPr>
        <p:spPr>
          <a:xfrm>
            <a:off x="7431741" y="5974926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Marginal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15902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387" y="1640542"/>
            <a:ext cx="10623177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just">
              <a:spcBef>
                <a:spcPts val="1200"/>
              </a:spcBef>
              <a:buClr>
                <a:srgbClr val="93C500"/>
              </a:buClr>
              <a:buSzPct val="83333"/>
              <a:tabLst>
                <a:tab pos="256540" algn="l"/>
              </a:tabLst>
            </a:pPr>
            <a:r>
              <a:rPr lang="en-US" sz="2800" dirty="0">
                <a:latin typeface="+mj-lt"/>
                <a:cs typeface="Palatino Linotype"/>
              </a:rPr>
              <a:t>GLCM stands for Gray-Level Co-Occurrence Matrix. It’s a statistical method used in image processing to analyze texture. It shows the spatial relationship among pixels. </a:t>
            </a:r>
            <a:endParaRPr sz="2800" dirty="0">
              <a:latin typeface="+mj-lt"/>
              <a:cs typeface="Palatino Linotype"/>
            </a:endParaRPr>
          </a:p>
          <a:p>
            <a:pPr marL="354965" marR="5080" indent="-342900" algn="just">
              <a:spcBef>
                <a:spcPts val="1200"/>
              </a:spcBef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6540" algn="l"/>
              </a:tabLst>
            </a:pPr>
            <a:r>
              <a:rPr lang="en-US" sz="2800" spc="-5" dirty="0">
                <a:latin typeface="+mj-lt"/>
                <a:cs typeface="Palatino Linotype"/>
              </a:rPr>
              <a:t>T</a:t>
            </a:r>
            <a:r>
              <a:rPr sz="2800" spc="-10" dirty="0">
                <a:latin typeface="+mj-lt"/>
                <a:cs typeface="Palatino Linotype"/>
              </a:rPr>
              <a:t>he </a:t>
            </a:r>
            <a:r>
              <a:rPr sz="2800" b="1" i="1" dirty="0">
                <a:latin typeface="+mj-lt"/>
                <a:cs typeface="Palatino Linotype"/>
              </a:rPr>
              <a:t>gray-level </a:t>
            </a:r>
            <a:r>
              <a:rPr sz="2800" b="1" i="1" spc="-5" dirty="0">
                <a:latin typeface="+mj-lt"/>
                <a:cs typeface="Palatino Linotype"/>
              </a:rPr>
              <a:t>co-occurrence </a:t>
            </a:r>
            <a:r>
              <a:rPr sz="2800" b="1" i="1" dirty="0">
                <a:latin typeface="+mj-lt"/>
                <a:cs typeface="Palatino Linotype"/>
              </a:rPr>
              <a:t>matrix G, </a:t>
            </a:r>
            <a:r>
              <a:rPr sz="2800" b="1" i="1" spc="-5" dirty="0">
                <a:latin typeface="+mj-lt"/>
                <a:cs typeface="Palatino Linotype"/>
              </a:rPr>
              <a:t>defined as </a:t>
            </a:r>
            <a:r>
              <a:rPr sz="2800" b="1" i="1" dirty="0">
                <a:latin typeface="+mj-lt"/>
                <a:cs typeface="Palatino Linotype"/>
              </a:rPr>
              <a:t>a  </a:t>
            </a:r>
            <a:r>
              <a:rPr sz="2800" b="1" i="1" spc="-5" dirty="0">
                <a:latin typeface="+mj-lt"/>
                <a:cs typeface="Palatino Linotype"/>
              </a:rPr>
              <a:t>matrix whose </a:t>
            </a:r>
            <a:r>
              <a:rPr sz="2800" spc="-5" dirty="0">
                <a:latin typeface="+mj-lt"/>
                <a:cs typeface="Palatino Linotype"/>
              </a:rPr>
              <a:t>element </a:t>
            </a:r>
            <a:r>
              <a:rPr sz="2800" i="1" spc="-5" dirty="0">
                <a:latin typeface="+mj-lt"/>
                <a:cs typeface="Palatino Linotype"/>
              </a:rPr>
              <a:t>g(i, </a:t>
            </a:r>
            <a:r>
              <a:rPr sz="2800" i="1" dirty="0">
                <a:latin typeface="+mj-lt"/>
                <a:cs typeface="Palatino Linotype"/>
              </a:rPr>
              <a:t>j) </a:t>
            </a:r>
            <a:r>
              <a:rPr sz="2800" i="1" spc="-15" dirty="0">
                <a:latin typeface="+mj-lt"/>
                <a:cs typeface="Palatino Linotype"/>
              </a:rPr>
              <a:t>represents </a:t>
            </a:r>
            <a:r>
              <a:rPr sz="2800" i="1" dirty="0">
                <a:latin typeface="+mj-lt"/>
                <a:cs typeface="Palatino Linotype"/>
              </a:rPr>
              <a:t>the </a:t>
            </a:r>
            <a:r>
              <a:rPr sz="2800" i="1" spc="-5" dirty="0">
                <a:latin typeface="+mj-lt"/>
                <a:cs typeface="Palatino Linotype"/>
              </a:rPr>
              <a:t>number </a:t>
            </a:r>
            <a:r>
              <a:rPr sz="2800" i="1" dirty="0">
                <a:latin typeface="+mj-lt"/>
                <a:cs typeface="Palatino Linotype"/>
              </a:rPr>
              <a:t>of </a:t>
            </a:r>
            <a:r>
              <a:rPr sz="2800" i="1" spc="-5" dirty="0">
                <a:latin typeface="+mj-lt"/>
                <a:cs typeface="Palatino Linotype"/>
              </a:rPr>
              <a:t>times </a:t>
            </a:r>
            <a:r>
              <a:rPr sz="2800" i="1" dirty="0">
                <a:latin typeface="+mj-lt"/>
                <a:cs typeface="Palatino Linotype"/>
              </a:rPr>
              <a:t>that </a:t>
            </a:r>
            <a:r>
              <a:rPr sz="2800" i="1" spc="-5" dirty="0">
                <a:latin typeface="+mj-lt"/>
                <a:cs typeface="Palatino Linotype"/>
              </a:rPr>
              <a:t>pixel pairs with  intensities </a:t>
            </a:r>
            <a:r>
              <a:rPr sz="2800" i="1" dirty="0">
                <a:latin typeface="+mj-lt"/>
                <a:cs typeface="Palatino Linotype"/>
              </a:rPr>
              <a:t>zi and zj occur in image f (x, y) in the position </a:t>
            </a:r>
            <a:r>
              <a:rPr sz="2800" i="1" spc="-5" dirty="0">
                <a:latin typeface="+mj-lt"/>
                <a:cs typeface="Palatino Linotype"/>
              </a:rPr>
              <a:t>specified by </a:t>
            </a:r>
            <a:r>
              <a:rPr sz="2800" i="1" dirty="0">
                <a:latin typeface="+mj-lt"/>
                <a:cs typeface="Palatino Linotype"/>
              </a:rPr>
              <a:t>an operator</a:t>
            </a:r>
            <a:r>
              <a:rPr sz="2800" i="1" spc="-45" dirty="0">
                <a:latin typeface="+mj-lt"/>
                <a:cs typeface="Palatino Linotype"/>
              </a:rPr>
              <a:t> </a:t>
            </a:r>
            <a:r>
              <a:rPr sz="2800" b="1" i="1" spc="-5" dirty="0">
                <a:latin typeface="+mj-lt"/>
                <a:cs typeface="Palatino Linotype"/>
              </a:rPr>
              <a:t>d.</a:t>
            </a:r>
            <a:endParaRPr sz="2800" dirty="0">
              <a:latin typeface="+mj-lt"/>
              <a:cs typeface="Palatino Linotype"/>
            </a:endParaRPr>
          </a:p>
          <a:p>
            <a:pPr marL="354965" indent="-342900" algn="just">
              <a:spcBef>
                <a:spcPts val="1200"/>
              </a:spcBef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199390" algn="l"/>
              </a:tabLst>
            </a:pPr>
            <a:r>
              <a:rPr sz="2800" b="1" i="1" dirty="0">
                <a:latin typeface="+mj-lt"/>
                <a:cs typeface="Palatino Linotype"/>
              </a:rPr>
              <a:t>The </a:t>
            </a:r>
            <a:r>
              <a:rPr sz="2800" b="1" i="1" spc="-5" dirty="0">
                <a:latin typeface="+mj-lt"/>
                <a:cs typeface="Palatino Linotype"/>
              </a:rPr>
              <a:t>vector </a:t>
            </a:r>
            <a:r>
              <a:rPr sz="2800" b="1" i="1" dirty="0">
                <a:latin typeface="+mj-lt"/>
                <a:cs typeface="Palatino Linotype"/>
              </a:rPr>
              <a:t>d is </a:t>
            </a:r>
            <a:r>
              <a:rPr sz="2800" spc="-5" dirty="0">
                <a:latin typeface="+mj-lt"/>
                <a:cs typeface="Palatino Linotype"/>
              </a:rPr>
              <a:t>known </a:t>
            </a:r>
            <a:r>
              <a:rPr sz="2800" dirty="0">
                <a:latin typeface="+mj-lt"/>
                <a:cs typeface="Palatino Linotype"/>
              </a:rPr>
              <a:t>as </a:t>
            </a:r>
            <a:r>
              <a:rPr sz="2800" i="1" spc="-5" dirty="0">
                <a:latin typeface="+mj-lt"/>
                <a:cs typeface="Palatino Linotype"/>
              </a:rPr>
              <a:t>displacement</a:t>
            </a:r>
            <a:r>
              <a:rPr sz="2800" i="1" spc="15" dirty="0">
                <a:latin typeface="+mj-lt"/>
                <a:cs typeface="Palatino Linotype"/>
              </a:rPr>
              <a:t> </a:t>
            </a:r>
            <a:r>
              <a:rPr sz="2800" i="1" spc="-5" dirty="0">
                <a:latin typeface="+mj-lt"/>
                <a:cs typeface="Palatino Linotype"/>
              </a:rPr>
              <a:t>vector:</a:t>
            </a:r>
            <a:endParaRPr sz="2800" dirty="0">
              <a:latin typeface="+mj-lt"/>
              <a:cs typeface="Palatino Linotype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17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29C41B24-27B8-4108-5B2B-1B4718BE269E}"/>
              </a:ext>
            </a:extLst>
          </p:cNvPr>
          <p:cNvSpPr txBox="1">
            <a:spLocks/>
          </p:cNvSpPr>
          <p:nvPr/>
        </p:nvSpPr>
        <p:spPr>
          <a:xfrm>
            <a:off x="663387" y="389737"/>
            <a:ext cx="11407588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sz="4400" dirty="0"/>
              <a:t>Assignment: Texture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900" y="1219200"/>
            <a:ext cx="7429499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5600" y="1674167"/>
            <a:ext cx="3365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Palatino Linotype"/>
                <a:cs typeface="Palatino Linotype"/>
              </a:rPr>
              <a:t>Displacement, d = </a:t>
            </a:r>
            <a:r>
              <a:rPr lang="en-US" sz="2400" b="1" dirty="0">
                <a:latin typeface="Palatino Linotype"/>
                <a:cs typeface="Palatino Linotype"/>
              </a:rPr>
              <a:t>[1, 0]</a:t>
            </a:r>
            <a:endParaRPr lang="en-US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6FAF01B-E7E8-5CF1-3E9E-B56F670D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Gray level Co-occurrence Matrix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18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6D4E9-E647-3250-3287-1153343A1248}"/>
              </a:ext>
            </a:extLst>
          </p:cNvPr>
          <p:cNvSpPr/>
          <p:nvPr/>
        </p:nvSpPr>
        <p:spPr>
          <a:xfrm>
            <a:off x="4495800" y="1293167"/>
            <a:ext cx="762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411777-83B8-558D-E599-AF78BE8112E9}"/>
              </a:ext>
            </a:extLst>
          </p:cNvPr>
          <p:cNvSpPr/>
          <p:nvPr/>
        </p:nvSpPr>
        <p:spPr>
          <a:xfrm>
            <a:off x="6477000" y="2362200"/>
            <a:ext cx="762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76BEE0-BBD9-5D0F-41FA-9309A416F44F}"/>
              </a:ext>
            </a:extLst>
          </p:cNvPr>
          <p:cNvSpPr/>
          <p:nvPr/>
        </p:nvSpPr>
        <p:spPr>
          <a:xfrm>
            <a:off x="8382000" y="1754832"/>
            <a:ext cx="381000" cy="381000"/>
          </a:xfrm>
          <a:prstGeom prst="roundRect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DA468-1DE2-6711-0EA9-1D8AF9D0D30D}"/>
              </a:ext>
            </a:extLst>
          </p:cNvPr>
          <p:cNvSpPr/>
          <p:nvPr/>
        </p:nvSpPr>
        <p:spPr>
          <a:xfrm>
            <a:off x="393701" y="2863849"/>
            <a:ext cx="2959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d</a:t>
            </a:r>
            <a:r>
              <a:rPr lang="en-US" sz="2400" dirty="0"/>
              <a:t> can be any vector like (1,1), (0,2) </a:t>
            </a:r>
            <a:r>
              <a:rPr lang="en-US" sz="2400" dirty="0" err="1"/>
              <a:t>etc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1544877" y="-7307"/>
            <a:ext cx="9123123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dirty="0"/>
              <a:t>GLCM -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19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CDB1D6-C156-3D69-B590-552548A0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817" y="931437"/>
            <a:ext cx="5574690" cy="5705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895DB6-DDE4-D511-EA70-AEADC9DFD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38" y="966788"/>
            <a:ext cx="1847850" cy="187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38787A-86A5-DB99-0E35-876F92CFC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838" y="2830513"/>
            <a:ext cx="1790700" cy="1781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85CB0E-2565-0244-3652-4AB6E1C7B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839" y="4675188"/>
            <a:ext cx="1819275" cy="18002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035E13-519B-F18F-BF96-32C0FA54D640}"/>
              </a:ext>
            </a:extLst>
          </p:cNvPr>
          <p:cNvSpPr txBox="1"/>
          <p:nvPr/>
        </p:nvSpPr>
        <p:spPr>
          <a:xfrm>
            <a:off x="4420153" y="6541572"/>
            <a:ext cx="8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0980BE-DCD7-27F5-482A-3C06AAA4E5EF}"/>
              </a:ext>
            </a:extLst>
          </p:cNvPr>
          <p:cNvSpPr txBox="1"/>
          <p:nvPr/>
        </p:nvSpPr>
        <p:spPr>
          <a:xfrm>
            <a:off x="7893051" y="6513512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GLCM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09B0B3-34BE-D8EC-DFC3-34A01AEEA010}"/>
              </a:ext>
            </a:extLst>
          </p:cNvPr>
          <p:cNvSpPr txBox="1"/>
          <p:nvPr/>
        </p:nvSpPr>
        <p:spPr>
          <a:xfrm>
            <a:off x="5733993" y="238126"/>
            <a:ext cx="4654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 = 256 and the position operator, d= “one pixel immediately to the right.</a:t>
            </a:r>
          </a:p>
        </p:txBody>
      </p:sp>
    </p:spTree>
    <p:extLst>
      <p:ext uri="{BB962C8B-B14F-4D97-AF65-F5344CB8AC3E}">
        <p14:creationId xmlns:p14="http://schemas.microsoft.com/office/powerpoint/2010/main" val="2041031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Gray level Co-occurrence Matrix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quarter" idx="1"/>
          </p:nvPr>
        </p:nvSpPr>
        <p:spPr>
          <a:xfrm>
            <a:off x="744070" y="1389528"/>
            <a:ext cx="11295529" cy="5239871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lang="en-US" sz="3200" dirty="0">
                <a:latin typeface="+mj-lt"/>
                <a:cs typeface="Palatino Linotype"/>
              </a:rPr>
              <a:t>The </a:t>
            </a:r>
            <a:r>
              <a:rPr lang="en-US" sz="3200" spc="-10" dirty="0">
                <a:latin typeface="+mj-lt"/>
                <a:cs typeface="Palatino Linotype"/>
              </a:rPr>
              <a:t>gray-level </a:t>
            </a:r>
            <a:r>
              <a:rPr lang="en-US" sz="3200" spc="-5" dirty="0">
                <a:latin typeface="+mj-lt"/>
                <a:cs typeface="Palatino Linotype"/>
              </a:rPr>
              <a:t>co-occurrence matrix </a:t>
            </a:r>
            <a:r>
              <a:rPr lang="en-US" sz="3200" dirty="0">
                <a:latin typeface="+mj-lt"/>
                <a:cs typeface="Palatino Linotype"/>
              </a:rPr>
              <a:t>can be </a:t>
            </a:r>
            <a:r>
              <a:rPr lang="en-US" sz="3200" spc="-5" dirty="0">
                <a:latin typeface="+mj-lt"/>
                <a:cs typeface="Palatino Linotype"/>
              </a:rPr>
              <a:t>normalized </a:t>
            </a:r>
            <a:r>
              <a:rPr lang="en-US" sz="3200" dirty="0">
                <a:latin typeface="+mj-lt"/>
                <a:cs typeface="Palatino Linotype"/>
              </a:rPr>
              <a:t>as</a:t>
            </a:r>
            <a:r>
              <a:rPr lang="en-US" sz="3200" spc="110" dirty="0">
                <a:latin typeface="+mj-lt"/>
                <a:cs typeface="Palatino Linotype"/>
              </a:rPr>
              <a:t> </a:t>
            </a:r>
            <a:r>
              <a:rPr lang="en-US" sz="3200" dirty="0">
                <a:latin typeface="+mj-lt"/>
                <a:cs typeface="Palatino Linotype"/>
              </a:rPr>
              <a:t>follows:</a:t>
            </a: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8445" algn="l"/>
              </a:tabLst>
            </a:pPr>
            <a:endParaRPr lang="en-US" spc="-5" dirty="0">
              <a:latin typeface="+mj-lt"/>
              <a:cs typeface="Palatino Linotype"/>
            </a:endParaRP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8445" algn="l"/>
              </a:tabLst>
            </a:pPr>
            <a:endParaRPr lang="en-US" spc="-5" dirty="0">
              <a:latin typeface="+mj-lt"/>
              <a:cs typeface="Palatino Linotype"/>
            </a:endParaRPr>
          </a:p>
          <a:p>
            <a:pPr marL="14605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None/>
              <a:tabLst>
                <a:tab pos="257175" algn="l"/>
                <a:tab pos="4457700" algn="l"/>
              </a:tabLst>
            </a:pPr>
            <a:r>
              <a:rPr lang="en-US" spc="-5" dirty="0">
                <a:latin typeface="+mj-lt"/>
                <a:cs typeface="Palatino Linotype"/>
              </a:rPr>
              <a:t>                   </a:t>
            </a:r>
            <a:r>
              <a:rPr spc="-5" dirty="0">
                <a:latin typeface="+mj-lt"/>
                <a:cs typeface="Palatino Linotype"/>
              </a:rPr>
              <a:t>where </a:t>
            </a:r>
            <a:r>
              <a:rPr dirty="0">
                <a:latin typeface="+mj-lt"/>
              </a:rPr>
              <a:t>Ng(i, j) is the </a:t>
            </a:r>
            <a:r>
              <a:rPr spc="-5" dirty="0">
                <a:latin typeface="+mj-lt"/>
              </a:rPr>
              <a:t>normalized </a:t>
            </a:r>
            <a:r>
              <a:rPr dirty="0">
                <a:latin typeface="+mj-lt"/>
              </a:rPr>
              <a:t>gray-level </a:t>
            </a:r>
            <a:r>
              <a:rPr spc="-5" dirty="0">
                <a:latin typeface="+mj-lt"/>
              </a:rPr>
              <a:t>co-occurrence </a:t>
            </a:r>
            <a:r>
              <a:rPr dirty="0">
                <a:latin typeface="+mj-lt"/>
              </a:rPr>
              <a:t>matrix. </a:t>
            </a:r>
            <a:endParaRPr lang="en-US" dirty="0">
              <a:latin typeface="+mj-lt"/>
            </a:endParaRPr>
          </a:p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spc="-5" dirty="0">
                <a:latin typeface="+mj-lt"/>
              </a:rPr>
              <a:t>Since </a:t>
            </a:r>
            <a:r>
              <a:rPr dirty="0">
                <a:latin typeface="+mj-lt"/>
              </a:rPr>
              <a:t>all </a:t>
            </a:r>
            <a:r>
              <a:rPr spc="-5" dirty="0">
                <a:latin typeface="+mj-lt"/>
              </a:rPr>
              <a:t>values</a:t>
            </a:r>
            <a:r>
              <a:rPr spc="30" dirty="0">
                <a:latin typeface="+mj-lt"/>
              </a:rPr>
              <a:t> </a:t>
            </a:r>
            <a:r>
              <a:rPr spc="5" dirty="0">
                <a:latin typeface="+mj-lt"/>
              </a:rPr>
              <a:t>of</a:t>
            </a:r>
            <a:r>
              <a:rPr lang="en-US" spc="5" dirty="0">
                <a:latin typeface="+mj-lt"/>
              </a:rPr>
              <a:t>  </a:t>
            </a:r>
            <a:r>
              <a:rPr dirty="0">
                <a:latin typeface="+mj-lt"/>
              </a:rPr>
              <a:t>Ng(</a:t>
            </a:r>
            <a:r>
              <a:rPr dirty="0" err="1">
                <a:latin typeface="+mj-lt"/>
              </a:rPr>
              <a:t>i</a:t>
            </a:r>
            <a:r>
              <a:rPr dirty="0">
                <a:latin typeface="+mj-lt"/>
              </a:rPr>
              <a:t>,</a:t>
            </a:r>
            <a:r>
              <a:rPr spc="150" dirty="0">
                <a:latin typeface="+mj-lt"/>
              </a:rPr>
              <a:t> </a:t>
            </a:r>
            <a:r>
              <a:rPr dirty="0">
                <a:latin typeface="+mj-lt"/>
              </a:rPr>
              <a:t>j)</a:t>
            </a:r>
            <a:r>
              <a:rPr spc="150" dirty="0">
                <a:latin typeface="+mj-lt"/>
              </a:rPr>
              <a:t> </a:t>
            </a:r>
            <a:r>
              <a:rPr spc="-5" dirty="0">
                <a:latin typeface="+mj-lt"/>
              </a:rPr>
              <a:t>lie</a:t>
            </a:r>
            <a:r>
              <a:rPr spc="155" dirty="0">
                <a:latin typeface="+mj-lt"/>
              </a:rPr>
              <a:t> </a:t>
            </a:r>
            <a:r>
              <a:rPr spc="-10" dirty="0">
                <a:latin typeface="+mj-lt"/>
              </a:rPr>
              <a:t>between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0</a:t>
            </a:r>
            <a:r>
              <a:rPr spc="160" dirty="0">
                <a:latin typeface="+mj-lt"/>
              </a:rPr>
              <a:t> </a:t>
            </a:r>
            <a:r>
              <a:rPr dirty="0">
                <a:latin typeface="+mj-lt"/>
              </a:rPr>
              <a:t>and</a:t>
            </a:r>
            <a:r>
              <a:rPr spc="155" dirty="0">
                <a:latin typeface="+mj-lt"/>
              </a:rPr>
              <a:t> </a:t>
            </a:r>
            <a:r>
              <a:rPr spc="-10" dirty="0">
                <a:latin typeface="+mj-lt"/>
              </a:rPr>
              <a:t>1,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they</a:t>
            </a:r>
            <a:r>
              <a:rPr spc="150" dirty="0">
                <a:latin typeface="+mj-lt"/>
              </a:rPr>
              <a:t> </a:t>
            </a:r>
            <a:r>
              <a:rPr dirty="0">
                <a:latin typeface="+mj-lt"/>
              </a:rPr>
              <a:t>can</a:t>
            </a:r>
            <a:r>
              <a:rPr spc="160" dirty="0">
                <a:latin typeface="+mj-lt"/>
              </a:rPr>
              <a:t> </a:t>
            </a:r>
            <a:r>
              <a:rPr spc="-5" dirty="0">
                <a:latin typeface="+mj-lt"/>
              </a:rPr>
              <a:t>be</a:t>
            </a:r>
            <a:r>
              <a:rPr spc="155" dirty="0">
                <a:latin typeface="+mj-lt"/>
              </a:rPr>
              <a:t> </a:t>
            </a:r>
            <a:r>
              <a:rPr spc="-5" dirty="0">
                <a:latin typeface="+mj-lt"/>
              </a:rPr>
              <a:t>thought</a:t>
            </a:r>
            <a:r>
              <a:rPr spc="160" dirty="0">
                <a:latin typeface="+mj-lt"/>
              </a:rPr>
              <a:t> </a:t>
            </a:r>
            <a:r>
              <a:rPr dirty="0">
                <a:latin typeface="+mj-lt"/>
              </a:rPr>
              <a:t>of</a:t>
            </a:r>
            <a:r>
              <a:rPr spc="140" dirty="0">
                <a:latin typeface="+mj-lt"/>
              </a:rPr>
              <a:t> </a:t>
            </a:r>
            <a:r>
              <a:rPr dirty="0">
                <a:latin typeface="+mj-lt"/>
              </a:rPr>
              <a:t>as</a:t>
            </a:r>
            <a:r>
              <a:rPr spc="155" dirty="0">
                <a:latin typeface="+mj-lt"/>
              </a:rPr>
              <a:t> </a:t>
            </a:r>
            <a:r>
              <a:rPr dirty="0">
                <a:latin typeface="+mj-lt"/>
              </a:rPr>
              <a:t>the</a:t>
            </a:r>
            <a:r>
              <a:rPr spc="150" dirty="0">
                <a:latin typeface="+mj-lt"/>
              </a:rPr>
              <a:t> </a:t>
            </a:r>
            <a:r>
              <a:rPr spc="-5" dirty="0">
                <a:latin typeface="+mj-lt"/>
              </a:rPr>
              <a:t>probability</a:t>
            </a:r>
            <a:r>
              <a:rPr spc="165" dirty="0">
                <a:latin typeface="+mj-lt"/>
              </a:rPr>
              <a:t> </a:t>
            </a:r>
            <a:r>
              <a:rPr dirty="0">
                <a:latin typeface="+mj-lt"/>
              </a:rPr>
              <a:t>that</a:t>
            </a:r>
            <a:r>
              <a:rPr spc="145" dirty="0">
                <a:latin typeface="+mj-lt"/>
              </a:rPr>
              <a:t> </a:t>
            </a:r>
            <a:r>
              <a:rPr dirty="0">
                <a:latin typeface="+mj-lt"/>
              </a:rPr>
              <a:t>a</a:t>
            </a:r>
            <a:r>
              <a:rPr spc="155" dirty="0">
                <a:latin typeface="+mj-lt"/>
              </a:rPr>
              <a:t> </a:t>
            </a:r>
            <a:r>
              <a:rPr spc="-5" dirty="0">
                <a:latin typeface="+mj-lt"/>
              </a:rPr>
              <a:t>pair</a:t>
            </a:r>
            <a:r>
              <a:rPr spc="160" dirty="0">
                <a:latin typeface="+mj-lt"/>
              </a:rPr>
              <a:t> </a:t>
            </a:r>
            <a:r>
              <a:rPr spc="5" dirty="0">
                <a:latin typeface="+mj-lt"/>
              </a:rPr>
              <a:t>of</a:t>
            </a:r>
            <a:r>
              <a:rPr lang="en-US" spc="5" dirty="0">
                <a:latin typeface="+mj-lt"/>
              </a:rPr>
              <a:t> </a:t>
            </a:r>
            <a:r>
              <a:rPr spc="-5" dirty="0">
                <a:latin typeface="+mj-lt"/>
                <a:cs typeface="Palatino Linotype"/>
              </a:rPr>
              <a:t>points </a:t>
            </a:r>
            <a:r>
              <a:rPr i="0" dirty="0">
                <a:latin typeface="+mj-lt"/>
                <a:cs typeface="Palatino Linotype"/>
              </a:rPr>
              <a:t>satisfying </a:t>
            </a:r>
            <a:r>
              <a:rPr b="1" i="0" dirty="0">
                <a:latin typeface="+mj-lt"/>
                <a:cs typeface="Palatino Linotype"/>
              </a:rPr>
              <a:t>d will have values (</a:t>
            </a:r>
            <a:r>
              <a:rPr b="1" dirty="0">
                <a:latin typeface="+mj-lt"/>
                <a:cs typeface="Palatino Linotype"/>
              </a:rPr>
              <a:t>zi,</a:t>
            </a:r>
            <a:r>
              <a:rPr b="1" spc="-5" dirty="0">
                <a:latin typeface="+mj-lt"/>
                <a:cs typeface="Palatino Linotype"/>
              </a:rPr>
              <a:t> </a:t>
            </a:r>
            <a:r>
              <a:rPr b="1" dirty="0">
                <a:latin typeface="+mj-lt"/>
                <a:cs typeface="Palatino Linotype"/>
              </a:rPr>
              <a:t>zj).</a:t>
            </a:r>
          </a:p>
          <a:p>
            <a:pPr marL="471805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8445" algn="l"/>
              </a:tabLst>
            </a:pPr>
            <a:r>
              <a:rPr spc="-5" dirty="0">
                <a:latin typeface="+mj-lt"/>
                <a:cs typeface="Palatino Linotype"/>
              </a:rPr>
              <a:t>Co-occurrence</a:t>
            </a:r>
            <a:r>
              <a:rPr spc="10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matrices</a:t>
            </a:r>
            <a:r>
              <a:rPr spc="90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can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spc="-10" dirty="0">
                <a:latin typeface="+mj-lt"/>
                <a:cs typeface="Palatino Linotype"/>
              </a:rPr>
              <a:t>be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used</a:t>
            </a:r>
            <a:r>
              <a:rPr spc="8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to</a:t>
            </a:r>
            <a:r>
              <a:rPr spc="8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represent</a:t>
            </a:r>
            <a:r>
              <a:rPr spc="95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the</a:t>
            </a:r>
            <a:r>
              <a:rPr spc="85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texture</a:t>
            </a:r>
            <a:r>
              <a:rPr spc="9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properties</a:t>
            </a:r>
            <a:r>
              <a:rPr spc="105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of</a:t>
            </a:r>
            <a:r>
              <a:rPr spc="80" dirty="0">
                <a:latin typeface="+mj-lt"/>
                <a:cs typeface="Palatino Linotype"/>
              </a:rPr>
              <a:t> </a:t>
            </a:r>
            <a:r>
              <a:rPr i="0" dirty="0">
                <a:latin typeface="+mj-lt"/>
                <a:cs typeface="Palatino Linotype"/>
              </a:rPr>
              <a:t>an</a:t>
            </a:r>
            <a:r>
              <a:rPr lang="en-US" i="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image.</a:t>
            </a:r>
            <a:endParaRPr sz="1500" dirty="0">
              <a:latin typeface="+mj-lt"/>
              <a:cs typeface="Times New Roman"/>
            </a:endParaRPr>
          </a:p>
          <a:p>
            <a:pPr marL="47117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93C500"/>
              </a:buClr>
              <a:buSzPct val="83333"/>
              <a:buFont typeface="Wingdings" panose="05000000000000000000" pitchFamily="2" charset="2"/>
              <a:buChar char="q"/>
              <a:tabLst>
                <a:tab pos="257175" algn="l"/>
              </a:tabLst>
            </a:pPr>
            <a:r>
              <a:rPr spc="-5" dirty="0">
                <a:latin typeface="+mj-lt"/>
                <a:cs typeface="Palatino Linotype"/>
              </a:rPr>
              <a:t>Instead </a:t>
            </a:r>
            <a:r>
              <a:rPr i="0" dirty="0">
                <a:latin typeface="+mj-lt"/>
                <a:cs typeface="Palatino Linotype"/>
              </a:rPr>
              <a:t>of using </a:t>
            </a:r>
            <a:r>
              <a:rPr spc="-5" dirty="0">
                <a:latin typeface="+mj-lt"/>
                <a:cs typeface="Palatino Linotype"/>
              </a:rPr>
              <a:t>the </a:t>
            </a:r>
            <a:r>
              <a:rPr i="0" dirty="0">
                <a:latin typeface="+mj-lt"/>
                <a:cs typeface="Palatino Linotype"/>
              </a:rPr>
              <a:t>entire </a:t>
            </a:r>
            <a:r>
              <a:rPr spc="-5" dirty="0">
                <a:latin typeface="+mj-lt"/>
                <a:cs typeface="Palatino Linotype"/>
              </a:rPr>
              <a:t>matrix, more </a:t>
            </a:r>
            <a:r>
              <a:rPr i="0" dirty="0">
                <a:latin typeface="+mj-lt"/>
                <a:cs typeface="Palatino Linotype"/>
              </a:rPr>
              <a:t>compact descriptors are</a:t>
            </a:r>
            <a:r>
              <a:rPr spc="50" dirty="0">
                <a:latin typeface="+mj-lt"/>
                <a:cs typeface="Palatino Linotype"/>
              </a:rPr>
              <a:t> </a:t>
            </a:r>
            <a:r>
              <a:rPr spc="-5" dirty="0">
                <a:latin typeface="+mj-lt"/>
                <a:cs typeface="Palatino Linotype"/>
              </a:rPr>
              <a:t>preferred.</a:t>
            </a:r>
          </a:p>
        </p:txBody>
      </p:sp>
      <p:sp>
        <p:nvSpPr>
          <p:cNvPr id="5" name="object 5"/>
          <p:cNvSpPr/>
          <p:nvPr/>
        </p:nvSpPr>
        <p:spPr>
          <a:xfrm>
            <a:off x="4440174" y="1832960"/>
            <a:ext cx="3311652" cy="99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55C524C-7A57-4389-B084-E69453A2BAA2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DD8047">
                  <a:lumMod val="50000"/>
                </a:srgb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1544877" y="-7307"/>
            <a:ext cx="9123123" cy="9217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D0D0D"/>
                </a:solidFill>
                <a:latin typeface="Tw Cen MT"/>
                <a:cs typeface="FreesiaUPC" panose="020B0604020202020204" pitchFamily="34" charset="-34"/>
              </a:defRPr>
            </a:lvl9pPr>
          </a:lstStyle>
          <a:p>
            <a:r>
              <a:rPr lang="en-US" dirty="0"/>
              <a:t>GLCM - descriptors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DD8047">
                    <a:lumMod val="50000"/>
                  </a:srgbClr>
                </a:solidFill>
              </a:rPr>
              <a:t>Prof. Dr. SMM Ahsan, CSE, KUET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21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5704C-CF16-B033-C30C-7C121C316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579"/>
          <a:stretch/>
        </p:blipFill>
        <p:spPr>
          <a:xfrm>
            <a:off x="2286001" y="914401"/>
            <a:ext cx="5314951" cy="592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91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1007</Words>
  <Application>Microsoft Office PowerPoint</Application>
  <PresentationFormat>Widescreen</PresentationFormat>
  <Paragraphs>228</Paragraphs>
  <Slides>21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Courier New</vt:lpstr>
      <vt:lpstr>Palatino Linotype</vt:lpstr>
      <vt:lpstr>Times New Roman</vt:lpstr>
      <vt:lpstr>Wingdings</vt:lpstr>
      <vt:lpstr>Office Theme</vt:lpstr>
      <vt:lpstr>PowerPoint Presentation</vt:lpstr>
      <vt:lpstr>Region Descriptors</vt:lpstr>
      <vt:lpstr>Region Descriptors</vt:lpstr>
      <vt:lpstr> </vt:lpstr>
      <vt:lpstr>Classwork</vt:lpstr>
      <vt:lpstr>Erosion</vt:lpstr>
      <vt:lpstr>Erosion</vt:lpstr>
      <vt:lpstr>Parameters</vt:lpstr>
      <vt:lpstr>Parameters</vt:lpstr>
      <vt:lpstr>Parameters</vt:lpstr>
      <vt:lpstr>Similarity Measure</vt:lpstr>
      <vt:lpstr>Show as table</vt:lpstr>
      <vt:lpstr>PowerPoint Presentation</vt:lpstr>
      <vt:lpstr>Assignment</vt:lpstr>
      <vt:lpstr>Example input images</vt:lpstr>
      <vt:lpstr>Assignment</vt:lpstr>
      <vt:lpstr>PowerPoint Presentation</vt:lpstr>
      <vt:lpstr>Gray level Co-occurrence Matrix</vt:lpstr>
      <vt:lpstr>PowerPoint Presentation</vt:lpstr>
      <vt:lpstr>Gray level Co-occurrence Matrix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Efty Hasan</cp:lastModifiedBy>
  <cp:revision>135</cp:revision>
  <dcterms:created xsi:type="dcterms:W3CDTF">2022-03-22T12:35:29Z</dcterms:created>
  <dcterms:modified xsi:type="dcterms:W3CDTF">2025-10-05T12:05:58Z</dcterms:modified>
</cp:coreProperties>
</file>