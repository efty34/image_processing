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337" r:id="rId6"/>
    <p:sldId id="340" r:id="rId7"/>
    <p:sldId id="338" r:id="rId8"/>
    <p:sldId id="341" r:id="rId9"/>
    <p:sldId id="342" r:id="rId10"/>
    <p:sldId id="339" r:id="rId11"/>
    <p:sldId id="326" r:id="rId12"/>
    <p:sldId id="334" r:id="rId13"/>
    <p:sldId id="336" r:id="rId14"/>
    <p:sldId id="33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 B" initials="DB" lastIdx="1" clrIdx="0">
    <p:extLst>
      <p:ext uri="{19B8F6BF-5375-455C-9EA6-DF929625EA0E}">
        <p15:presenceInfo xmlns:p15="http://schemas.microsoft.com/office/powerpoint/2012/main" userId="be7cc1e3f95ddc1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77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62B01-2A7D-4FCD-893E-691CBB10D9B3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DE6A5-FBE1-4F6D-9ADD-9247684B1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84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98E9E-D7FD-4BFD-9F36-5832944C3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65632-1B0D-4D80-BA75-704D36108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3EC5-59EC-4A01-B7E8-B9F3E505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6B3A9A-4A5E-486C-A5E8-5ED49DE38C2E}" type="datetime1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96B6-7347-4CFA-910F-53296574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70DFE-FD95-4946-86D9-3E44DA56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FA7C37-845A-4C38-B4AC-8817F85C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52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69A2-CEBE-4CC5-8F59-6D0E8B65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47" y="365125"/>
            <a:ext cx="11102787" cy="6030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5821D-E987-45CF-9600-6A7CE519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92306"/>
            <a:ext cx="11102787" cy="49846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C24F5-CDCC-4898-BC34-0461DAEA65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53C68F-13DA-420E-A9E4-EFE60EDC97AD}" type="datetime1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3C900-16D0-4A79-8027-31C24907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F5BCC-37C3-44FD-AD27-C082D272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FA7C37-845A-4C38-B4AC-8817F85CDC8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4F0070-A64B-414B-971B-15C25F834254}"/>
              </a:ext>
            </a:extLst>
          </p:cNvPr>
          <p:cNvSpPr/>
          <p:nvPr userDrawn="1"/>
        </p:nvSpPr>
        <p:spPr>
          <a:xfrm>
            <a:off x="775447" y="1013012"/>
            <a:ext cx="10578353" cy="1244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75000"/>
                </a:schemeClr>
              </a:gs>
              <a:gs pos="83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10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E3334-B7FE-4937-8BE1-DB6DC370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ADABA-8952-4501-9543-A13CF63EB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D0C59-35AD-4DE3-9081-21AE7EB7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324C9D-B409-4CD3-9E89-E6DE3024E11F}" type="datetime1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EFD3E-7CCA-4F7B-A0B8-ED0CA5285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45327-1321-43DD-BD0B-90B126F8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FA7C37-845A-4C38-B4AC-8817F85C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16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724D2-9B78-4D01-BB3D-5D756257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05160-B742-4A07-BA1E-A7B8A9FBA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55918-07C8-4880-96EA-5A8B9DD41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19291-F753-45FD-ABBC-F938BC30B3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8C1ECE9-6716-4F41-BBC6-373626E0128B}" type="datetime1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B2C6B-ABAC-4741-BD00-5D228427D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AADCD-AAE6-455B-918F-6AF8CFC3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FA7C37-845A-4C38-B4AC-8817F85C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DF02-4F86-4887-BB96-0413C29EE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DAB13-B5E8-44A1-92A5-61C85901C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F3295-D098-4493-ABB4-DC6ED37C8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F3E06-3DF1-4062-B945-2F4F01E20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3B066-D3AF-467E-99B9-EB61AA3F59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90F8BB-4808-47DA-BE7A-509152081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7E2CAA-4131-4E92-8B31-0F9436BA10E0}" type="datetime1">
              <a:rPr lang="en-US" smtClean="0"/>
              <a:t>2/28/2024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BAA8F-4731-4907-9517-9212EEEF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61D59-67CD-4DF4-BDD5-CC06C675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FA7C37-845A-4C38-B4AC-8817F85C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1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98A8-640B-43F4-BF19-AC2F43CA6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DC8C2-12BF-4D97-8C65-950CDC36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7BABE0-09B2-47DA-AC23-C4E48DD83541}" type="datetime1">
              <a:rPr lang="en-US" smtClean="0"/>
              <a:t>2/28/2024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06565-8B70-4801-BDC9-AEC7A0A2F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ABF57-4EDE-4E3E-B11C-93C6A55B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FA7C37-845A-4C38-B4AC-8817F85C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16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D4F5DC-5683-492A-97CA-BA15051630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FE1E51-58D0-4D02-B277-6339638A347A}" type="datetime1">
              <a:rPr lang="en-US" smtClean="0"/>
              <a:t>2/28/2024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A587D0-B052-4C77-8171-98476F4F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4EF9A-DDDD-4344-9D2A-41606034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FA7C37-845A-4C38-B4AC-8817F85C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1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15BC-4DDF-41DF-942B-878FD0263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8F671-86F8-4CA0-A34C-320311180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9C66B-4760-4234-A5E6-AFE88529F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3EC1A-F458-40FA-9737-19D2B7169D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97D583-C54D-4687-ACE2-EA82E4A1350F}" type="datetime1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43EF5-DDCD-4949-8DD8-C3164B36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00BF6-08D0-4745-8651-65FBC8BC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FA7C37-845A-4C38-B4AC-8817F85C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00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BE21-DFCD-43A1-A410-D91F1B588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9AC48D-432C-4A45-AC3C-51050B39F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85BDC-9AFB-42C2-8D4B-1231CCEFE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85494-76B3-4256-9DA1-C91F4079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4DC52B-4111-4BEF-BBAD-C41EFBAAA5F9}" type="datetime1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CE3E0-6355-48BA-A084-227939DC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8D296-84EB-424F-B904-42EAB7AF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FA7C37-845A-4C38-B4AC-8817F85C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7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DF78E-F722-4AF7-83FF-83BEA0A43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A96F9-CBF9-4FF1-BB4D-A23F0D404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0247A-515E-4719-A09C-3B9C380A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F9491-7C66-493B-89FA-22DB0BA1E43D}" type="datetime1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EAD10-565E-4EF6-BB9F-D9E397DCD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718B1-FD8C-4A20-A4C9-22AB7AE6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FA7C37-845A-4C38-B4AC-8817F85C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7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382F8E-AC3C-47CB-BEA9-8D84693F0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EC697-6389-4555-A19A-3534AFFB8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3B167-4D05-4550-AA04-EAFDEA02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D8F073-04DC-4EAB-A5E6-CB097B16D766}" type="datetime1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0124D-A01D-4526-ADEF-8EBE9285E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E4C0C-37D7-4CC2-A82C-2CA698D79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FA7C37-845A-4C38-B4AC-8817F85C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5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01CFDD-EAFB-490C-B209-D12396DA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A10B-7815-4C64-B67C-AD835687F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E7AB2-A1A0-4185-B38B-A90463D62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48BB1-C3D7-4DA3-80F2-5FD2E95BE96E}" type="datetime1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ACE89-BEAD-476D-B1C1-612EBDFE47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613D3-5119-4D8F-9C21-B12A73D91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A7C37-845A-4C38-B4AC-8817F85C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7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1B203-443F-4742-86A6-FBA12E250F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spcAft>
                <a:spcPts val="3600"/>
              </a:spcAft>
            </a:pPr>
            <a:r>
              <a:rPr lang="en-US" sz="4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CSE 4128</a:t>
            </a:r>
            <a:br>
              <a:rPr lang="en-US" sz="4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Computer Vision </a:t>
            </a:r>
            <a:br>
              <a:rPr lang="en-US" sz="32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  <a:br>
              <a:rPr lang="en-US" sz="32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u="sng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 2: Segmentation(Edge Detection)</a:t>
            </a:r>
            <a:endParaRPr lang="en-US" sz="3200" u="sng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DD8FD-2821-4231-AF06-08CB9AA0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7C37-845A-4C38-B4AC-8817F85CDC8B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1F26B-27B5-4834-A3BA-0BBFD194CBD5}"/>
              </a:ext>
            </a:extLst>
          </p:cNvPr>
          <p:cNvSpPr txBox="1"/>
          <p:nvPr/>
        </p:nvSpPr>
        <p:spPr>
          <a:xfrm>
            <a:off x="2117881" y="4087894"/>
            <a:ext cx="36168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Dr. Sk. Md. </a:t>
            </a:r>
            <a:r>
              <a:rPr lang="en-US" sz="2400" b="1" dirty="0" err="1"/>
              <a:t>Masudul</a:t>
            </a:r>
            <a:r>
              <a:rPr lang="en-US" sz="2400" b="1" dirty="0"/>
              <a:t> Ahsan</a:t>
            </a:r>
          </a:p>
          <a:p>
            <a:r>
              <a:rPr lang="en-US" sz="2400" dirty="0"/>
              <a:t>Professor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721F4-58B5-4C68-ABC1-896CFBE4DE54}"/>
              </a:ext>
            </a:extLst>
          </p:cNvPr>
          <p:cNvSpPr txBox="1"/>
          <p:nvPr/>
        </p:nvSpPr>
        <p:spPr>
          <a:xfrm>
            <a:off x="7061514" y="4087894"/>
            <a:ext cx="25177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Dipannita</a:t>
            </a:r>
            <a:r>
              <a:rPr lang="en-US" sz="2400" b="1" dirty="0"/>
              <a:t> Biswas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</p:spTree>
    <p:extLst>
      <p:ext uri="{BB962C8B-B14F-4D97-AF65-F5344CB8AC3E}">
        <p14:creationId xmlns:p14="http://schemas.microsoft.com/office/powerpoint/2010/main" val="4085910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E508-5D1D-4F10-9C71-B8078504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F8077-EA3A-4D9C-BCFD-2EE4F01C28E6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Segmentation subdivides an image into its constituent regions or objects.</a:t>
            </a:r>
          </a:p>
          <a:p>
            <a:r>
              <a:rPr lang="en-US" dirty="0"/>
              <a:t>Separating objects from the background and giving them individual labels(ID numbers)</a:t>
            </a:r>
          </a:p>
          <a:p>
            <a:r>
              <a:rPr lang="en-IE" altLang="en-US" dirty="0"/>
              <a:t>Segmentation attempts to partition the pixels of an image into groups that strongly correlate with the objects in an image</a:t>
            </a:r>
          </a:p>
          <a:p>
            <a:endParaRPr lang="en-US" dirty="0"/>
          </a:p>
        </p:txBody>
      </p:sp>
      <p:pic>
        <p:nvPicPr>
          <p:cNvPr id="18" name="Picture 7">
            <a:extLst>
              <a:ext uri="{FF2B5EF4-FFF2-40B4-BE49-F238E27FC236}">
                <a16:creationId xmlns:a16="http://schemas.microsoft.com/office/drawing/2014/main" id="{862FDEB2-0F0C-4F83-BCBC-B10347924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159" y="3819548"/>
            <a:ext cx="306705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1C13CBD-9E9F-454E-97DF-9BD8ACF05831}"/>
              </a:ext>
            </a:extLst>
          </p:cNvPr>
          <p:cNvGrpSpPr>
            <a:grpSpLocks/>
          </p:cNvGrpSpPr>
          <p:nvPr/>
        </p:nvGrpSpPr>
        <p:grpSpPr bwMode="auto">
          <a:xfrm>
            <a:off x="6694129" y="3733543"/>
            <a:ext cx="3067050" cy="2476500"/>
            <a:chOff x="3463" y="2578"/>
            <a:chExt cx="1932" cy="1560"/>
          </a:xfrm>
        </p:grpSpPr>
        <p:pic>
          <p:nvPicPr>
            <p:cNvPr id="20" name="Picture 8">
              <a:extLst>
                <a:ext uri="{FF2B5EF4-FFF2-40B4-BE49-F238E27FC236}">
                  <a16:creationId xmlns:a16="http://schemas.microsoft.com/office/drawing/2014/main" id="{D61DF4B4-1067-49F6-A93E-3DBCAC0469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3" y="2578"/>
              <a:ext cx="1932" cy="1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77E62813-1B46-4CB5-AF66-451ACD69A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4" y="2720"/>
              <a:ext cx="1884" cy="138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235075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43063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sz="1800"/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9CC9DFA2-DA30-4326-813E-533CCCE0A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6" y="2812"/>
              <a:ext cx="328" cy="3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235075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43063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sz="1800"/>
            </a:p>
          </p:txBody>
        </p:sp>
        <p:sp>
          <p:nvSpPr>
            <p:cNvPr id="23" name="Oval 10">
              <a:extLst>
                <a:ext uri="{FF2B5EF4-FFF2-40B4-BE49-F238E27FC236}">
                  <a16:creationId xmlns:a16="http://schemas.microsoft.com/office/drawing/2014/main" id="{7069EABC-D55B-46B3-BB26-AE7614ED0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" y="3292"/>
              <a:ext cx="224" cy="2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235075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43063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sz="1800"/>
            </a:p>
          </p:txBody>
        </p:sp>
        <p:sp>
          <p:nvSpPr>
            <p:cNvPr id="24" name="Oval 11">
              <a:extLst>
                <a:ext uri="{FF2B5EF4-FFF2-40B4-BE49-F238E27FC236}">
                  <a16:creationId xmlns:a16="http://schemas.microsoft.com/office/drawing/2014/main" id="{4A16AF4A-3FEF-4F8F-B339-74E071D87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532"/>
              <a:ext cx="336" cy="336"/>
            </a:xfrm>
            <a:prstGeom prst="ellipse">
              <a:avLst/>
            </a:prstGeom>
            <a:solidFill>
              <a:srgbClr val="F6A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235075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43063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sz="1800"/>
            </a:p>
          </p:txBody>
        </p:sp>
        <p:sp>
          <p:nvSpPr>
            <p:cNvPr id="25" name="Oval 12">
              <a:extLst>
                <a:ext uri="{FF2B5EF4-FFF2-40B4-BE49-F238E27FC236}">
                  <a16:creationId xmlns:a16="http://schemas.microsoft.com/office/drawing/2014/main" id="{C74A4910-ABAB-43F9-A459-A2D065446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3604"/>
              <a:ext cx="344" cy="3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235075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43063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sz="1800"/>
            </a:p>
          </p:txBody>
        </p:sp>
        <p:sp>
          <p:nvSpPr>
            <p:cNvPr id="26" name="Oval 13">
              <a:extLst>
                <a:ext uri="{FF2B5EF4-FFF2-40B4-BE49-F238E27FC236}">
                  <a16:creationId xmlns:a16="http://schemas.microsoft.com/office/drawing/2014/main" id="{A7C61B24-CA58-4F32-8CA0-3463D2881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4" y="3116"/>
              <a:ext cx="332" cy="332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235075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43063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sz="1800"/>
            </a:p>
          </p:txBody>
        </p:sp>
        <p:sp>
          <p:nvSpPr>
            <p:cNvPr id="27" name="Oval 14">
              <a:extLst>
                <a:ext uri="{FF2B5EF4-FFF2-40B4-BE49-F238E27FC236}">
                  <a16:creationId xmlns:a16="http://schemas.microsoft.com/office/drawing/2014/main" id="{6529FEEC-F0A7-4279-92B0-802A26F47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2" y="3180"/>
              <a:ext cx="284" cy="284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235075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43063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sz="1800"/>
            </a:p>
          </p:txBody>
        </p:sp>
        <p:sp>
          <p:nvSpPr>
            <p:cNvPr id="28" name="Oval 15">
              <a:extLst>
                <a:ext uri="{FF2B5EF4-FFF2-40B4-BE49-F238E27FC236}">
                  <a16:creationId xmlns:a16="http://schemas.microsoft.com/office/drawing/2014/main" id="{59B9F148-9070-4B22-A1C2-CC7B6C5EA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2796"/>
              <a:ext cx="276" cy="276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235075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43063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sz="1800"/>
            </a:p>
          </p:txBody>
        </p:sp>
        <p:sp>
          <p:nvSpPr>
            <p:cNvPr id="29" name="Oval 16">
              <a:extLst>
                <a:ext uri="{FF2B5EF4-FFF2-40B4-BE49-F238E27FC236}">
                  <a16:creationId xmlns:a16="http://schemas.microsoft.com/office/drawing/2014/main" id="{583F41AE-7CC3-4494-B465-C85993B65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4" y="3512"/>
              <a:ext cx="280" cy="280"/>
            </a:xfrm>
            <a:prstGeom prst="ellipse">
              <a:avLst/>
            </a:prstGeom>
            <a:solidFill>
              <a:srgbClr val="F5C1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235075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43063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sz="1800"/>
            </a:p>
          </p:txBody>
        </p:sp>
      </p:grpSp>
      <p:sp>
        <p:nvSpPr>
          <p:cNvPr id="30" name="AutoShape 19">
            <a:extLst>
              <a:ext uri="{FF2B5EF4-FFF2-40B4-BE49-F238E27FC236}">
                <a16:creationId xmlns:a16="http://schemas.microsoft.com/office/drawing/2014/main" id="{C9E4102F-52E8-4449-BB9C-D38B9BEE7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809" y="4694261"/>
            <a:ext cx="1701800" cy="730250"/>
          </a:xfrm>
          <a:prstGeom prst="rightArrow">
            <a:avLst>
              <a:gd name="adj1" fmla="val 50000"/>
              <a:gd name="adj2" fmla="val 58261"/>
            </a:avLst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235075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43063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55A868AE-BA4C-4877-A408-221A57816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7C37-845A-4C38-B4AC-8817F85CDC8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03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F88AA-5225-47B9-8D60-C50280CDF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Edge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3411A-2F5E-4169-B0C2-3C02E3F01526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It is most frequently used for segmenting images based on abrupt(local) changes in intensity. It centers around contour detection.</a:t>
            </a:r>
          </a:p>
          <a:p>
            <a:r>
              <a:rPr lang="en-IE" altLang="en-US" dirty="0"/>
              <a:t>An edge is a set of connected pixels that lie on the boundary between two regions</a:t>
            </a:r>
            <a:endParaRPr lang="en-US" dirty="0"/>
          </a:p>
          <a:p>
            <a:r>
              <a:rPr lang="en-US" dirty="0"/>
              <a:t>Edge models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F6FB82-B085-4AC2-AA87-96D94FB48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782" y="3799321"/>
            <a:ext cx="6916435" cy="293827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66010-93BE-41F7-8C71-5C128C559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7C37-845A-4C38-B4AC-8817F85CDC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6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313BD0D6-8C40-4825-9542-EF1943E7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Edge and Derivatives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6D3F0-8812-40C3-9700-3C2C2A074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615" y="1192213"/>
            <a:ext cx="4377466" cy="498465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Derivatives are used </a:t>
            </a:r>
          </a:p>
          <a:p>
            <a:pPr marL="0" indent="0">
              <a:buNone/>
            </a:pPr>
            <a:r>
              <a:rPr lang="en-US" dirty="0"/>
              <a:t>   to find discontinuities.</a:t>
            </a:r>
          </a:p>
          <a:p>
            <a:r>
              <a:rPr lang="en-US" dirty="0"/>
              <a:t>1st derivative tells us </a:t>
            </a:r>
          </a:p>
          <a:p>
            <a:pPr marL="0" indent="0">
              <a:buNone/>
            </a:pPr>
            <a:r>
              <a:rPr lang="en-US" dirty="0"/>
              <a:t>   where an edge is.</a:t>
            </a:r>
          </a:p>
          <a:p>
            <a:r>
              <a:rPr lang="en-IE" altLang="en-US" dirty="0"/>
              <a:t>2</a:t>
            </a:r>
            <a:r>
              <a:rPr lang="en-IE" altLang="en-US" baseline="30000" dirty="0"/>
              <a:t>nd</a:t>
            </a:r>
            <a:r>
              <a:rPr lang="en-IE" altLang="en-US" dirty="0"/>
              <a:t> derivative can</a:t>
            </a:r>
            <a:br>
              <a:rPr lang="en-IE" altLang="en-US" dirty="0"/>
            </a:br>
            <a:r>
              <a:rPr lang="en-IE" altLang="en-US" dirty="0"/>
              <a:t>be used to show </a:t>
            </a:r>
            <a:br>
              <a:rPr lang="en-IE" altLang="en-US" dirty="0"/>
            </a:br>
            <a:r>
              <a:rPr lang="en-IE" altLang="en-US" dirty="0"/>
              <a:t>edge side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E1B002-E075-44CE-9496-CFC6DE2C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736" y="6356350"/>
            <a:ext cx="1167063" cy="365292"/>
          </a:xfrm>
        </p:spPr>
        <p:txBody>
          <a:bodyPr/>
          <a:lstStyle/>
          <a:p>
            <a:fld id="{F2FA7C37-845A-4C38-B4AC-8817F85CDC8B}" type="slidenum">
              <a:rPr lang="en-US" smtClean="0"/>
              <a:t>4</a:t>
            </a:fld>
            <a:endParaRPr lang="en-US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C2878651-86B9-46A3-BC5E-D127E7365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83"/>
          <a:stretch>
            <a:fillRect/>
          </a:stretch>
        </p:blipFill>
        <p:spPr bwMode="auto">
          <a:xfrm>
            <a:off x="8048670" y="1152525"/>
            <a:ext cx="2528888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Line 9">
            <a:extLst>
              <a:ext uri="{FF2B5EF4-FFF2-40B4-BE49-F238E27FC236}">
                <a16:creationId xmlns:a16="http://schemas.microsoft.com/office/drawing/2014/main" id="{473A9B11-A4B9-4151-91E2-0B2AB18393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46920" y="1192213"/>
            <a:ext cx="0" cy="3003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7D2AC0E4-6F38-44E3-9036-66601A92C0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27870" y="1206500"/>
            <a:ext cx="2605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8" name="Picture 8">
            <a:extLst>
              <a:ext uri="{FF2B5EF4-FFF2-40B4-BE49-F238E27FC236}">
                <a16:creationId xmlns:a16="http://schemas.microsoft.com/office/drawing/2014/main" id="{29E89A20-4790-40EE-A0E9-0DD1EDAB6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0" t="3595" r="42720" b="49710"/>
          <a:stretch>
            <a:fillRect/>
          </a:stretch>
        </p:blipFill>
        <p:spPr bwMode="auto">
          <a:xfrm>
            <a:off x="5427707" y="3932238"/>
            <a:ext cx="2670175" cy="255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000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3BAC-26D7-42EC-AD7D-79A451A1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Segmentation with Edge Detection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65220D-6753-47B2-B51B-2F42D7E04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1478" y="3917799"/>
            <a:ext cx="2867377" cy="285559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3FE43-97E2-46D9-B6D7-8A23C9F5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7C37-845A-4C38-B4AC-8817F85CDC8B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D47E15-4F04-448B-8AA4-3450B73F6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551" y="1020390"/>
            <a:ext cx="2838661" cy="28555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F36C6A-AC13-44F2-AD8B-6519018188E6}"/>
              </a:ext>
            </a:extLst>
          </p:cNvPr>
          <p:cNvSpPr txBox="1"/>
          <p:nvPr/>
        </p:nvSpPr>
        <p:spPr>
          <a:xfrm>
            <a:off x="433045" y="2917122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D6877-0C6C-46C3-8781-3D8D4755DBE2}"/>
              </a:ext>
            </a:extLst>
          </p:cNvPr>
          <p:cNvSpPr txBox="1"/>
          <p:nvPr/>
        </p:nvSpPr>
        <p:spPr>
          <a:xfrm>
            <a:off x="3974989" y="6168878"/>
            <a:ext cx="3716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Convolving with </a:t>
            </a:r>
            <a:r>
              <a:rPr lang="en-US" dirty="0" err="1"/>
              <a:t>LoG</a:t>
            </a:r>
            <a:r>
              <a:rPr lang="en-US" dirty="0"/>
              <a:t> kernel with Sigma = 1, kernel size= 7X7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27A74C-40A3-4EAA-975D-77B4C6975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4512" y="1251514"/>
            <a:ext cx="3632334" cy="36683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61F9F4-94D6-47A4-BE35-655C34EE0F2F}"/>
              </a:ext>
            </a:extLst>
          </p:cNvPr>
          <p:cNvSpPr txBox="1"/>
          <p:nvPr/>
        </p:nvSpPr>
        <p:spPr>
          <a:xfrm>
            <a:off x="5334937" y="4858673"/>
            <a:ext cx="230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Applying Zero-crossing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D638EC2-FEBA-44CE-B27D-0215A7B16ED6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625167" y="3737036"/>
            <a:ext cx="8550" cy="180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763F9CB-25E5-4622-8CA9-93808C53E3CD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4058855" y="3085699"/>
            <a:ext cx="495657" cy="2259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D0E5A58-020E-4EDD-9272-4F29DE2E64BD}"/>
              </a:ext>
            </a:extLst>
          </p:cNvPr>
          <p:cNvSpPr txBox="1"/>
          <p:nvPr/>
        </p:nvSpPr>
        <p:spPr>
          <a:xfrm>
            <a:off x="9135034" y="4873124"/>
            <a:ext cx="2291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Applying thresholding </a:t>
            </a:r>
          </a:p>
          <a:p>
            <a:r>
              <a:rPr lang="en-US" dirty="0"/>
              <a:t>(local sigma &gt;60)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6943D08-D22C-4F30-B0AA-F6619E7FF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7092" y="1254743"/>
            <a:ext cx="3653591" cy="360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09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838A-447F-4B79-82D5-6D90DC7BD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Robust Laplacian-based Edge Detector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42967-7974-4F5B-BE8D-E7734B4B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7C37-845A-4C38-B4AC-8817F85CDC8B}" type="slidenum">
              <a:rPr lang="en-US" smtClean="0"/>
              <a:t>6</a:t>
            </a:fld>
            <a:endParaRPr lang="en-US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18FE86B-253F-4C4A-AD02-4AC9A4612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994" y="3398520"/>
            <a:ext cx="1241044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latin typeface="Times New Roman" panose="02020603050405020304" pitchFamily="18" charset="0"/>
              </a:rPr>
              <a:t>LoG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operator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AFFC75FE-F5AB-4316-B370-75CF3BFCE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6860" y="381444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FAC1A2E1-3912-4557-87E7-3FE21BEAA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8060" y="381444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9980635E-49FB-4C1F-8644-A435B3658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3560" y="3509645"/>
            <a:ext cx="927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image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444DD99D-ACD5-4765-93D3-1DF884E35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1948" y="3398520"/>
            <a:ext cx="1344612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zero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crossing?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80D87CC6-67D6-45E6-A73E-48F984B0F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6560" y="381444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2043C67C-2E1C-4AEB-B744-BA5C21EA91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08960" y="248412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EA8E4DEF-83AD-4EB6-BF80-E792109F8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8048" y="2026920"/>
            <a:ext cx="1890712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estimate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local variance</a:t>
            </a: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6FFBF303-87C3-4A36-AB56-9AF055FE8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8960" y="248412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D1691262-A6D0-4FF7-8578-9C27DA7A2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3148" y="3541395"/>
            <a:ext cx="88741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th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A788C5CD-C1F2-4228-AD17-EFF4C71C7B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4160" y="248412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15AFCAF4-D536-4491-993F-62CC0C9541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3360" y="248412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A7C0DAB3-A47D-42A1-B5FF-357BCDD71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5260" y="2103120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7A0D39F8-B4F8-4468-B934-490653093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0760" y="423672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0B1FA885-01EA-4B8C-A997-35C929B2703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0560" y="377952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0A6393EA-A827-4392-BFE4-0B54653347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3360" y="400812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D3D66A5B-A537-4810-8B74-D433EFD8C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1160" y="4658995"/>
            <a:ext cx="14605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not an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edge point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EB9B62E7-0DDB-46A7-A99D-6C8A540E3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885" y="4201795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AA1BD9F3-31ED-4345-89B1-2858803D2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7085" y="3363595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0D3083BA-8ABC-4CB2-AE79-BF462E336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7160" y="400812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3F5B6CDD-1219-4A0A-821A-F7750782B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7560" y="4465320"/>
            <a:ext cx="14605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not an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edge point</a:t>
            </a: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5D7D2404-CA03-4E00-8751-665BC891B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3960" y="3322320"/>
            <a:ext cx="8858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edge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point</a:t>
            </a:r>
          </a:p>
        </p:txBody>
      </p:sp>
    </p:spTree>
    <p:extLst>
      <p:ext uri="{BB962C8B-B14F-4D97-AF65-F5344CB8AC3E}">
        <p14:creationId xmlns:p14="http://schemas.microsoft.com/office/powerpoint/2010/main" val="350256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5356-AA0A-4E79-B31D-7D5E37A6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altLang="en-US" dirty="0"/>
              <a:t>Laplacian Of Gaussian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9A663-0B13-4AF4-ACDC-0EB7FB59B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altLang="en-US" dirty="0"/>
              <a:t>The Laplacian of Gaussian (or Mexican hat) filter uses the Gaussian for noise removal and the Laplacian for edge detection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can also be performed by smoothing with a Gaussian kernel and then taking its Laplace, we can obtain the Laplacian of the Gaussian kernel.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CF2A8-7167-4E59-BE75-EE06D58C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7C37-845A-4C38-B4AC-8817F85CDC8B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7AA2594-B9AD-4091-95CD-2CF7F59C20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691793"/>
              </p:ext>
            </p:extLst>
          </p:nvPr>
        </p:nvGraphicFramePr>
        <p:xfrm>
          <a:off x="2286000" y="2109992"/>
          <a:ext cx="38100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482400" progId="Equation.3">
                  <p:embed/>
                </p:oleObj>
              </mc:Choice>
              <mc:Fallback>
                <p:oleObj name="Equation" r:id="rId2" imgW="1942920" imgH="48240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6000" y="2109992"/>
                        <a:ext cx="3810000" cy="94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9">
            <a:extLst>
              <a:ext uri="{FF2B5EF4-FFF2-40B4-BE49-F238E27FC236}">
                <a16:creationId xmlns:a16="http://schemas.microsoft.com/office/drawing/2014/main" id="{0BD7C374-9B4F-44B5-A596-5BE1F5062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t="48672" r="55765"/>
          <a:stretch>
            <a:fillRect/>
          </a:stretch>
        </p:blipFill>
        <p:spPr bwMode="auto">
          <a:xfrm>
            <a:off x="8976601" y="1579989"/>
            <a:ext cx="2011197" cy="1800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7A7028-2D88-4E2E-B5FE-2F98E30B0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164" y="2176112"/>
            <a:ext cx="5188287" cy="10206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9C627C-783F-4A81-8387-3B81C4D005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5868" y="4554950"/>
            <a:ext cx="2100264" cy="9025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9DF296-459B-4E40-AAFF-D723C16CBC9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43"/>
          <a:stretch/>
        </p:blipFill>
        <p:spPr>
          <a:xfrm>
            <a:off x="4612342" y="5363679"/>
            <a:ext cx="4722219" cy="9025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AB50B2-C1F8-4161-BDDC-10E25240D628}"/>
              </a:ext>
            </a:extLst>
          </p:cNvPr>
          <p:cNvSpPr txBox="1"/>
          <p:nvPr/>
        </p:nvSpPr>
        <p:spPr>
          <a:xfrm>
            <a:off x="3227293" y="4751878"/>
            <a:ext cx="1515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Laplacian:</a:t>
            </a:r>
          </a:p>
          <a:p>
            <a:endParaRPr lang="en-US" sz="2400" dirty="0"/>
          </a:p>
          <a:p>
            <a:r>
              <a:rPr lang="en-US" sz="2400" dirty="0"/>
              <a:t>Gaussian:</a:t>
            </a:r>
          </a:p>
        </p:txBody>
      </p:sp>
    </p:spTree>
    <p:extLst>
      <p:ext uri="{BB962C8B-B14F-4D97-AF65-F5344CB8AC3E}">
        <p14:creationId xmlns:p14="http://schemas.microsoft.com/office/powerpoint/2010/main" val="4236701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7342-EFB3-4488-8F8B-97136014E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Zero crossing and Thresholding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DEF5534-8A02-4998-A03E-DD2F54384E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0580976"/>
              </p:ext>
            </p:extLst>
          </p:nvPr>
        </p:nvGraphicFramePr>
        <p:xfrm>
          <a:off x="1240866" y="2669540"/>
          <a:ext cx="2703605" cy="22789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40721">
                  <a:extLst>
                    <a:ext uri="{9D8B030D-6E8A-4147-A177-3AD203B41FA5}">
                      <a16:colId xmlns:a16="http://schemas.microsoft.com/office/drawing/2014/main" val="2202301545"/>
                    </a:ext>
                  </a:extLst>
                </a:gridCol>
                <a:gridCol w="540721">
                  <a:extLst>
                    <a:ext uri="{9D8B030D-6E8A-4147-A177-3AD203B41FA5}">
                      <a16:colId xmlns:a16="http://schemas.microsoft.com/office/drawing/2014/main" val="3022002689"/>
                    </a:ext>
                  </a:extLst>
                </a:gridCol>
                <a:gridCol w="540721">
                  <a:extLst>
                    <a:ext uri="{9D8B030D-6E8A-4147-A177-3AD203B41FA5}">
                      <a16:colId xmlns:a16="http://schemas.microsoft.com/office/drawing/2014/main" val="588795326"/>
                    </a:ext>
                  </a:extLst>
                </a:gridCol>
                <a:gridCol w="540721">
                  <a:extLst>
                    <a:ext uri="{9D8B030D-6E8A-4147-A177-3AD203B41FA5}">
                      <a16:colId xmlns:a16="http://schemas.microsoft.com/office/drawing/2014/main" val="996983029"/>
                    </a:ext>
                  </a:extLst>
                </a:gridCol>
                <a:gridCol w="540721">
                  <a:extLst>
                    <a:ext uri="{9D8B030D-6E8A-4147-A177-3AD203B41FA5}">
                      <a16:colId xmlns:a16="http://schemas.microsoft.com/office/drawing/2014/main" val="3097991215"/>
                    </a:ext>
                  </a:extLst>
                </a:gridCol>
              </a:tblGrid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97618"/>
                  </a:ext>
                </a:extLst>
              </a:tr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483377"/>
                  </a:ext>
                </a:extLst>
              </a:tr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760743"/>
                  </a:ext>
                </a:extLst>
              </a:tr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229300"/>
                  </a:ext>
                </a:extLst>
              </a:tr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4890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C4EF4-FE05-4855-AD4A-CBAE8E1D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7C37-845A-4C38-B4AC-8817F85CDC8B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19C8DFF-77D7-4D65-904D-683C0B577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70942"/>
              </p:ext>
            </p:extLst>
          </p:nvPr>
        </p:nvGraphicFramePr>
        <p:xfrm>
          <a:off x="5039659" y="2676563"/>
          <a:ext cx="2859740" cy="22789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1948">
                  <a:extLst>
                    <a:ext uri="{9D8B030D-6E8A-4147-A177-3AD203B41FA5}">
                      <a16:colId xmlns:a16="http://schemas.microsoft.com/office/drawing/2014/main" val="2497088007"/>
                    </a:ext>
                  </a:extLst>
                </a:gridCol>
                <a:gridCol w="571948">
                  <a:extLst>
                    <a:ext uri="{9D8B030D-6E8A-4147-A177-3AD203B41FA5}">
                      <a16:colId xmlns:a16="http://schemas.microsoft.com/office/drawing/2014/main" val="524331800"/>
                    </a:ext>
                  </a:extLst>
                </a:gridCol>
                <a:gridCol w="571948">
                  <a:extLst>
                    <a:ext uri="{9D8B030D-6E8A-4147-A177-3AD203B41FA5}">
                      <a16:colId xmlns:a16="http://schemas.microsoft.com/office/drawing/2014/main" val="3753666947"/>
                    </a:ext>
                  </a:extLst>
                </a:gridCol>
                <a:gridCol w="571948">
                  <a:extLst>
                    <a:ext uri="{9D8B030D-6E8A-4147-A177-3AD203B41FA5}">
                      <a16:colId xmlns:a16="http://schemas.microsoft.com/office/drawing/2014/main" val="747018000"/>
                    </a:ext>
                  </a:extLst>
                </a:gridCol>
                <a:gridCol w="571948">
                  <a:extLst>
                    <a:ext uri="{9D8B030D-6E8A-4147-A177-3AD203B41FA5}">
                      <a16:colId xmlns:a16="http://schemas.microsoft.com/office/drawing/2014/main" val="482167128"/>
                    </a:ext>
                  </a:extLst>
                </a:gridCol>
              </a:tblGrid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928263"/>
                  </a:ext>
                </a:extLst>
              </a:tr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28693"/>
                  </a:ext>
                </a:extLst>
              </a:tr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664654"/>
                  </a:ext>
                </a:extLst>
              </a:tr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645248"/>
                  </a:ext>
                </a:extLst>
              </a:tr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546077"/>
                  </a:ext>
                </a:extLst>
              </a:tr>
            </a:tbl>
          </a:graphicData>
        </a:graphic>
      </p:graphicFrame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C5E11183-7B79-4609-B85F-E06869D62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568084"/>
              </p:ext>
            </p:extLst>
          </p:nvPr>
        </p:nvGraphicFramePr>
        <p:xfrm>
          <a:off x="8892988" y="2669542"/>
          <a:ext cx="2938930" cy="22789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87786">
                  <a:extLst>
                    <a:ext uri="{9D8B030D-6E8A-4147-A177-3AD203B41FA5}">
                      <a16:colId xmlns:a16="http://schemas.microsoft.com/office/drawing/2014/main" val="3091135419"/>
                    </a:ext>
                  </a:extLst>
                </a:gridCol>
                <a:gridCol w="587786">
                  <a:extLst>
                    <a:ext uri="{9D8B030D-6E8A-4147-A177-3AD203B41FA5}">
                      <a16:colId xmlns:a16="http://schemas.microsoft.com/office/drawing/2014/main" val="2172123650"/>
                    </a:ext>
                  </a:extLst>
                </a:gridCol>
                <a:gridCol w="587786">
                  <a:extLst>
                    <a:ext uri="{9D8B030D-6E8A-4147-A177-3AD203B41FA5}">
                      <a16:colId xmlns:a16="http://schemas.microsoft.com/office/drawing/2014/main" val="3607448217"/>
                    </a:ext>
                  </a:extLst>
                </a:gridCol>
                <a:gridCol w="587786">
                  <a:extLst>
                    <a:ext uri="{9D8B030D-6E8A-4147-A177-3AD203B41FA5}">
                      <a16:colId xmlns:a16="http://schemas.microsoft.com/office/drawing/2014/main" val="3364832112"/>
                    </a:ext>
                  </a:extLst>
                </a:gridCol>
                <a:gridCol w="587786">
                  <a:extLst>
                    <a:ext uri="{9D8B030D-6E8A-4147-A177-3AD203B41FA5}">
                      <a16:colId xmlns:a16="http://schemas.microsoft.com/office/drawing/2014/main" val="1752147266"/>
                    </a:ext>
                  </a:extLst>
                </a:gridCol>
              </a:tblGrid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93391"/>
                  </a:ext>
                </a:extLst>
              </a:tr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517898"/>
                  </a:ext>
                </a:extLst>
              </a:tr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790424"/>
                  </a:ext>
                </a:extLst>
              </a:tr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51375"/>
                  </a:ext>
                </a:extLst>
              </a:tr>
              <a:tr h="45579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123528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390F98-0C08-4B09-BCB7-E93B581EB40D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944471" y="3809030"/>
            <a:ext cx="1095188" cy="7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81D4C9F-66C3-49C2-90E1-C49ADBD1EC65}"/>
              </a:ext>
            </a:extLst>
          </p:cNvPr>
          <p:cNvSpPr txBox="1"/>
          <p:nvPr/>
        </p:nvSpPr>
        <p:spPr>
          <a:xfrm>
            <a:off x="3783854" y="2996687"/>
            <a:ext cx="1335741" cy="668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zero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crossing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37F2A0E-C55D-49B0-A731-80D17A278911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 flipV="1">
            <a:off x="7899399" y="3809032"/>
            <a:ext cx="993589" cy="7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40EC7F4-7F04-457E-9E5F-E87CE0648C8A}"/>
              </a:ext>
            </a:extLst>
          </p:cNvPr>
          <p:cNvSpPr txBox="1"/>
          <p:nvPr/>
        </p:nvSpPr>
        <p:spPr>
          <a:xfrm>
            <a:off x="7844863" y="3101788"/>
            <a:ext cx="11026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18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threshold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AD19CB-D5DC-49E0-AFAB-139AE5BE9E04}"/>
              </a:ext>
            </a:extLst>
          </p:cNvPr>
          <p:cNvSpPr/>
          <p:nvPr/>
        </p:nvSpPr>
        <p:spPr>
          <a:xfrm>
            <a:off x="1801906" y="2658633"/>
            <a:ext cx="528918" cy="13485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78E5F6-64E7-4111-A9FD-F66062CE78A8}"/>
              </a:ext>
            </a:extLst>
          </p:cNvPr>
          <p:cNvSpPr/>
          <p:nvPr/>
        </p:nvSpPr>
        <p:spPr>
          <a:xfrm>
            <a:off x="1240865" y="3101788"/>
            <a:ext cx="1549399" cy="4751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736FEC-5199-488E-B111-F12B2A47BEFB}"/>
              </a:ext>
            </a:extLst>
          </p:cNvPr>
          <p:cNvSpPr/>
          <p:nvPr/>
        </p:nvSpPr>
        <p:spPr>
          <a:xfrm>
            <a:off x="2877672" y="3564070"/>
            <a:ext cx="528918" cy="13485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24ADCA-0759-40AE-AD9F-2AFFECD6FFB6}"/>
              </a:ext>
            </a:extLst>
          </p:cNvPr>
          <p:cNvSpPr/>
          <p:nvPr/>
        </p:nvSpPr>
        <p:spPr>
          <a:xfrm>
            <a:off x="2316631" y="4007225"/>
            <a:ext cx="1549399" cy="4751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006C97-0C80-4E34-8C11-688E7BCCF97A}"/>
              </a:ext>
            </a:extLst>
          </p:cNvPr>
          <p:cNvSpPr/>
          <p:nvPr/>
        </p:nvSpPr>
        <p:spPr>
          <a:xfrm>
            <a:off x="5584266" y="3136075"/>
            <a:ext cx="528918" cy="4751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0BAA30-A098-42D0-9075-1F57C1D86222}"/>
              </a:ext>
            </a:extLst>
          </p:cNvPr>
          <p:cNvSpPr/>
          <p:nvPr/>
        </p:nvSpPr>
        <p:spPr>
          <a:xfrm>
            <a:off x="6750423" y="4018728"/>
            <a:ext cx="528918" cy="4751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10A1B2A-AB23-4A3B-B13D-6BE528BDAEBC}"/>
              </a:ext>
            </a:extLst>
          </p:cNvPr>
          <p:cNvSpPr/>
          <p:nvPr/>
        </p:nvSpPr>
        <p:spPr>
          <a:xfrm>
            <a:off x="9501844" y="3136072"/>
            <a:ext cx="528918" cy="4751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748CAC-85A2-46A8-91D6-54DD8A792C57}"/>
              </a:ext>
            </a:extLst>
          </p:cNvPr>
          <p:cNvSpPr/>
          <p:nvPr/>
        </p:nvSpPr>
        <p:spPr>
          <a:xfrm>
            <a:off x="10668001" y="4000797"/>
            <a:ext cx="528918" cy="4751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E46C4F-92ED-4394-A756-34A4A64A5707}"/>
              </a:ext>
            </a:extLst>
          </p:cNvPr>
          <p:cNvSpPr txBox="1"/>
          <p:nvPr/>
        </p:nvSpPr>
        <p:spPr>
          <a:xfrm>
            <a:off x="7777627" y="1999775"/>
            <a:ext cx="1481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s"/>
            </a:pP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=   2.5 ,</a:t>
            </a:r>
          </a:p>
          <a:p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Threshold =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16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41825-DAC3-4F2A-F141-F9835431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Region of interest and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FFCC4-ED64-81CB-6527-3474F18DC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 dirty="0"/>
          </a:p>
          <a:p>
            <a:r>
              <a:rPr lang="sv-SE" sz="3600" dirty="0"/>
              <a:t>For any point(i,j) and pad = kernel.shape[0]//2:</a:t>
            </a:r>
          </a:p>
          <a:p>
            <a:pPr marL="457200" lvl="1" indent="0">
              <a:buNone/>
            </a:pPr>
            <a:r>
              <a:rPr lang="sv-SE" sz="3200" dirty="0">
                <a:solidFill>
                  <a:srgbClr val="FF0000"/>
                </a:solidFill>
              </a:rPr>
              <a:t>local_region = image[i-pad:i+pad+1, j-pad:j+pad+1]</a:t>
            </a:r>
          </a:p>
          <a:p>
            <a:r>
              <a:rPr lang="sv-SE" sz="3600" dirty="0"/>
              <a:t>local_stddev = numpy.std(local_region)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42FBA-49C4-9243-6769-D6C58C14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7C37-845A-4C38-B4AC-8817F85CDC8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29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28511-25BC-4288-B73C-6B818733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altLang="en-US" dirty="0"/>
              <a:t>Laplacian Edge Detection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C5526-8D75-4519-989F-8F9B29328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2972" y="6356350"/>
            <a:ext cx="910828" cy="365125"/>
          </a:xfrm>
        </p:spPr>
        <p:txBody>
          <a:bodyPr/>
          <a:lstStyle/>
          <a:p>
            <a:fld id="{F2FA7C37-845A-4C38-B4AC-8817F85CDC8B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BF620D3-581B-4C77-AD7C-D1B8B6AD2B77}"/>
              </a:ext>
            </a:extLst>
          </p:cNvPr>
          <p:cNvSpPr txBox="1">
            <a:spLocks noChangeArrowheads="1"/>
          </p:cNvSpPr>
          <p:nvPr/>
        </p:nvSpPr>
        <p:spPr>
          <a:xfrm>
            <a:off x="738618" y="1249680"/>
            <a:ext cx="11023076" cy="2031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 altLang="en-US" dirty="0"/>
          </a:p>
          <a:p>
            <a:endParaRPr lang="en-IE" altLang="en-US" dirty="0"/>
          </a:p>
          <a:p>
            <a:endParaRPr lang="en-IE" altLang="en-US" dirty="0"/>
          </a:p>
          <a:p>
            <a:endParaRPr lang="en-IE" altLang="en-US" dirty="0"/>
          </a:p>
          <a:p>
            <a:endParaRPr lang="en-IE" altLang="en-US" dirty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61187AE2-D2E9-44E9-A1B9-9D5E4E308DFE}"/>
              </a:ext>
            </a:extLst>
          </p:cNvPr>
          <p:cNvSpPr>
            <a:spLocks/>
          </p:cNvSpPr>
          <p:nvPr/>
        </p:nvSpPr>
        <p:spPr bwMode="auto">
          <a:xfrm>
            <a:off x="2421518" y="3114819"/>
            <a:ext cx="1816100" cy="685800"/>
          </a:xfrm>
          <a:custGeom>
            <a:avLst/>
            <a:gdLst>
              <a:gd name="T0" fmla="*/ 2147483646 w 712"/>
              <a:gd name="T1" fmla="*/ 2147483646 h 45"/>
              <a:gd name="T2" fmla="*/ 2147483646 w 712"/>
              <a:gd name="T3" fmla="*/ 2147483646 h 45"/>
              <a:gd name="T4" fmla="*/ 2147483646 w 712"/>
              <a:gd name="T5" fmla="*/ 2147483646 h 45"/>
              <a:gd name="T6" fmla="*/ 2147483646 w 712"/>
              <a:gd name="T7" fmla="*/ 2147483646 h 45"/>
              <a:gd name="T8" fmla="*/ 2147483646 w 712"/>
              <a:gd name="T9" fmla="*/ 2147483646 h 45"/>
              <a:gd name="T10" fmla="*/ 2147483646 w 712"/>
              <a:gd name="T11" fmla="*/ 2147483646 h 45"/>
              <a:gd name="T12" fmla="*/ 2147483646 w 712"/>
              <a:gd name="T13" fmla="*/ 2147483646 h 45"/>
              <a:gd name="T14" fmla="*/ 2147483646 w 712"/>
              <a:gd name="T15" fmla="*/ 2147483646 h 45"/>
              <a:gd name="T16" fmla="*/ 2147483646 w 712"/>
              <a:gd name="T17" fmla="*/ 2147483646 h 45"/>
              <a:gd name="T18" fmla="*/ 2147483646 w 712"/>
              <a:gd name="T19" fmla="*/ 2147483646 h 45"/>
              <a:gd name="T20" fmla="*/ 2147483646 w 712"/>
              <a:gd name="T21" fmla="*/ 2147483646 h 45"/>
              <a:gd name="T22" fmla="*/ 2147483646 w 712"/>
              <a:gd name="T23" fmla="*/ 2147483646 h 45"/>
              <a:gd name="T24" fmla="*/ 2147483646 w 712"/>
              <a:gd name="T25" fmla="*/ 2147483646 h 45"/>
              <a:gd name="T26" fmla="*/ 2147483646 w 712"/>
              <a:gd name="T27" fmla="*/ 2147483646 h 45"/>
              <a:gd name="T28" fmla="*/ 2147483646 w 712"/>
              <a:gd name="T29" fmla="*/ 2147483646 h 45"/>
              <a:gd name="T30" fmla="*/ 2147483646 w 712"/>
              <a:gd name="T31" fmla="*/ 2147483646 h 45"/>
              <a:gd name="T32" fmla="*/ 2147483646 w 712"/>
              <a:gd name="T33" fmla="*/ 2147483646 h 45"/>
              <a:gd name="T34" fmla="*/ 2147483646 w 712"/>
              <a:gd name="T35" fmla="*/ 2147483646 h 45"/>
              <a:gd name="T36" fmla="*/ 2147483646 w 712"/>
              <a:gd name="T37" fmla="*/ 2147483646 h 45"/>
              <a:gd name="T38" fmla="*/ 2147483646 w 712"/>
              <a:gd name="T39" fmla="*/ 2147483646 h 45"/>
              <a:gd name="T40" fmla="*/ 2147483646 w 712"/>
              <a:gd name="T41" fmla="*/ 2147483646 h 45"/>
              <a:gd name="T42" fmla="*/ 2147483646 w 712"/>
              <a:gd name="T43" fmla="*/ 2147483646 h 45"/>
              <a:gd name="T44" fmla="*/ 2147483646 w 712"/>
              <a:gd name="T45" fmla="*/ 2147483646 h 45"/>
              <a:gd name="T46" fmla="*/ 2147483646 w 712"/>
              <a:gd name="T47" fmla="*/ 2147483646 h 45"/>
              <a:gd name="T48" fmla="*/ 2147483646 w 712"/>
              <a:gd name="T49" fmla="*/ 0 h 45"/>
              <a:gd name="T50" fmla="*/ 2147483646 w 712"/>
              <a:gd name="T51" fmla="*/ 0 h 45"/>
              <a:gd name="T52" fmla="*/ 2147483646 w 712"/>
              <a:gd name="T53" fmla="*/ 0 h 45"/>
              <a:gd name="T54" fmla="*/ 2147483646 w 712"/>
              <a:gd name="T55" fmla="*/ 0 h 45"/>
              <a:gd name="T56" fmla="*/ 2147483646 w 712"/>
              <a:gd name="T57" fmla="*/ 0 h 45"/>
              <a:gd name="T58" fmla="*/ 2147483646 w 712"/>
              <a:gd name="T59" fmla="*/ 0 h 45"/>
              <a:gd name="T60" fmla="*/ 2147483646 w 712"/>
              <a:gd name="T61" fmla="*/ 0 h 45"/>
              <a:gd name="T62" fmla="*/ 2147483646 w 712"/>
              <a:gd name="T63" fmla="*/ 0 h 45"/>
              <a:gd name="T64" fmla="*/ 2147483646 w 712"/>
              <a:gd name="T65" fmla="*/ 0 h 45"/>
              <a:gd name="T66" fmla="*/ 2147483646 w 712"/>
              <a:gd name="T67" fmla="*/ 0 h 45"/>
              <a:gd name="T68" fmla="*/ 2147483646 w 712"/>
              <a:gd name="T69" fmla="*/ 0 h 45"/>
              <a:gd name="T70" fmla="*/ 2147483646 w 712"/>
              <a:gd name="T71" fmla="*/ 0 h 45"/>
              <a:gd name="T72" fmla="*/ 2147483646 w 712"/>
              <a:gd name="T73" fmla="*/ 0 h 45"/>
              <a:gd name="T74" fmla="*/ 2147483646 w 712"/>
              <a:gd name="T75" fmla="*/ 0 h 45"/>
              <a:gd name="T76" fmla="*/ 2147483646 w 712"/>
              <a:gd name="T77" fmla="*/ 0 h 45"/>
              <a:gd name="T78" fmla="*/ 2147483646 w 712"/>
              <a:gd name="T79" fmla="*/ 0 h 45"/>
              <a:gd name="T80" fmla="*/ 2147483646 w 712"/>
              <a:gd name="T81" fmla="*/ 0 h 45"/>
              <a:gd name="T82" fmla="*/ 2147483646 w 712"/>
              <a:gd name="T83" fmla="*/ 0 h 45"/>
              <a:gd name="T84" fmla="*/ 2147483646 w 712"/>
              <a:gd name="T85" fmla="*/ 0 h 45"/>
              <a:gd name="T86" fmla="*/ 2147483646 w 712"/>
              <a:gd name="T87" fmla="*/ 0 h 45"/>
              <a:gd name="T88" fmla="*/ 2147483646 w 712"/>
              <a:gd name="T89" fmla="*/ 0 h 45"/>
              <a:gd name="T90" fmla="*/ 2147483646 w 712"/>
              <a:gd name="T91" fmla="*/ 0 h 45"/>
              <a:gd name="T92" fmla="*/ 2147483646 w 712"/>
              <a:gd name="T93" fmla="*/ 0 h 45"/>
              <a:gd name="T94" fmla="*/ 2147483646 w 712"/>
              <a:gd name="T95" fmla="*/ 0 h 45"/>
              <a:gd name="T96" fmla="*/ 2147483646 w 712"/>
              <a:gd name="T97" fmla="*/ 0 h 45"/>
              <a:gd name="T98" fmla="*/ 2147483646 w 712"/>
              <a:gd name="T99" fmla="*/ 0 h 45"/>
              <a:gd name="T100" fmla="*/ 2147483646 w 712"/>
              <a:gd name="T101" fmla="*/ 0 h 4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712"/>
              <a:gd name="T154" fmla="*/ 0 h 45"/>
              <a:gd name="T155" fmla="*/ 712 w 712"/>
              <a:gd name="T156" fmla="*/ 45 h 45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712" h="45">
                <a:moveTo>
                  <a:pt x="0" y="45"/>
                </a:moveTo>
                <a:lnTo>
                  <a:pt x="2" y="45"/>
                </a:lnTo>
                <a:lnTo>
                  <a:pt x="5" y="45"/>
                </a:lnTo>
                <a:lnTo>
                  <a:pt x="9" y="45"/>
                </a:lnTo>
                <a:lnTo>
                  <a:pt x="10" y="45"/>
                </a:lnTo>
                <a:lnTo>
                  <a:pt x="13" y="45"/>
                </a:lnTo>
                <a:lnTo>
                  <a:pt x="17" y="45"/>
                </a:lnTo>
                <a:lnTo>
                  <a:pt x="20" y="45"/>
                </a:lnTo>
                <a:lnTo>
                  <a:pt x="22" y="45"/>
                </a:lnTo>
                <a:lnTo>
                  <a:pt x="25" y="45"/>
                </a:lnTo>
                <a:lnTo>
                  <a:pt x="28" y="45"/>
                </a:lnTo>
                <a:lnTo>
                  <a:pt x="30" y="45"/>
                </a:lnTo>
                <a:lnTo>
                  <a:pt x="33" y="45"/>
                </a:lnTo>
                <a:lnTo>
                  <a:pt x="37" y="45"/>
                </a:lnTo>
                <a:lnTo>
                  <a:pt x="38" y="45"/>
                </a:lnTo>
                <a:lnTo>
                  <a:pt x="42" y="45"/>
                </a:lnTo>
                <a:lnTo>
                  <a:pt x="45" y="45"/>
                </a:lnTo>
                <a:lnTo>
                  <a:pt x="47" y="45"/>
                </a:lnTo>
                <a:lnTo>
                  <a:pt x="50" y="45"/>
                </a:lnTo>
                <a:lnTo>
                  <a:pt x="53" y="45"/>
                </a:lnTo>
                <a:lnTo>
                  <a:pt x="56" y="45"/>
                </a:lnTo>
                <a:lnTo>
                  <a:pt x="58" y="45"/>
                </a:lnTo>
                <a:lnTo>
                  <a:pt x="61" y="45"/>
                </a:lnTo>
                <a:lnTo>
                  <a:pt x="65" y="45"/>
                </a:lnTo>
                <a:lnTo>
                  <a:pt x="66" y="45"/>
                </a:lnTo>
                <a:lnTo>
                  <a:pt x="70" y="45"/>
                </a:lnTo>
                <a:lnTo>
                  <a:pt x="73" y="45"/>
                </a:lnTo>
                <a:lnTo>
                  <a:pt x="75" y="45"/>
                </a:lnTo>
                <a:lnTo>
                  <a:pt x="78" y="45"/>
                </a:lnTo>
                <a:lnTo>
                  <a:pt x="81" y="45"/>
                </a:lnTo>
                <a:lnTo>
                  <a:pt x="83" y="45"/>
                </a:lnTo>
                <a:lnTo>
                  <a:pt x="86" y="45"/>
                </a:lnTo>
                <a:lnTo>
                  <a:pt x="89" y="45"/>
                </a:lnTo>
                <a:lnTo>
                  <a:pt x="93" y="45"/>
                </a:lnTo>
                <a:lnTo>
                  <a:pt x="94" y="45"/>
                </a:lnTo>
                <a:lnTo>
                  <a:pt x="98" y="45"/>
                </a:lnTo>
                <a:lnTo>
                  <a:pt x="101" y="45"/>
                </a:lnTo>
                <a:lnTo>
                  <a:pt x="103" y="45"/>
                </a:lnTo>
                <a:lnTo>
                  <a:pt x="106" y="45"/>
                </a:lnTo>
                <a:lnTo>
                  <a:pt x="109" y="45"/>
                </a:lnTo>
                <a:lnTo>
                  <a:pt x="111" y="45"/>
                </a:lnTo>
                <a:lnTo>
                  <a:pt x="114" y="45"/>
                </a:lnTo>
                <a:lnTo>
                  <a:pt x="118" y="45"/>
                </a:lnTo>
                <a:lnTo>
                  <a:pt x="119" y="45"/>
                </a:lnTo>
                <a:lnTo>
                  <a:pt x="123" y="45"/>
                </a:lnTo>
                <a:lnTo>
                  <a:pt x="126" y="45"/>
                </a:lnTo>
                <a:lnTo>
                  <a:pt x="127" y="45"/>
                </a:lnTo>
                <a:lnTo>
                  <a:pt x="131" y="45"/>
                </a:lnTo>
                <a:lnTo>
                  <a:pt x="134" y="45"/>
                </a:lnTo>
                <a:lnTo>
                  <a:pt x="137" y="45"/>
                </a:lnTo>
                <a:lnTo>
                  <a:pt x="139" y="45"/>
                </a:lnTo>
                <a:lnTo>
                  <a:pt x="142" y="45"/>
                </a:lnTo>
                <a:lnTo>
                  <a:pt x="146" y="45"/>
                </a:lnTo>
                <a:lnTo>
                  <a:pt x="147" y="45"/>
                </a:lnTo>
                <a:lnTo>
                  <a:pt x="151" y="45"/>
                </a:lnTo>
                <a:lnTo>
                  <a:pt x="154" y="45"/>
                </a:lnTo>
                <a:lnTo>
                  <a:pt x="156" y="45"/>
                </a:lnTo>
                <a:lnTo>
                  <a:pt x="159" y="45"/>
                </a:lnTo>
                <a:lnTo>
                  <a:pt x="162" y="45"/>
                </a:lnTo>
                <a:lnTo>
                  <a:pt x="164" y="45"/>
                </a:lnTo>
                <a:lnTo>
                  <a:pt x="167" y="45"/>
                </a:lnTo>
                <a:lnTo>
                  <a:pt x="170" y="45"/>
                </a:lnTo>
                <a:lnTo>
                  <a:pt x="174" y="45"/>
                </a:lnTo>
                <a:lnTo>
                  <a:pt x="175" y="45"/>
                </a:lnTo>
                <a:lnTo>
                  <a:pt x="179" y="45"/>
                </a:lnTo>
                <a:lnTo>
                  <a:pt x="182" y="45"/>
                </a:lnTo>
                <a:lnTo>
                  <a:pt x="184" y="45"/>
                </a:lnTo>
                <a:lnTo>
                  <a:pt x="187" y="45"/>
                </a:lnTo>
                <a:lnTo>
                  <a:pt x="190" y="45"/>
                </a:lnTo>
                <a:lnTo>
                  <a:pt x="192" y="45"/>
                </a:lnTo>
                <a:lnTo>
                  <a:pt x="195" y="45"/>
                </a:lnTo>
                <a:lnTo>
                  <a:pt x="199" y="45"/>
                </a:lnTo>
                <a:lnTo>
                  <a:pt x="200" y="45"/>
                </a:lnTo>
                <a:lnTo>
                  <a:pt x="203" y="45"/>
                </a:lnTo>
                <a:lnTo>
                  <a:pt x="207" y="45"/>
                </a:lnTo>
                <a:lnTo>
                  <a:pt x="210" y="45"/>
                </a:lnTo>
                <a:lnTo>
                  <a:pt x="212" y="45"/>
                </a:lnTo>
                <a:lnTo>
                  <a:pt x="215" y="45"/>
                </a:lnTo>
                <a:lnTo>
                  <a:pt x="218" y="45"/>
                </a:lnTo>
                <a:lnTo>
                  <a:pt x="220" y="45"/>
                </a:lnTo>
                <a:lnTo>
                  <a:pt x="223" y="45"/>
                </a:lnTo>
                <a:lnTo>
                  <a:pt x="227" y="45"/>
                </a:lnTo>
                <a:lnTo>
                  <a:pt x="228" y="45"/>
                </a:lnTo>
                <a:lnTo>
                  <a:pt x="232" y="45"/>
                </a:lnTo>
                <a:lnTo>
                  <a:pt x="235" y="45"/>
                </a:lnTo>
                <a:lnTo>
                  <a:pt x="237" y="45"/>
                </a:lnTo>
                <a:lnTo>
                  <a:pt x="240" y="45"/>
                </a:lnTo>
                <a:lnTo>
                  <a:pt x="243" y="45"/>
                </a:lnTo>
                <a:lnTo>
                  <a:pt x="246" y="45"/>
                </a:lnTo>
                <a:lnTo>
                  <a:pt x="248" y="45"/>
                </a:lnTo>
                <a:lnTo>
                  <a:pt x="251" y="45"/>
                </a:lnTo>
                <a:lnTo>
                  <a:pt x="255" y="45"/>
                </a:lnTo>
                <a:lnTo>
                  <a:pt x="256" y="45"/>
                </a:lnTo>
                <a:lnTo>
                  <a:pt x="260" y="45"/>
                </a:lnTo>
                <a:lnTo>
                  <a:pt x="263" y="45"/>
                </a:lnTo>
                <a:lnTo>
                  <a:pt x="265" y="43"/>
                </a:lnTo>
                <a:lnTo>
                  <a:pt x="268" y="43"/>
                </a:lnTo>
                <a:lnTo>
                  <a:pt x="271" y="43"/>
                </a:lnTo>
                <a:lnTo>
                  <a:pt x="273" y="42"/>
                </a:lnTo>
                <a:lnTo>
                  <a:pt x="276" y="42"/>
                </a:lnTo>
                <a:lnTo>
                  <a:pt x="279" y="40"/>
                </a:lnTo>
                <a:lnTo>
                  <a:pt x="283" y="38"/>
                </a:lnTo>
                <a:lnTo>
                  <a:pt x="284" y="37"/>
                </a:lnTo>
                <a:lnTo>
                  <a:pt x="288" y="35"/>
                </a:lnTo>
                <a:lnTo>
                  <a:pt x="291" y="33"/>
                </a:lnTo>
                <a:lnTo>
                  <a:pt x="293" y="32"/>
                </a:lnTo>
                <a:lnTo>
                  <a:pt x="296" y="29"/>
                </a:lnTo>
                <a:lnTo>
                  <a:pt x="299" y="27"/>
                </a:lnTo>
                <a:lnTo>
                  <a:pt x="301" y="25"/>
                </a:lnTo>
                <a:lnTo>
                  <a:pt x="304" y="22"/>
                </a:lnTo>
                <a:lnTo>
                  <a:pt x="308" y="20"/>
                </a:lnTo>
                <a:lnTo>
                  <a:pt x="309" y="19"/>
                </a:lnTo>
                <a:lnTo>
                  <a:pt x="313" y="17"/>
                </a:lnTo>
                <a:lnTo>
                  <a:pt x="316" y="14"/>
                </a:lnTo>
                <a:lnTo>
                  <a:pt x="319" y="12"/>
                </a:lnTo>
                <a:lnTo>
                  <a:pt x="321" y="10"/>
                </a:lnTo>
                <a:lnTo>
                  <a:pt x="324" y="9"/>
                </a:lnTo>
                <a:lnTo>
                  <a:pt x="327" y="7"/>
                </a:lnTo>
                <a:lnTo>
                  <a:pt x="329" y="5"/>
                </a:lnTo>
                <a:lnTo>
                  <a:pt x="332" y="4"/>
                </a:lnTo>
                <a:lnTo>
                  <a:pt x="336" y="4"/>
                </a:lnTo>
                <a:lnTo>
                  <a:pt x="337" y="2"/>
                </a:lnTo>
                <a:lnTo>
                  <a:pt x="341" y="2"/>
                </a:lnTo>
                <a:lnTo>
                  <a:pt x="344" y="2"/>
                </a:lnTo>
                <a:lnTo>
                  <a:pt x="346" y="0"/>
                </a:lnTo>
                <a:lnTo>
                  <a:pt x="349" y="0"/>
                </a:lnTo>
                <a:lnTo>
                  <a:pt x="352" y="0"/>
                </a:lnTo>
                <a:lnTo>
                  <a:pt x="355" y="0"/>
                </a:lnTo>
                <a:lnTo>
                  <a:pt x="357" y="0"/>
                </a:lnTo>
                <a:lnTo>
                  <a:pt x="360" y="0"/>
                </a:lnTo>
                <a:lnTo>
                  <a:pt x="364" y="0"/>
                </a:lnTo>
                <a:lnTo>
                  <a:pt x="365" y="0"/>
                </a:lnTo>
                <a:lnTo>
                  <a:pt x="369" y="0"/>
                </a:lnTo>
                <a:lnTo>
                  <a:pt x="372" y="0"/>
                </a:lnTo>
                <a:lnTo>
                  <a:pt x="374" y="0"/>
                </a:lnTo>
                <a:lnTo>
                  <a:pt x="377" y="0"/>
                </a:lnTo>
                <a:lnTo>
                  <a:pt x="380" y="0"/>
                </a:lnTo>
                <a:lnTo>
                  <a:pt x="382" y="0"/>
                </a:lnTo>
                <a:lnTo>
                  <a:pt x="385" y="0"/>
                </a:lnTo>
                <a:lnTo>
                  <a:pt x="389" y="0"/>
                </a:lnTo>
                <a:lnTo>
                  <a:pt x="390" y="0"/>
                </a:lnTo>
                <a:lnTo>
                  <a:pt x="393" y="0"/>
                </a:lnTo>
                <a:lnTo>
                  <a:pt x="397" y="0"/>
                </a:lnTo>
                <a:lnTo>
                  <a:pt x="400" y="0"/>
                </a:lnTo>
                <a:lnTo>
                  <a:pt x="402" y="0"/>
                </a:lnTo>
                <a:lnTo>
                  <a:pt x="405" y="0"/>
                </a:lnTo>
                <a:lnTo>
                  <a:pt x="408" y="0"/>
                </a:lnTo>
                <a:lnTo>
                  <a:pt x="410" y="0"/>
                </a:lnTo>
                <a:lnTo>
                  <a:pt x="413" y="0"/>
                </a:lnTo>
                <a:lnTo>
                  <a:pt x="417" y="0"/>
                </a:lnTo>
                <a:lnTo>
                  <a:pt x="418" y="0"/>
                </a:lnTo>
                <a:lnTo>
                  <a:pt x="422" y="0"/>
                </a:lnTo>
                <a:lnTo>
                  <a:pt x="425" y="0"/>
                </a:lnTo>
                <a:lnTo>
                  <a:pt x="427" y="0"/>
                </a:lnTo>
                <a:lnTo>
                  <a:pt x="430" y="0"/>
                </a:lnTo>
                <a:lnTo>
                  <a:pt x="433" y="0"/>
                </a:lnTo>
                <a:lnTo>
                  <a:pt x="436" y="0"/>
                </a:lnTo>
                <a:lnTo>
                  <a:pt x="438" y="0"/>
                </a:lnTo>
                <a:lnTo>
                  <a:pt x="441" y="0"/>
                </a:lnTo>
                <a:lnTo>
                  <a:pt x="445" y="0"/>
                </a:lnTo>
                <a:lnTo>
                  <a:pt x="446" y="0"/>
                </a:lnTo>
                <a:lnTo>
                  <a:pt x="450" y="0"/>
                </a:lnTo>
                <a:lnTo>
                  <a:pt x="453" y="0"/>
                </a:lnTo>
                <a:lnTo>
                  <a:pt x="455" y="0"/>
                </a:lnTo>
                <a:lnTo>
                  <a:pt x="458" y="0"/>
                </a:lnTo>
                <a:lnTo>
                  <a:pt x="461" y="0"/>
                </a:lnTo>
                <a:lnTo>
                  <a:pt x="463" y="0"/>
                </a:lnTo>
                <a:lnTo>
                  <a:pt x="466" y="0"/>
                </a:lnTo>
                <a:lnTo>
                  <a:pt x="469" y="0"/>
                </a:lnTo>
                <a:lnTo>
                  <a:pt x="473" y="0"/>
                </a:lnTo>
                <a:lnTo>
                  <a:pt x="474" y="0"/>
                </a:lnTo>
                <a:lnTo>
                  <a:pt x="478" y="0"/>
                </a:lnTo>
                <a:lnTo>
                  <a:pt x="481" y="0"/>
                </a:lnTo>
                <a:lnTo>
                  <a:pt x="483" y="0"/>
                </a:lnTo>
                <a:lnTo>
                  <a:pt x="486" y="0"/>
                </a:lnTo>
                <a:lnTo>
                  <a:pt x="489" y="0"/>
                </a:lnTo>
                <a:lnTo>
                  <a:pt x="491" y="0"/>
                </a:lnTo>
                <a:lnTo>
                  <a:pt x="494" y="0"/>
                </a:lnTo>
                <a:lnTo>
                  <a:pt x="498" y="0"/>
                </a:lnTo>
                <a:lnTo>
                  <a:pt x="499" y="0"/>
                </a:lnTo>
                <a:lnTo>
                  <a:pt x="503" y="0"/>
                </a:lnTo>
                <a:lnTo>
                  <a:pt x="506" y="0"/>
                </a:lnTo>
                <a:lnTo>
                  <a:pt x="509" y="0"/>
                </a:lnTo>
                <a:lnTo>
                  <a:pt x="511" y="0"/>
                </a:lnTo>
                <a:lnTo>
                  <a:pt x="514" y="0"/>
                </a:lnTo>
                <a:lnTo>
                  <a:pt x="517" y="0"/>
                </a:lnTo>
                <a:lnTo>
                  <a:pt x="519" y="0"/>
                </a:lnTo>
                <a:lnTo>
                  <a:pt x="522" y="0"/>
                </a:lnTo>
                <a:lnTo>
                  <a:pt x="526" y="0"/>
                </a:lnTo>
                <a:lnTo>
                  <a:pt x="527" y="0"/>
                </a:lnTo>
                <a:lnTo>
                  <a:pt x="531" y="0"/>
                </a:lnTo>
                <a:lnTo>
                  <a:pt x="534" y="0"/>
                </a:lnTo>
                <a:lnTo>
                  <a:pt x="536" y="0"/>
                </a:lnTo>
                <a:lnTo>
                  <a:pt x="539" y="0"/>
                </a:lnTo>
                <a:lnTo>
                  <a:pt x="542" y="0"/>
                </a:lnTo>
                <a:lnTo>
                  <a:pt x="545" y="0"/>
                </a:lnTo>
                <a:lnTo>
                  <a:pt x="547" y="0"/>
                </a:lnTo>
                <a:lnTo>
                  <a:pt x="550" y="0"/>
                </a:lnTo>
                <a:lnTo>
                  <a:pt x="554" y="0"/>
                </a:lnTo>
                <a:lnTo>
                  <a:pt x="555" y="0"/>
                </a:lnTo>
                <a:lnTo>
                  <a:pt x="559" y="0"/>
                </a:lnTo>
                <a:lnTo>
                  <a:pt x="562" y="0"/>
                </a:lnTo>
                <a:lnTo>
                  <a:pt x="564" y="0"/>
                </a:lnTo>
                <a:lnTo>
                  <a:pt x="567" y="0"/>
                </a:lnTo>
                <a:lnTo>
                  <a:pt x="570" y="0"/>
                </a:lnTo>
                <a:lnTo>
                  <a:pt x="572" y="0"/>
                </a:lnTo>
                <a:lnTo>
                  <a:pt x="575" y="0"/>
                </a:lnTo>
                <a:lnTo>
                  <a:pt x="579" y="0"/>
                </a:lnTo>
                <a:lnTo>
                  <a:pt x="582" y="0"/>
                </a:lnTo>
                <a:lnTo>
                  <a:pt x="583" y="0"/>
                </a:lnTo>
                <a:lnTo>
                  <a:pt x="587" y="0"/>
                </a:lnTo>
                <a:lnTo>
                  <a:pt x="590" y="0"/>
                </a:lnTo>
                <a:lnTo>
                  <a:pt x="592" y="0"/>
                </a:lnTo>
                <a:lnTo>
                  <a:pt x="595" y="0"/>
                </a:lnTo>
                <a:lnTo>
                  <a:pt x="598" y="0"/>
                </a:lnTo>
                <a:lnTo>
                  <a:pt x="600" y="0"/>
                </a:lnTo>
                <a:lnTo>
                  <a:pt x="603" y="0"/>
                </a:lnTo>
                <a:lnTo>
                  <a:pt x="607" y="0"/>
                </a:lnTo>
                <a:lnTo>
                  <a:pt x="608" y="0"/>
                </a:lnTo>
                <a:lnTo>
                  <a:pt x="612" y="0"/>
                </a:lnTo>
                <a:lnTo>
                  <a:pt x="615" y="0"/>
                </a:lnTo>
                <a:lnTo>
                  <a:pt x="617" y="0"/>
                </a:lnTo>
                <a:lnTo>
                  <a:pt x="620" y="0"/>
                </a:lnTo>
                <a:lnTo>
                  <a:pt x="623" y="0"/>
                </a:lnTo>
                <a:lnTo>
                  <a:pt x="626" y="0"/>
                </a:lnTo>
                <a:lnTo>
                  <a:pt x="628" y="0"/>
                </a:lnTo>
                <a:lnTo>
                  <a:pt x="631" y="0"/>
                </a:lnTo>
                <a:lnTo>
                  <a:pt x="635" y="0"/>
                </a:lnTo>
                <a:lnTo>
                  <a:pt x="636" y="0"/>
                </a:lnTo>
                <a:lnTo>
                  <a:pt x="640" y="0"/>
                </a:lnTo>
                <a:lnTo>
                  <a:pt x="643" y="0"/>
                </a:lnTo>
                <a:lnTo>
                  <a:pt x="645" y="0"/>
                </a:lnTo>
                <a:lnTo>
                  <a:pt x="648" y="0"/>
                </a:lnTo>
                <a:lnTo>
                  <a:pt x="651" y="0"/>
                </a:lnTo>
                <a:lnTo>
                  <a:pt x="653" y="0"/>
                </a:lnTo>
                <a:lnTo>
                  <a:pt x="656" y="0"/>
                </a:lnTo>
                <a:lnTo>
                  <a:pt x="659" y="0"/>
                </a:lnTo>
                <a:lnTo>
                  <a:pt x="663" y="0"/>
                </a:lnTo>
                <a:lnTo>
                  <a:pt x="664" y="0"/>
                </a:lnTo>
                <a:lnTo>
                  <a:pt x="668" y="0"/>
                </a:lnTo>
                <a:lnTo>
                  <a:pt x="671" y="0"/>
                </a:lnTo>
                <a:lnTo>
                  <a:pt x="673" y="0"/>
                </a:lnTo>
                <a:lnTo>
                  <a:pt x="676" y="0"/>
                </a:lnTo>
                <a:lnTo>
                  <a:pt x="679" y="0"/>
                </a:lnTo>
                <a:lnTo>
                  <a:pt x="681" y="0"/>
                </a:lnTo>
                <a:lnTo>
                  <a:pt x="684" y="0"/>
                </a:lnTo>
                <a:lnTo>
                  <a:pt x="688" y="0"/>
                </a:lnTo>
                <a:lnTo>
                  <a:pt x="689" y="0"/>
                </a:lnTo>
                <a:lnTo>
                  <a:pt x="693" y="0"/>
                </a:lnTo>
                <a:lnTo>
                  <a:pt x="696" y="0"/>
                </a:lnTo>
                <a:lnTo>
                  <a:pt x="699" y="0"/>
                </a:lnTo>
                <a:lnTo>
                  <a:pt x="701" y="0"/>
                </a:lnTo>
                <a:lnTo>
                  <a:pt x="704" y="0"/>
                </a:lnTo>
                <a:lnTo>
                  <a:pt x="707" y="0"/>
                </a:lnTo>
                <a:lnTo>
                  <a:pt x="709" y="0"/>
                </a:lnTo>
                <a:lnTo>
                  <a:pt x="712" y="0"/>
                </a:lnTo>
              </a:path>
            </a:pathLst>
          </a:custGeom>
          <a:noFill/>
          <a:ln w="3175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780A2ADE-9956-49D1-9130-3D4C4E2E63C1}"/>
              </a:ext>
            </a:extLst>
          </p:cNvPr>
          <p:cNvSpPr>
            <a:spLocks/>
          </p:cNvSpPr>
          <p:nvPr/>
        </p:nvSpPr>
        <p:spPr bwMode="auto">
          <a:xfrm>
            <a:off x="4771018" y="3149744"/>
            <a:ext cx="1412875" cy="650875"/>
          </a:xfrm>
          <a:custGeom>
            <a:avLst/>
            <a:gdLst>
              <a:gd name="T0" fmla="*/ 2147483646 w 480"/>
              <a:gd name="T1" fmla="*/ 2147483646 h 439"/>
              <a:gd name="T2" fmla="*/ 2147483646 w 480"/>
              <a:gd name="T3" fmla="*/ 2147483646 h 439"/>
              <a:gd name="T4" fmla="*/ 2147483646 w 480"/>
              <a:gd name="T5" fmla="*/ 2147483646 h 439"/>
              <a:gd name="T6" fmla="*/ 2147483646 w 480"/>
              <a:gd name="T7" fmla="*/ 2147483646 h 439"/>
              <a:gd name="T8" fmla="*/ 2147483646 w 480"/>
              <a:gd name="T9" fmla="*/ 2147483646 h 439"/>
              <a:gd name="T10" fmla="*/ 2147483646 w 480"/>
              <a:gd name="T11" fmla="*/ 2147483646 h 439"/>
              <a:gd name="T12" fmla="*/ 2147483646 w 480"/>
              <a:gd name="T13" fmla="*/ 2147483646 h 439"/>
              <a:gd name="T14" fmla="*/ 2147483646 w 480"/>
              <a:gd name="T15" fmla="*/ 2147483646 h 439"/>
              <a:gd name="T16" fmla="*/ 2147483646 w 480"/>
              <a:gd name="T17" fmla="*/ 2147483646 h 439"/>
              <a:gd name="T18" fmla="*/ 2147483646 w 480"/>
              <a:gd name="T19" fmla="*/ 2147483646 h 439"/>
              <a:gd name="T20" fmla="*/ 2147483646 w 480"/>
              <a:gd name="T21" fmla="*/ 2147483646 h 439"/>
              <a:gd name="T22" fmla="*/ 2147483646 w 480"/>
              <a:gd name="T23" fmla="*/ 2147483646 h 439"/>
              <a:gd name="T24" fmla="*/ 2147483646 w 480"/>
              <a:gd name="T25" fmla="*/ 2147483646 h 439"/>
              <a:gd name="T26" fmla="*/ 2147483646 w 480"/>
              <a:gd name="T27" fmla="*/ 2147483646 h 439"/>
              <a:gd name="T28" fmla="*/ 2147483646 w 480"/>
              <a:gd name="T29" fmla="*/ 2147483646 h 439"/>
              <a:gd name="T30" fmla="*/ 2147483646 w 480"/>
              <a:gd name="T31" fmla="*/ 2147483646 h 439"/>
              <a:gd name="T32" fmla="*/ 2147483646 w 480"/>
              <a:gd name="T33" fmla="*/ 2147483646 h 439"/>
              <a:gd name="T34" fmla="*/ 2147483646 w 480"/>
              <a:gd name="T35" fmla="*/ 2147483646 h 439"/>
              <a:gd name="T36" fmla="*/ 2147483646 w 480"/>
              <a:gd name="T37" fmla="*/ 2147483646 h 439"/>
              <a:gd name="T38" fmla="*/ 2147483646 w 480"/>
              <a:gd name="T39" fmla="*/ 2147483646 h 439"/>
              <a:gd name="T40" fmla="*/ 2147483646 w 480"/>
              <a:gd name="T41" fmla="*/ 2147483646 h 439"/>
              <a:gd name="T42" fmla="*/ 2147483646 w 480"/>
              <a:gd name="T43" fmla="*/ 0 h 439"/>
              <a:gd name="T44" fmla="*/ 2147483646 w 480"/>
              <a:gd name="T45" fmla="*/ 2147483646 h 439"/>
              <a:gd name="T46" fmla="*/ 2147483646 w 480"/>
              <a:gd name="T47" fmla="*/ 2147483646 h 439"/>
              <a:gd name="T48" fmla="*/ 2147483646 w 480"/>
              <a:gd name="T49" fmla="*/ 2147483646 h 439"/>
              <a:gd name="T50" fmla="*/ 2147483646 w 480"/>
              <a:gd name="T51" fmla="*/ 2147483646 h 439"/>
              <a:gd name="T52" fmla="*/ 2147483646 w 480"/>
              <a:gd name="T53" fmla="*/ 2147483646 h 439"/>
              <a:gd name="T54" fmla="*/ 2147483646 w 480"/>
              <a:gd name="T55" fmla="*/ 2147483646 h 439"/>
              <a:gd name="T56" fmla="*/ 2147483646 w 480"/>
              <a:gd name="T57" fmla="*/ 2147483646 h 439"/>
              <a:gd name="T58" fmla="*/ 2147483646 w 480"/>
              <a:gd name="T59" fmla="*/ 2147483646 h 439"/>
              <a:gd name="T60" fmla="*/ 2147483646 w 480"/>
              <a:gd name="T61" fmla="*/ 2147483646 h 439"/>
              <a:gd name="T62" fmla="*/ 2147483646 w 480"/>
              <a:gd name="T63" fmla="*/ 2147483646 h 439"/>
              <a:gd name="T64" fmla="*/ 2147483646 w 480"/>
              <a:gd name="T65" fmla="*/ 2147483646 h 439"/>
              <a:gd name="T66" fmla="*/ 2147483646 w 480"/>
              <a:gd name="T67" fmla="*/ 2147483646 h 439"/>
              <a:gd name="T68" fmla="*/ 2147483646 w 480"/>
              <a:gd name="T69" fmla="*/ 2147483646 h 439"/>
              <a:gd name="T70" fmla="*/ 2147483646 w 480"/>
              <a:gd name="T71" fmla="*/ 2147483646 h 439"/>
              <a:gd name="T72" fmla="*/ 2147483646 w 480"/>
              <a:gd name="T73" fmla="*/ 2147483646 h 439"/>
              <a:gd name="T74" fmla="*/ 2147483646 w 480"/>
              <a:gd name="T75" fmla="*/ 2147483646 h 439"/>
              <a:gd name="T76" fmla="*/ 2147483646 w 480"/>
              <a:gd name="T77" fmla="*/ 2147483646 h 439"/>
              <a:gd name="T78" fmla="*/ 2147483646 w 480"/>
              <a:gd name="T79" fmla="*/ 2147483646 h 439"/>
              <a:gd name="T80" fmla="*/ 2147483646 w 480"/>
              <a:gd name="T81" fmla="*/ 2147483646 h 439"/>
              <a:gd name="T82" fmla="*/ 2147483646 w 480"/>
              <a:gd name="T83" fmla="*/ 2147483646 h 439"/>
              <a:gd name="T84" fmla="*/ 2147483646 w 480"/>
              <a:gd name="T85" fmla="*/ 2147483646 h 439"/>
              <a:gd name="T86" fmla="*/ 2147483646 w 480"/>
              <a:gd name="T87" fmla="*/ 2147483646 h 439"/>
              <a:gd name="T88" fmla="*/ 2147483646 w 480"/>
              <a:gd name="T89" fmla="*/ 2147483646 h 439"/>
              <a:gd name="T90" fmla="*/ 2147483646 w 480"/>
              <a:gd name="T91" fmla="*/ 2147483646 h 439"/>
              <a:gd name="T92" fmla="*/ 2147483646 w 480"/>
              <a:gd name="T93" fmla="*/ 2147483646 h 439"/>
              <a:gd name="T94" fmla="*/ 2147483646 w 480"/>
              <a:gd name="T95" fmla="*/ 2147483646 h 439"/>
              <a:gd name="T96" fmla="*/ 2147483646 w 480"/>
              <a:gd name="T97" fmla="*/ 2147483646 h 439"/>
              <a:gd name="T98" fmla="*/ 2147483646 w 480"/>
              <a:gd name="T99" fmla="*/ 2147483646 h 439"/>
              <a:gd name="T100" fmla="*/ 2147483646 w 480"/>
              <a:gd name="T101" fmla="*/ 2147483646 h 439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480"/>
              <a:gd name="T154" fmla="*/ 0 h 439"/>
              <a:gd name="T155" fmla="*/ 480 w 480"/>
              <a:gd name="T156" fmla="*/ 439 h 439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480" h="439">
                <a:moveTo>
                  <a:pt x="0" y="439"/>
                </a:moveTo>
                <a:lnTo>
                  <a:pt x="3" y="439"/>
                </a:lnTo>
                <a:lnTo>
                  <a:pt x="4" y="439"/>
                </a:lnTo>
                <a:lnTo>
                  <a:pt x="7" y="439"/>
                </a:lnTo>
                <a:lnTo>
                  <a:pt x="8" y="439"/>
                </a:lnTo>
                <a:lnTo>
                  <a:pt x="11" y="439"/>
                </a:lnTo>
                <a:lnTo>
                  <a:pt x="12" y="439"/>
                </a:lnTo>
                <a:lnTo>
                  <a:pt x="15" y="439"/>
                </a:lnTo>
                <a:lnTo>
                  <a:pt x="16" y="439"/>
                </a:lnTo>
                <a:lnTo>
                  <a:pt x="17" y="439"/>
                </a:lnTo>
                <a:lnTo>
                  <a:pt x="20" y="439"/>
                </a:lnTo>
                <a:lnTo>
                  <a:pt x="21" y="439"/>
                </a:lnTo>
                <a:lnTo>
                  <a:pt x="24" y="439"/>
                </a:lnTo>
                <a:lnTo>
                  <a:pt x="25" y="439"/>
                </a:lnTo>
                <a:lnTo>
                  <a:pt x="28" y="439"/>
                </a:lnTo>
                <a:lnTo>
                  <a:pt x="29" y="439"/>
                </a:lnTo>
                <a:lnTo>
                  <a:pt x="32" y="439"/>
                </a:lnTo>
                <a:lnTo>
                  <a:pt x="33" y="439"/>
                </a:lnTo>
                <a:lnTo>
                  <a:pt x="34" y="439"/>
                </a:lnTo>
                <a:lnTo>
                  <a:pt x="37" y="439"/>
                </a:lnTo>
                <a:lnTo>
                  <a:pt x="38" y="439"/>
                </a:lnTo>
                <a:lnTo>
                  <a:pt x="41" y="439"/>
                </a:lnTo>
                <a:lnTo>
                  <a:pt x="42" y="439"/>
                </a:lnTo>
                <a:lnTo>
                  <a:pt x="45" y="439"/>
                </a:lnTo>
                <a:lnTo>
                  <a:pt x="46" y="439"/>
                </a:lnTo>
                <a:lnTo>
                  <a:pt x="48" y="439"/>
                </a:lnTo>
                <a:lnTo>
                  <a:pt x="50" y="439"/>
                </a:lnTo>
                <a:lnTo>
                  <a:pt x="51" y="439"/>
                </a:lnTo>
                <a:lnTo>
                  <a:pt x="54" y="439"/>
                </a:lnTo>
                <a:lnTo>
                  <a:pt x="55" y="439"/>
                </a:lnTo>
                <a:lnTo>
                  <a:pt x="58" y="439"/>
                </a:lnTo>
                <a:lnTo>
                  <a:pt x="59" y="439"/>
                </a:lnTo>
                <a:lnTo>
                  <a:pt x="62" y="439"/>
                </a:lnTo>
                <a:lnTo>
                  <a:pt x="63" y="439"/>
                </a:lnTo>
                <a:lnTo>
                  <a:pt x="65" y="439"/>
                </a:lnTo>
                <a:lnTo>
                  <a:pt x="67" y="439"/>
                </a:lnTo>
                <a:lnTo>
                  <a:pt x="68" y="439"/>
                </a:lnTo>
                <a:lnTo>
                  <a:pt x="71" y="439"/>
                </a:lnTo>
                <a:lnTo>
                  <a:pt x="72" y="439"/>
                </a:lnTo>
                <a:lnTo>
                  <a:pt x="75" y="439"/>
                </a:lnTo>
                <a:lnTo>
                  <a:pt x="76" y="439"/>
                </a:lnTo>
                <a:lnTo>
                  <a:pt x="78" y="439"/>
                </a:lnTo>
                <a:lnTo>
                  <a:pt x="80" y="439"/>
                </a:lnTo>
                <a:lnTo>
                  <a:pt x="82" y="439"/>
                </a:lnTo>
                <a:lnTo>
                  <a:pt x="84" y="439"/>
                </a:lnTo>
                <a:lnTo>
                  <a:pt x="85" y="439"/>
                </a:lnTo>
                <a:lnTo>
                  <a:pt x="88" y="439"/>
                </a:lnTo>
                <a:lnTo>
                  <a:pt x="89" y="439"/>
                </a:lnTo>
                <a:lnTo>
                  <a:pt x="92" y="439"/>
                </a:lnTo>
                <a:lnTo>
                  <a:pt x="93" y="439"/>
                </a:lnTo>
                <a:lnTo>
                  <a:pt x="95" y="439"/>
                </a:lnTo>
                <a:lnTo>
                  <a:pt x="97" y="439"/>
                </a:lnTo>
                <a:lnTo>
                  <a:pt x="98" y="439"/>
                </a:lnTo>
                <a:lnTo>
                  <a:pt x="101" y="439"/>
                </a:lnTo>
                <a:lnTo>
                  <a:pt x="102" y="439"/>
                </a:lnTo>
                <a:lnTo>
                  <a:pt x="105" y="439"/>
                </a:lnTo>
                <a:lnTo>
                  <a:pt x="106" y="439"/>
                </a:lnTo>
                <a:lnTo>
                  <a:pt x="108" y="439"/>
                </a:lnTo>
                <a:lnTo>
                  <a:pt x="110" y="439"/>
                </a:lnTo>
                <a:lnTo>
                  <a:pt x="112" y="439"/>
                </a:lnTo>
                <a:lnTo>
                  <a:pt x="114" y="439"/>
                </a:lnTo>
                <a:lnTo>
                  <a:pt x="115" y="439"/>
                </a:lnTo>
                <a:lnTo>
                  <a:pt x="118" y="439"/>
                </a:lnTo>
                <a:lnTo>
                  <a:pt x="119" y="439"/>
                </a:lnTo>
                <a:lnTo>
                  <a:pt x="122" y="439"/>
                </a:lnTo>
                <a:lnTo>
                  <a:pt x="123" y="439"/>
                </a:lnTo>
                <a:lnTo>
                  <a:pt x="125" y="439"/>
                </a:lnTo>
                <a:lnTo>
                  <a:pt x="127" y="439"/>
                </a:lnTo>
                <a:lnTo>
                  <a:pt x="129" y="439"/>
                </a:lnTo>
                <a:lnTo>
                  <a:pt x="131" y="439"/>
                </a:lnTo>
                <a:lnTo>
                  <a:pt x="132" y="439"/>
                </a:lnTo>
                <a:lnTo>
                  <a:pt x="135" y="439"/>
                </a:lnTo>
                <a:lnTo>
                  <a:pt x="136" y="439"/>
                </a:lnTo>
                <a:lnTo>
                  <a:pt x="138" y="439"/>
                </a:lnTo>
                <a:lnTo>
                  <a:pt x="140" y="439"/>
                </a:lnTo>
                <a:lnTo>
                  <a:pt x="142" y="439"/>
                </a:lnTo>
                <a:lnTo>
                  <a:pt x="144" y="439"/>
                </a:lnTo>
                <a:lnTo>
                  <a:pt x="146" y="439"/>
                </a:lnTo>
                <a:lnTo>
                  <a:pt x="148" y="439"/>
                </a:lnTo>
                <a:lnTo>
                  <a:pt x="149" y="439"/>
                </a:lnTo>
                <a:lnTo>
                  <a:pt x="152" y="439"/>
                </a:lnTo>
                <a:lnTo>
                  <a:pt x="153" y="439"/>
                </a:lnTo>
                <a:lnTo>
                  <a:pt x="155" y="439"/>
                </a:lnTo>
                <a:lnTo>
                  <a:pt x="157" y="439"/>
                </a:lnTo>
                <a:lnTo>
                  <a:pt x="159" y="439"/>
                </a:lnTo>
                <a:lnTo>
                  <a:pt x="161" y="439"/>
                </a:lnTo>
                <a:lnTo>
                  <a:pt x="163" y="439"/>
                </a:lnTo>
                <a:lnTo>
                  <a:pt x="165" y="439"/>
                </a:lnTo>
                <a:lnTo>
                  <a:pt x="166" y="438"/>
                </a:lnTo>
                <a:lnTo>
                  <a:pt x="168" y="438"/>
                </a:lnTo>
                <a:lnTo>
                  <a:pt x="170" y="435"/>
                </a:lnTo>
                <a:lnTo>
                  <a:pt x="172" y="431"/>
                </a:lnTo>
                <a:lnTo>
                  <a:pt x="174" y="426"/>
                </a:lnTo>
                <a:lnTo>
                  <a:pt x="176" y="415"/>
                </a:lnTo>
                <a:lnTo>
                  <a:pt x="178" y="401"/>
                </a:lnTo>
                <a:lnTo>
                  <a:pt x="180" y="382"/>
                </a:lnTo>
                <a:lnTo>
                  <a:pt x="182" y="354"/>
                </a:lnTo>
                <a:lnTo>
                  <a:pt x="183" y="320"/>
                </a:lnTo>
                <a:lnTo>
                  <a:pt x="185" y="281"/>
                </a:lnTo>
                <a:lnTo>
                  <a:pt x="187" y="239"/>
                </a:lnTo>
                <a:lnTo>
                  <a:pt x="189" y="194"/>
                </a:lnTo>
                <a:lnTo>
                  <a:pt x="191" y="152"/>
                </a:lnTo>
                <a:lnTo>
                  <a:pt x="193" y="113"/>
                </a:lnTo>
                <a:lnTo>
                  <a:pt x="195" y="79"/>
                </a:lnTo>
                <a:lnTo>
                  <a:pt x="197" y="52"/>
                </a:lnTo>
                <a:lnTo>
                  <a:pt x="198" y="32"/>
                </a:lnTo>
                <a:lnTo>
                  <a:pt x="200" y="18"/>
                </a:lnTo>
                <a:lnTo>
                  <a:pt x="202" y="9"/>
                </a:lnTo>
                <a:lnTo>
                  <a:pt x="204" y="2"/>
                </a:lnTo>
                <a:lnTo>
                  <a:pt x="206" y="0"/>
                </a:lnTo>
                <a:lnTo>
                  <a:pt x="208" y="0"/>
                </a:lnTo>
                <a:lnTo>
                  <a:pt x="210" y="2"/>
                </a:lnTo>
                <a:lnTo>
                  <a:pt x="212" y="9"/>
                </a:lnTo>
                <a:lnTo>
                  <a:pt x="214" y="18"/>
                </a:lnTo>
                <a:lnTo>
                  <a:pt x="215" y="32"/>
                </a:lnTo>
                <a:lnTo>
                  <a:pt x="217" y="52"/>
                </a:lnTo>
                <a:lnTo>
                  <a:pt x="219" y="79"/>
                </a:lnTo>
                <a:lnTo>
                  <a:pt x="221" y="113"/>
                </a:lnTo>
                <a:lnTo>
                  <a:pt x="223" y="152"/>
                </a:lnTo>
                <a:lnTo>
                  <a:pt x="225" y="194"/>
                </a:lnTo>
                <a:lnTo>
                  <a:pt x="227" y="239"/>
                </a:lnTo>
                <a:lnTo>
                  <a:pt x="228" y="281"/>
                </a:lnTo>
                <a:lnTo>
                  <a:pt x="231" y="320"/>
                </a:lnTo>
                <a:lnTo>
                  <a:pt x="232" y="354"/>
                </a:lnTo>
                <a:lnTo>
                  <a:pt x="234" y="382"/>
                </a:lnTo>
                <a:lnTo>
                  <a:pt x="236" y="401"/>
                </a:lnTo>
                <a:lnTo>
                  <a:pt x="238" y="415"/>
                </a:lnTo>
                <a:lnTo>
                  <a:pt x="240" y="426"/>
                </a:lnTo>
                <a:lnTo>
                  <a:pt x="242" y="431"/>
                </a:lnTo>
                <a:lnTo>
                  <a:pt x="244" y="435"/>
                </a:lnTo>
                <a:lnTo>
                  <a:pt x="245" y="438"/>
                </a:lnTo>
                <a:lnTo>
                  <a:pt x="248" y="438"/>
                </a:lnTo>
                <a:lnTo>
                  <a:pt x="249" y="439"/>
                </a:lnTo>
                <a:lnTo>
                  <a:pt x="251" y="439"/>
                </a:lnTo>
                <a:lnTo>
                  <a:pt x="253" y="439"/>
                </a:lnTo>
                <a:lnTo>
                  <a:pt x="255" y="439"/>
                </a:lnTo>
                <a:lnTo>
                  <a:pt x="257" y="439"/>
                </a:lnTo>
                <a:lnTo>
                  <a:pt x="258" y="439"/>
                </a:lnTo>
                <a:lnTo>
                  <a:pt x="261" y="439"/>
                </a:lnTo>
                <a:lnTo>
                  <a:pt x="262" y="439"/>
                </a:lnTo>
                <a:lnTo>
                  <a:pt x="265" y="439"/>
                </a:lnTo>
                <a:lnTo>
                  <a:pt x="266" y="439"/>
                </a:lnTo>
                <a:lnTo>
                  <a:pt x="268" y="439"/>
                </a:lnTo>
                <a:lnTo>
                  <a:pt x="270" y="439"/>
                </a:lnTo>
                <a:lnTo>
                  <a:pt x="272" y="439"/>
                </a:lnTo>
                <a:lnTo>
                  <a:pt x="274" y="439"/>
                </a:lnTo>
                <a:lnTo>
                  <a:pt x="275" y="439"/>
                </a:lnTo>
                <a:lnTo>
                  <a:pt x="278" y="439"/>
                </a:lnTo>
                <a:lnTo>
                  <a:pt x="279" y="439"/>
                </a:lnTo>
                <a:lnTo>
                  <a:pt x="282" y="439"/>
                </a:lnTo>
                <a:lnTo>
                  <a:pt x="283" y="439"/>
                </a:lnTo>
                <a:lnTo>
                  <a:pt x="285" y="439"/>
                </a:lnTo>
                <a:lnTo>
                  <a:pt x="287" y="439"/>
                </a:lnTo>
                <a:lnTo>
                  <a:pt x="288" y="439"/>
                </a:lnTo>
                <a:lnTo>
                  <a:pt x="291" y="439"/>
                </a:lnTo>
                <a:lnTo>
                  <a:pt x="292" y="439"/>
                </a:lnTo>
                <a:lnTo>
                  <a:pt x="295" y="439"/>
                </a:lnTo>
                <a:lnTo>
                  <a:pt x="296" y="439"/>
                </a:lnTo>
                <a:lnTo>
                  <a:pt x="298" y="439"/>
                </a:lnTo>
                <a:lnTo>
                  <a:pt x="300" y="439"/>
                </a:lnTo>
                <a:lnTo>
                  <a:pt x="302" y="439"/>
                </a:lnTo>
                <a:lnTo>
                  <a:pt x="304" y="439"/>
                </a:lnTo>
                <a:lnTo>
                  <a:pt x="305" y="439"/>
                </a:lnTo>
                <a:lnTo>
                  <a:pt x="308" y="439"/>
                </a:lnTo>
                <a:lnTo>
                  <a:pt x="309" y="439"/>
                </a:lnTo>
                <a:lnTo>
                  <a:pt x="312" y="439"/>
                </a:lnTo>
                <a:lnTo>
                  <a:pt x="313" y="439"/>
                </a:lnTo>
                <a:lnTo>
                  <a:pt x="315" y="439"/>
                </a:lnTo>
                <a:lnTo>
                  <a:pt x="317" y="439"/>
                </a:lnTo>
                <a:lnTo>
                  <a:pt x="318" y="439"/>
                </a:lnTo>
                <a:lnTo>
                  <a:pt x="321" y="439"/>
                </a:lnTo>
                <a:lnTo>
                  <a:pt x="322" y="439"/>
                </a:lnTo>
                <a:lnTo>
                  <a:pt x="325" y="439"/>
                </a:lnTo>
                <a:lnTo>
                  <a:pt x="326" y="439"/>
                </a:lnTo>
                <a:lnTo>
                  <a:pt x="329" y="439"/>
                </a:lnTo>
                <a:lnTo>
                  <a:pt x="330" y="439"/>
                </a:lnTo>
                <a:lnTo>
                  <a:pt x="332" y="439"/>
                </a:lnTo>
                <a:lnTo>
                  <a:pt x="334" y="439"/>
                </a:lnTo>
                <a:lnTo>
                  <a:pt x="335" y="439"/>
                </a:lnTo>
                <a:lnTo>
                  <a:pt x="338" y="439"/>
                </a:lnTo>
                <a:lnTo>
                  <a:pt x="339" y="439"/>
                </a:lnTo>
                <a:lnTo>
                  <a:pt x="342" y="439"/>
                </a:lnTo>
                <a:lnTo>
                  <a:pt x="343" y="439"/>
                </a:lnTo>
                <a:lnTo>
                  <a:pt x="346" y="439"/>
                </a:lnTo>
                <a:lnTo>
                  <a:pt x="347" y="439"/>
                </a:lnTo>
                <a:lnTo>
                  <a:pt x="348" y="439"/>
                </a:lnTo>
                <a:lnTo>
                  <a:pt x="351" y="439"/>
                </a:lnTo>
                <a:lnTo>
                  <a:pt x="352" y="439"/>
                </a:lnTo>
                <a:lnTo>
                  <a:pt x="355" y="439"/>
                </a:lnTo>
                <a:lnTo>
                  <a:pt x="356" y="439"/>
                </a:lnTo>
                <a:lnTo>
                  <a:pt x="359" y="439"/>
                </a:lnTo>
                <a:lnTo>
                  <a:pt x="360" y="439"/>
                </a:lnTo>
                <a:lnTo>
                  <a:pt x="363" y="439"/>
                </a:lnTo>
                <a:lnTo>
                  <a:pt x="364" y="439"/>
                </a:lnTo>
                <a:lnTo>
                  <a:pt x="365" y="439"/>
                </a:lnTo>
                <a:lnTo>
                  <a:pt x="368" y="439"/>
                </a:lnTo>
                <a:lnTo>
                  <a:pt x="369" y="439"/>
                </a:lnTo>
                <a:lnTo>
                  <a:pt x="372" y="439"/>
                </a:lnTo>
                <a:lnTo>
                  <a:pt x="373" y="439"/>
                </a:lnTo>
                <a:lnTo>
                  <a:pt x="376" y="439"/>
                </a:lnTo>
                <a:lnTo>
                  <a:pt x="377" y="439"/>
                </a:lnTo>
                <a:lnTo>
                  <a:pt x="380" y="439"/>
                </a:lnTo>
                <a:lnTo>
                  <a:pt x="381" y="439"/>
                </a:lnTo>
                <a:lnTo>
                  <a:pt x="382" y="439"/>
                </a:lnTo>
                <a:lnTo>
                  <a:pt x="385" y="439"/>
                </a:lnTo>
                <a:lnTo>
                  <a:pt x="386" y="439"/>
                </a:lnTo>
                <a:lnTo>
                  <a:pt x="389" y="439"/>
                </a:lnTo>
                <a:lnTo>
                  <a:pt x="390" y="439"/>
                </a:lnTo>
                <a:lnTo>
                  <a:pt x="393" y="439"/>
                </a:lnTo>
                <a:lnTo>
                  <a:pt x="394" y="439"/>
                </a:lnTo>
                <a:lnTo>
                  <a:pt x="397" y="439"/>
                </a:lnTo>
                <a:lnTo>
                  <a:pt x="398" y="439"/>
                </a:lnTo>
                <a:lnTo>
                  <a:pt x="399" y="439"/>
                </a:lnTo>
                <a:lnTo>
                  <a:pt x="402" y="439"/>
                </a:lnTo>
                <a:lnTo>
                  <a:pt x="403" y="439"/>
                </a:lnTo>
                <a:lnTo>
                  <a:pt x="406" y="439"/>
                </a:lnTo>
                <a:lnTo>
                  <a:pt x="407" y="439"/>
                </a:lnTo>
                <a:lnTo>
                  <a:pt x="410" y="439"/>
                </a:lnTo>
                <a:lnTo>
                  <a:pt x="411" y="439"/>
                </a:lnTo>
                <a:lnTo>
                  <a:pt x="414" y="439"/>
                </a:lnTo>
                <a:lnTo>
                  <a:pt x="415" y="439"/>
                </a:lnTo>
                <a:lnTo>
                  <a:pt x="416" y="439"/>
                </a:lnTo>
                <a:lnTo>
                  <a:pt x="419" y="439"/>
                </a:lnTo>
                <a:lnTo>
                  <a:pt x="420" y="439"/>
                </a:lnTo>
                <a:lnTo>
                  <a:pt x="423" y="439"/>
                </a:lnTo>
                <a:lnTo>
                  <a:pt x="424" y="439"/>
                </a:lnTo>
                <a:lnTo>
                  <a:pt x="427" y="439"/>
                </a:lnTo>
                <a:lnTo>
                  <a:pt x="428" y="439"/>
                </a:lnTo>
                <a:lnTo>
                  <a:pt x="431" y="439"/>
                </a:lnTo>
                <a:lnTo>
                  <a:pt x="432" y="439"/>
                </a:lnTo>
                <a:lnTo>
                  <a:pt x="433" y="439"/>
                </a:lnTo>
                <a:lnTo>
                  <a:pt x="436" y="439"/>
                </a:lnTo>
                <a:lnTo>
                  <a:pt x="437" y="439"/>
                </a:lnTo>
                <a:lnTo>
                  <a:pt x="440" y="439"/>
                </a:lnTo>
                <a:lnTo>
                  <a:pt x="441" y="439"/>
                </a:lnTo>
                <a:lnTo>
                  <a:pt x="444" y="439"/>
                </a:lnTo>
                <a:lnTo>
                  <a:pt x="445" y="439"/>
                </a:lnTo>
                <a:lnTo>
                  <a:pt x="448" y="439"/>
                </a:lnTo>
                <a:lnTo>
                  <a:pt x="449" y="439"/>
                </a:lnTo>
                <a:lnTo>
                  <a:pt x="450" y="439"/>
                </a:lnTo>
                <a:lnTo>
                  <a:pt x="453" y="439"/>
                </a:lnTo>
                <a:lnTo>
                  <a:pt x="454" y="439"/>
                </a:lnTo>
                <a:lnTo>
                  <a:pt x="457" y="439"/>
                </a:lnTo>
                <a:lnTo>
                  <a:pt x="458" y="439"/>
                </a:lnTo>
                <a:lnTo>
                  <a:pt x="461" y="439"/>
                </a:lnTo>
                <a:lnTo>
                  <a:pt x="462" y="439"/>
                </a:lnTo>
                <a:lnTo>
                  <a:pt x="465" y="439"/>
                </a:lnTo>
                <a:lnTo>
                  <a:pt x="466" y="439"/>
                </a:lnTo>
                <a:lnTo>
                  <a:pt x="467" y="439"/>
                </a:lnTo>
                <a:lnTo>
                  <a:pt x="470" y="439"/>
                </a:lnTo>
                <a:lnTo>
                  <a:pt x="471" y="439"/>
                </a:lnTo>
                <a:lnTo>
                  <a:pt x="474" y="439"/>
                </a:lnTo>
                <a:lnTo>
                  <a:pt x="475" y="439"/>
                </a:lnTo>
                <a:lnTo>
                  <a:pt x="478" y="439"/>
                </a:lnTo>
                <a:lnTo>
                  <a:pt x="479" y="439"/>
                </a:lnTo>
                <a:lnTo>
                  <a:pt x="480" y="439"/>
                </a:lnTo>
              </a:path>
            </a:pathLst>
          </a:custGeom>
          <a:noFill/>
          <a:ln w="1588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44DFF781-2796-4CA7-AAD2-42995CE5993E}"/>
              </a:ext>
            </a:extLst>
          </p:cNvPr>
          <p:cNvSpPr>
            <a:spLocks/>
          </p:cNvSpPr>
          <p:nvPr/>
        </p:nvSpPr>
        <p:spPr bwMode="auto">
          <a:xfrm>
            <a:off x="7015743" y="3225944"/>
            <a:ext cx="1600200" cy="914400"/>
          </a:xfrm>
          <a:custGeom>
            <a:avLst/>
            <a:gdLst>
              <a:gd name="T0" fmla="*/ 2147483646 w 576"/>
              <a:gd name="T1" fmla="*/ 2147483646 h 534"/>
              <a:gd name="T2" fmla="*/ 2147483646 w 576"/>
              <a:gd name="T3" fmla="*/ 2147483646 h 534"/>
              <a:gd name="T4" fmla="*/ 2147483646 w 576"/>
              <a:gd name="T5" fmla="*/ 2147483646 h 534"/>
              <a:gd name="T6" fmla="*/ 2147483646 w 576"/>
              <a:gd name="T7" fmla="*/ 2147483646 h 534"/>
              <a:gd name="T8" fmla="*/ 2147483646 w 576"/>
              <a:gd name="T9" fmla="*/ 2147483646 h 534"/>
              <a:gd name="T10" fmla="*/ 2147483646 w 576"/>
              <a:gd name="T11" fmla="*/ 2147483646 h 534"/>
              <a:gd name="T12" fmla="*/ 2147483646 w 576"/>
              <a:gd name="T13" fmla="*/ 2147483646 h 534"/>
              <a:gd name="T14" fmla="*/ 2147483646 w 576"/>
              <a:gd name="T15" fmla="*/ 2147483646 h 534"/>
              <a:gd name="T16" fmla="*/ 2147483646 w 576"/>
              <a:gd name="T17" fmla="*/ 2147483646 h 534"/>
              <a:gd name="T18" fmla="*/ 2147483646 w 576"/>
              <a:gd name="T19" fmla="*/ 2147483646 h 534"/>
              <a:gd name="T20" fmla="*/ 2147483646 w 576"/>
              <a:gd name="T21" fmla="*/ 2147483646 h 534"/>
              <a:gd name="T22" fmla="*/ 2147483646 w 576"/>
              <a:gd name="T23" fmla="*/ 2147483646 h 534"/>
              <a:gd name="T24" fmla="*/ 2147483646 w 576"/>
              <a:gd name="T25" fmla="*/ 2147483646 h 534"/>
              <a:gd name="T26" fmla="*/ 2147483646 w 576"/>
              <a:gd name="T27" fmla="*/ 2147483646 h 534"/>
              <a:gd name="T28" fmla="*/ 2147483646 w 576"/>
              <a:gd name="T29" fmla="*/ 2147483646 h 534"/>
              <a:gd name="T30" fmla="*/ 2147483646 w 576"/>
              <a:gd name="T31" fmla="*/ 2147483646 h 534"/>
              <a:gd name="T32" fmla="*/ 2147483646 w 576"/>
              <a:gd name="T33" fmla="*/ 2147483646 h 534"/>
              <a:gd name="T34" fmla="*/ 2147483646 w 576"/>
              <a:gd name="T35" fmla="*/ 2147483646 h 534"/>
              <a:gd name="T36" fmla="*/ 2147483646 w 576"/>
              <a:gd name="T37" fmla="*/ 2147483646 h 534"/>
              <a:gd name="T38" fmla="*/ 2147483646 w 576"/>
              <a:gd name="T39" fmla="*/ 2147483646 h 534"/>
              <a:gd name="T40" fmla="*/ 2147483646 w 576"/>
              <a:gd name="T41" fmla="*/ 2147483646 h 534"/>
              <a:gd name="T42" fmla="*/ 2147483646 w 576"/>
              <a:gd name="T43" fmla="*/ 2147483646 h 534"/>
              <a:gd name="T44" fmla="*/ 2147483646 w 576"/>
              <a:gd name="T45" fmla="*/ 2147483646 h 534"/>
              <a:gd name="T46" fmla="*/ 2147483646 w 576"/>
              <a:gd name="T47" fmla="*/ 2147483646 h 534"/>
              <a:gd name="T48" fmla="*/ 2147483646 w 576"/>
              <a:gd name="T49" fmla="*/ 2147483646 h 534"/>
              <a:gd name="T50" fmla="*/ 2147483646 w 576"/>
              <a:gd name="T51" fmla="*/ 2147483646 h 534"/>
              <a:gd name="T52" fmla="*/ 2147483646 w 576"/>
              <a:gd name="T53" fmla="*/ 2147483646 h 534"/>
              <a:gd name="T54" fmla="*/ 2147483646 w 576"/>
              <a:gd name="T55" fmla="*/ 2147483646 h 534"/>
              <a:gd name="T56" fmla="*/ 2147483646 w 576"/>
              <a:gd name="T57" fmla="*/ 2147483646 h 534"/>
              <a:gd name="T58" fmla="*/ 2147483646 w 576"/>
              <a:gd name="T59" fmla="*/ 2147483646 h 534"/>
              <a:gd name="T60" fmla="*/ 2147483646 w 576"/>
              <a:gd name="T61" fmla="*/ 2147483646 h 534"/>
              <a:gd name="T62" fmla="*/ 2147483646 w 576"/>
              <a:gd name="T63" fmla="*/ 2147483646 h 534"/>
              <a:gd name="T64" fmla="*/ 2147483646 w 576"/>
              <a:gd name="T65" fmla="*/ 2147483646 h 534"/>
              <a:gd name="T66" fmla="*/ 2147483646 w 576"/>
              <a:gd name="T67" fmla="*/ 2147483646 h 534"/>
              <a:gd name="T68" fmla="*/ 2147483646 w 576"/>
              <a:gd name="T69" fmla="*/ 2147483646 h 534"/>
              <a:gd name="T70" fmla="*/ 2147483646 w 576"/>
              <a:gd name="T71" fmla="*/ 2147483646 h 534"/>
              <a:gd name="T72" fmla="*/ 2147483646 w 576"/>
              <a:gd name="T73" fmla="*/ 2147483646 h 534"/>
              <a:gd name="T74" fmla="*/ 2147483646 w 576"/>
              <a:gd name="T75" fmla="*/ 2147483646 h 534"/>
              <a:gd name="T76" fmla="*/ 2147483646 w 576"/>
              <a:gd name="T77" fmla="*/ 2147483646 h 534"/>
              <a:gd name="T78" fmla="*/ 2147483646 w 576"/>
              <a:gd name="T79" fmla="*/ 2147483646 h 534"/>
              <a:gd name="T80" fmla="*/ 2147483646 w 576"/>
              <a:gd name="T81" fmla="*/ 2147483646 h 534"/>
              <a:gd name="T82" fmla="*/ 2147483646 w 576"/>
              <a:gd name="T83" fmla="*/ 2147483646 h 534"/>
              <a:gd name="T84" fmla="*/ 2147483646 w 576"/>
              <a:gd name="T85" fmla="*/ 2147483646 h 534"/>
              <a:gd name="T86" fmla="*/ 2147483646 w 576"/>
              <a:gd name="T87" fmla="*/ 2147483646 h 534"/>
              <a:gd name="T88" fmla="*/ 2147483646 w 576"/>
              <a:gd name="T89" fmla="*/ 2147483646 h 534"/>
              <a:gd name="T90" fmla="*/ 2147483646 w 576"/>
              <a:gd name="T91" fmla="*/ 2147483646 h 534"/>
              <a:gd name="T92" fmla="*/ 2147483646 w 576"/>
              <a:gd name="T93" fmla="*/ 2147483646 h 534"/>
              <a:gd name="T94" fmla="*/ 2147483646 w 576"/>
              <a:gd name="T95" fmla="*/ 2147483646 h 534"/>
              <a:gd name="T96" fmla="*/ 2147483646 w 576"/>
              <a:gd name="T97" fmla="*/ 2147483646 h 534"/>
              <a:gd name="T98" fmla="*/ 2147483646 w 576"/>
              <a:gd name="T99" fmla="*/ 2147483646 h 534"/>
              <a:gd name="T100" fmla="*/ 2147483646 w 576"/>
              <a:gd name="T101" fmla="*/ 2147483646 h 534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576"/>
              <a:gd name="T154" fmla="*/ 0 h 534"/>
              <a:gd name="T155" fmla="*/ 576 w 576"/>
              <a:gd name="T156" fmla="*/ 534 h 534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576" h="534">
                <a:moveTo>
                  <a:pt x="0" y="267"/>
                </a:moveTo>
                <a:lnTo>
                  <a:pt x="3" y="267"/>
                </a:lnTo>
                <a:lnTo>
                  <a:pt x="5" y="267"/>
                </a:lnTo>
                <a:lnTo>
                  <a:pt x="8" y="267"/>
                </a:lnTo>
                <a:lnTo>
                  <a:pt x="10" y="267"/>
                </a:lnTo>
                <a:lnTo>
                  <a:pt x="13" y="267"/>
                </a:lnTo>
                <a:lnTo>
                  <a:pt x="14" y="267"/>
                </a:lnTo>
                <a:lnTo>
                  <a:pt x="17" y="267"/>
                </a:lnTo>
                <a:lnTo>
                  <a:pt x="19" y="267"/>
                </a:lnTo>
                <a:lnTo>
                  <a:pt x="21" y="267"/>
                </a:lnTo>
                <a:lnTo>
                  <a:pt x="24" y="267"/>
                </a:lnTo>
                <a:lnTo>
                  <a:pt x="25" y="267"/>
                </a:lnTo>
                <a:lnTo>
                  <a:pt x="28" y="267"/>
                </a:lnTo>
                <a:lnTo>
                  <a:pt x="30" y="267"/>
                </a:lnTo>
                <a:lnTo>
                  <a:pt x="33" y="267"/>
                </a:lnTo>
                <a:lnTo>
                  <a:pt x="35" y="267"/>
                </a:lnTo>
                <a:lnTo>
                  <a:pt x="38" y="267"/>
                </a:lnTo>
                <a:lnTo>
                  <a:pt x="39" y="267"/>
                </a:lnTo>
                <a:lnTo>
                  <a:pt x="41" y="267"/>
                </a:lnTo>
                <a:lnTo>
                  <a:pt x="44" y="267"/>
                </a:lnTo>
                <a:lnTo>
                  <a:pt x="46" y="267"/>
                </a:lnTo>
                <a:lnTo>
                  <a:pt x="49" y="267"/>
                </a:lnTo>
                <a:lnTo>
                  <a:pt x="50" y="267"/>
                </a:lnTo>
                <a:lnTo>
                  <a:pt x="53" y="267"/>
                </a:lnTo>
                <a:lnTo>
                  <a:pt x="55" y="267"/>
                </a:lnTo>
                <a:lnTo>
                  <a:pt x="58" y="267"/>
                </a:lnTo>
                <a:lnTo>
                  <a:pt x="60" y="267"/>
                </a:lnTo>
                <a:lnTo>
                  <a:pt x="61" y="267"/>
                </a:lnTo>
                <a:lnTo>
                  <a:pt x="64" y="267"/>
                </a:lnTo>
                <a:lnTo>
                  <a:pt x="66" y="267"/>
                </a:lnTo>
                <a:lnTo>
                  <a:pt x="69" y="267"/>
                </a:lnTo>
                <a:lnTo>
                  <a:pt x="71" y="267"/>
                </a:lnTo>
                <a:lnTo>
                  <a:pt x="74" y="267"/>
                </a:lnTo>
                <a:lnTo>
                  <a:pt x="75" y="267"/>
                </a:lnTo>
                <a:lnTo>
                  <a:pt x="79" y="267"/>
                </a:lnTo>
                <a:lnTo>
                  <a:pt x="80" y="267"/>
                </a:lnTo>
                <a:lnTo>
                  <a:pt x="82" y="267"/>
                </a:lnTo>
                <a:lnTo>
                  <a:pt x="85" y="267"/>
                </a:lnTo>
                <a:lnTo>
                  <a:pt x="86" y="267"/>
                </a:lnTo>
                <a:lnTo>
                  <a:pt x="89" y="267"/>
                </a:lnTo>
                <a:lnTo>
                  <a:pt x="91" y="267"/>
                </a:lnTo>
                <a:lnTo>
                  <a:pt x="94" y="267"/>
                </a:lnTo>
                <a:lnTo>
                  <a:pt x="96" y="267"/>
                </a:lnTo>
                <a:lnTo>
                  <a:pt x="99" y="267"/>
                </a:lnTo>
                <a:lnTo>
                  <a:pt x="100" y="267"/>
                </a:lnTo>
                <a:lnTo>
                  <a:pt x="102" y="267"/>
                </a:lnTo>
                <a:lnTo>
                  <a:pt x="105" y="267"/>
                </a:lnTo>
                <a:lnTo>
                  <a:pt x="107" y="267"/>
                </a:lnTo>
                <a:lnTo>
                  <a:pt x="110" y="267"/>
                </a:lnTo>
                <a:lnTo>
                  <a:pt x="111" y="267"/>
                </a:lnTo>
                <a:lnTo>
                  <a:pt x="115" y="267"/>
                </a:lnTo>
                <a:lnTo>
                  <a:pt x="116" y="267"/>
                </a:lnTo>
                <a:lnTo>
                  <a:pt x="118" y="267"/>
                </a:lnTo>
                <a:lnTo>
                  <a:pt x="121" y="267"/>
                </a:lnTo>
                <a:lnTo>
                  <a:pt x="122" y="267"/>
                </a:lnTo>
                <a:lnTo>
                  <a:pt x="125" y="267"/>
                </a:lnTo>
                <a:lnTo>
                  <a:pt x="127" y="267"/>
                </a:lnTo>
                <a:lnTo>
                  <a:pt x="130" y="267"/>
                </a:lnTo>
                <a:lnTo>
                  <a:pt x="132" y="267"/>
                </a:lnTo>
                <a:lnTo>
                  <a:pt x="135" y="267"/>
                </a:lnTo>
                <a:lnTo>
                  <a:pt x="136" y="267"/>
                </a:lnTo>
                <a:lnTo>
                  <a:pt x="138" y="267"/>
                </a:lnTo>
                <a:lnTo>
                  <a:pt x="141" y="267"/>
                </a:lnTo>
                <a:lnTo>
                  <a:pt x="143" y="267"/>
                </a:lnTo>
                <a:lnTo>
                  <a:pt x="146" y="267"/>
                </a:lnTo>
                <a:lnTo>
                  <a:pt x="147" y="267"/>
                </a:lnTo>
                <a:lnTo>
                  <a:pt x="151" y="267"/>
                </a:lnTo>
                <a:lnTo>
                  <a:pt x="152" y="267"/>
                </a:lnTo>
                <a:lnTo>
                  <a:pt x="155" y="267"/>
                </a:lnTo>
                <a:lnTo>
                  <a:pt x="157" y="267"/>
                </a:lnTo>
                <a:lnTo>
                  <a:pt x="158" y="266"/>
                </a:lnTo>
                <a:lnTo>
                  <a:pt x="161" y="266"/>
                </a:lnTo>
                <a:lnTo>
                  <a:pt x="163" y="266"/>
                </a:lnTo>
                <a:lnTo>
                  <a:pt x="166" y="266"/>
                </a:lnTo>
                <a:lnTo>
                  <a:pt x="168" y="266"/>
                </a:lnTo>
                <a:lnTo>
                  <a:pt x="171" y="266"/>
                </a:lnTo>
                <a:lnTo>
                  <a:pt x="172" y="266"/>
                </a:lnTo>
                <a:lnTo>
                  <a:pt x="176" y="266"/>
                </a:lnTo>
                <a:lnTo>
                  <a:pt x="177" y="266"/>
                </a:lnTo>
                <a:lnTo>
                  <a:pt x="179" y="266"/>
                </a:lnTo>
                <a:lnTo>
                  <a:pt x="182" y="266"/>
                </a:lnTo>
                <a:lnTo>
                  <a:pt x="183" y="266"/>
                </a:lnTo>
                <a:lnTo>
                  <a:pt x="187" y="266"/>
                </a:lnTo>
                <a:lnTo>
                  <a:pt x="188" y="266"/>
                </a:lnTo>
                <a:lnTo>
                  <a:pt x="191" y="266"/>
                </a:lnTo>
                <a:lnTo>
                  <a:pt x="193" y="266"/>
                </a:lnTo>
                <a:lnTo>
                  <a:pt x="196" y="266"/>
                </a:lnTo>
                <a:lnTo>
                  <a:pt x="197" y="266"/>
                </a:lnTo>
                <a:lnTo>
                  <a:pt x="199" y="264"/>
                </a:lnTo>
                <a:lnTo>
                  <a:pt x="202" y="261"/>
                </a:lnTo>
                <a:lnTo>
                  <a:pt x="204" y="255"/>
                </a:lnTo>
                <a:lnTo>
                  <a:pt x="207" y="245"/>
                </a:lnTo>
                <a:lnTo>
                  <a:pt x="208" y="230"/>
                </a:lnTo>
                <a:lnTo>
                  <a:pt x="212" y="209"/>
                </a:lnTo>
                <a:lnTo>
                  <a:pt x="213" y="180"/>
                </a:lnTo>
                <a:lnTo>
                  <a:pt x="216" y="145"/>
                </a:lnTo>
                <a:lnTo>
                  <a:pt x="218" y="104"/>
                </a:lnTo>
                <a:lnTo>
                  <a:pt x="219" y="65"/>
                </a:lnTo>
                <a:lnTo>
                  <a:pt x="223" y="31"/>
                </a:lnTo>
                <a:lnTo>
                  <a:pt x="224" y="9"/>
                </a:lnTo>
                <a:lnTo>
                  <a:pt x="227" y="0"/>
                </a:lnTo>
                <a:lnTo>
                  <a:pt x="229" y="9"/>
                </a:lnTo>
                <a:lnTo>
                  <a:pt x="232" y="31"/>
                </a:lnTo>
                <a:lnTo>
                  <a:pt x="233" y="65"/>
                </a:lnTo>
                <a:lnTo>
                  <a:pt x="237" y="104"/>
                </a:lnTo>
                <a:lnTo>
                  <a:pt x="238" y="145"/>
                </a:lnTo>
                <a:lnTo>
                  <a:pt x="240" y="181"/>
                </a:lnTo>
                <a:lnTo>
                  <a:pt x="243" y="211"/>
                </a:lnTo>
                <a:lnTo>
                  <a:pt x="244" y="233"/>
                </a:lnTo>
                <a:lnTo>
                  <a:pt x="248" y="252"/>
                </a:lnTo>
                <a:lnTo>
                  <a:pt x="249" y="267"/>
                </a:lnTo>
                <a:lnTo>
                  <a:pt x="252" y="281"/>
                </a:lnTo>
                <a:lnTo>
                  <a:pt x="254" y="300"/>
                </a:lnTo>
                <a:lnTo>
                  <a:pt x="257" y="322"/>
                </a:lnTo>
                <a:lnTo>
                  <a:pt x="259" y="352"/>
                </a:lnTo>
                <a:lnTo>
                  <a:pt x="260" y="388"/>
                </a:lnTo>
                <a:lnTo>
                  <a:pt x="263" y="429"/>
                </a:lnTo>
                <a:lnTo>
                  <a:pt x="265" y="468"/>
                </a:lnTo>
                <a:lnTo>
                  <a:pt x="268" y="502"/>
                </a:lnTo>
                <a:lnTo>
                  <a:pt x="269" y="524"/>
                </a:lnTo>
                <a:lnTo>
                  <a:pt x="273" y="534"/>
                </a:lnTo>
                <a:lnTo>
                  <a:pt x="274" y="524"/>
                </a:lnTo>
                <a:lnTo>
                  <a:pt x="277" y="502"/>
                </a:lnTo>
                <a:lnTo>
                  <a:pt x="279" y="468"/>
                </a:lnTo>
                <a:lnTo>
                  <a:pt x="280" y="429"/>
                </a:lnTo>
                <a:lnTo>
                  <a:pt x="284" y="388"/>
                </a:lnTo>
                <a:lnTo>
                  <a:pt x="285" y="354"/>
                </a:lnTo>
                <a:lnTo>
                  <a:pt x="288" y="324"/>
                </a:lnTo>
                <a:lnTo>
                  <a:pt x="290" y="303"/>
                </a:lnTo>
                <a:lnTo>
                  <a:pt x="293" y="288"/>
                </a:lnTo>
                <a:lnTo>
                  <a:pt x="295" y="278"/>
                </a:lnTo>
                <a:lnTo>
                  <a:pt x="298" y="272"/>
                </a:lnTo>
                <a:lnTo>
                  <a:pt x="299" y="269"/>
                </a:lnTo>
                <a:lnTo>
                  <a:pt x="301" y="267"/>
                </a:lnTo>
                <a:lnTo>
                  <a:pt x="304" y="267"/>
                </a:lnTo>
                <a:lnTo>
                  <a:pt x="305" y="267"/>
                </a:lnTo>
                <a:lnTo>
                  <a:pt x="309" y="267"/>
                </a:lnTo>
                <a:lnTo>
                  <a:pt x="310" y="267"/>
                </a:lnTo>
                <a:lnTo>
                  <a:pt x="313" y="267"/>
                </a:lnTo>
                <a:lnTo>
                  <a:pt x="315" y="267"/>
                </a:lnTo>
                <a:lnTo>
                  <a:pt x="318" y="267"/>
                </a:lnTo>
                <a:lnTo>
                  <a:pt x="320" y="267"/>
                </a:lnTo>
                <a:lnTo>
                  <a:pt x="321" y="267"/>
                </a:lnTo>
                <a:lnTo>
                  <a:pt x="324" y="267"/>
                </a:lnTo>
                <a:lnTo>
                  <a:pt x="326" y="267"/>
                </a:lnTo>
                <a:lnTo>
                  <a:pt x="329" y="267"/>
                </a:lnTo>
                <a:lnTo>
                  <a:pt x="331" y="267"/>
                </a:lnTo>
                <a:lnTo>
                  <a:pt x="334" y="267"/>
                </a:lnTo>
                <a:lnTo>
                  <a:pt x="335" y="267"/>
                </a:lnTo>
                <a:lnTo>
                  <a:pt x="338" y="267"/>
                </a:lnTo>
                <a:lnTo>
                  <a:pt x="340" y="267"/>
                </a:lnTo>
                <a:lnTo>
                  <a:pt x="341" y="267"/>
                </a:lnTo>
                <a:lnTo>
                  <a:pt x="345" y="267"/>
                </a:lnTo>
                <a:lnTo>
                  <a:pt x="346" y="267"/>
                </a:lnTo>
                <a:lnTo>
                  <a:pt x="349" y="267"/>
                </a:lnTo>
                <a:lnTo>
                  <a:pt x="351" y="267"/>
                </a:lnTo>
                <a:lnTo>
                  <a:pt x="354" y="267"/>
                </a:lnTo>
                <a:lnTo>
                  <a:pt x="356" y="267"/>
                </a:lnTo>
                <a:lnTo>
                  <a:pt x="357" y="267"/>
                </a:lnTo>
                <a:lnTo>
                  <a:pt x="360" y="267"/>
                </a:lnTo>
                <a:lnTo>
                  <a:pt x="362" y="267"/>
                </a:lnTo>
                <a:lnTo>
                  <a:pt x="365" y="267"/>
                </a:lnTo>
                <a:lnTo>
                  <a:pt x="367" y="267"/>
                </a:lnTo>
                <a:lnTo>
                  <a:pt x="370" y="267"/>
                </a:lnTo>
                <a:lnTo>
                  <a:pt x="371" y="267"/>
                </a:lnTo>
                <a:lnTo>
                  <a:pt x="374" y="267"/>
                </a:lnTo>
                <a:lnTo>
                  <a:pt x="376" y="267"/>
                </a:lnTo>
                <a:lnTo>
                  <a:pt x="377" y="267"/>
                </a:lnTo>
                <a:lnTo>
                  <a:pt x="381" y="267"/>
                </a:lnTo>
                <a:lnTo>
                  <a:pt x="382" y="267"/>
                </a:lnTo>
                <a:lnTo>
                  <a:pt x="385" y="267"/>
                </a:lnTo>
                <a:lnTo>
                  <a:pt x="387" y="267"/>
                </a:lnTo>
                <a:lnTo>
                  <a:pt x="390" y="267"/>
                </a:lnTo>
                <a:lnTo>
                  <a:pt x="392" y="267"/>
                </a:lnTo>
                <a:lnTo>
                  <a:pt x="395" y="267"/>
                </a:lnTo>
                <a:lnTo>
                  <a:pt x="396" y="267"/>
                </a:lnTo>
                <a:lnTo>
                  <a:pt x="398" y="267"/>
                </a:lnTo>
                <a:lnTo>
                  <a:pt x="401" y="267"/>
                </a:lnTo>
                <a:lnTo>
                  <a:pt x="403" y="267"/>
                </a:lnTo>
                <a:lnTo>
                  <a:pt x="406" y="267"/>
                </a:lnTo>
                <a:lnTo>
                  <a:pt x="407" y="267"/>
                </a:lnTo>
                <a:lnTo>
                  <a:pt x="410" y="267"/>
                </a:lnTo>
                <a:lnTo>
                  <a:pt x="412" y="267"/>
                </a:lnTo>
                <a:lnTo>
                  <a:pt x="415" y="267"/>
                </a:lnTo>
                <a:lnTo>
                  <a:pt x="417" y="267"/>
                </a:lnTo>
                <a:lnTo>
                  <a:pt x="418" y="267"/>
                </a:lnTo>
                <a:lnTo>
                  <a:pt x="421" y="267"/>
                </a:lnTo>
                <a:lnTo>
                  <a:pt x="423" y="267"/>
                </a:lnTo>
                <a:lnTo>
                  <a:pt x="426" y="267"/>
                </a:lnTo>
                <a:lnTo>
                  <a:pt x="428" y="267"/>
                </a:lnTo>
                <a:lnTo>
                  <a:pt x="431" y="267"/>
                </a:lnTo>
                <a:lnTo>
                  <a:pt x="432" y="267"/>
                </a:lnTo>
                <a:lnTo>
                  <a:pt x="435" y="267"/>
                </a:lnTo>
                <a:lnTo>
                  <a:pt x="437" y="267"/>
                </a:lnTo>
                <a:lnTo>
                  <a:pt x="439" y="267"/>
                </a:lnTo>
                <a:lnTo>
                  <a:pt x="442" y="267"/>
                </a:lnTo>
                <a:lnTo>
                  <a:pt x="443" y="267"/>
                </a:lnTo>
                <a:lnTo>
                  <a:pt x="446" y="267"/>
                </a:lnTo>
                <a:lnTo>
                  <a:pt x="448" y="267"/>
                </a:lnTo>
                <a:lnTo>
                  <a:pt x="451" y="267"/>
                </a:lnTo>
                <a:lnTo>
                  <a:pt x="453" y="267"/>
                </a:lnTo>
                <a:lnTo>
                  <a:pt x="456" y="267"/>
                </a:lnTo>
                <a:lnTo>
                  <a:pt x="457" y="267"/>
                </a:lnTo>
                <a:lnTo>
                  <a:pt x="459" y="267"/>
                </a:lnTo>
                <a:lnTo>
                  <a:pt x="462" y="267"/>
                </a:lnTo>
                <a:lnTo>
                  <a:pt x="464" y="267"/>
                </a:lnTo>
                <a:lnTo>
                  <a:pt x="467" y="267"/>
                </a:lnTo>
                <a:lnTo>
                  <a:pt x="468" y="267"/>
                </a:lnTo>
                <a:lnTo>
                  <a:pt x="471" y="267"/>
                </a:lnTo>
                <a:lnTo>
                  <a:pt x="473" y="267"/>
                </a:lnTo>
                <a:lnTo>
                  <a:pt x="476" y="267"/>
                </a:lnTo>
                <a:lnTo>
                  <a:pt x="478" y="267"/>
                </a:lnTo>
                <a:lnTo>
                  <a:pt x="479" y="267"/>
                </a:lnTo>
                <a:lnTo>
                  <a:pt x="482" y="267"/>
                </a:lnTo>
                <a:lnTo>
                  <a:pt x="484" y="267"/>
                </a:lnTo>
                <a:lnTo>
                  <a:pt x="487" y="267"/>
                </a:lnTo>
                <a:lnTo>
                  <a:pt x="489" y="267"/>
                </a:lnTo>
                <a:lnTo>
                  <a:pt x="492" y="267"/>
                </a:lnTo>
                <a:lnTo>
                  <a:pt x="493" y="267"/>
                </a:lnTo>
                <a:lnTo>
                  <a:pt x="496" y="267"/>
                </a:lnTo>
                <a:lnTo>
                  <a:pt x="498" y="267"/>
                </a:lnTo>
                <a:lnTo>
                  <a:pt x="500" y="267"/>
                </a:lnTo>
                <a:lnTo>
                  <a:pt x="503" y="267"/>
                </a:lnTo>
                <a:lnTo>
                  <a:pt x="504" y="267"/>
                </a:lnTo>
                <a:lnTo>
                  <a:pt x="507" y="267"/>
                </a:lnTo>
                <a:lnTo>
                  <a:pt x="509" y="267"/>
                </a:lnTo>
                <a:lnTo>
                  <a:pt x="512" y="267"/>
                </a:lnTo>
                <a:lnTo>
                  <a:pt x="514" y="267"/>
                </a:lnTo>
                <a:lnTo>
                  <a:pt x="517" y="267"/>
                </a:lnTo>
                <a:lnTo>
                  <a:pt x="518" y="267"/>
                </a:lnTo>
                <a:lnTo>
                  <a:pt x="520" y="267"/>
                </a:lnTo>
                <a:lnTo>
                  <a:pt x="523" y="267"/>
                </a:lnTo>
                <a:lnTo>
                  <a:pt x="525" y="267"/>
                </a:lnTo>
                <a:lnTo>
                  <a:pt x="528" y="267"/>
                </a:lnTo>
                <a:lnTo>
                  <a:pt x="529" y="267"/>
                </a:lnTo>
                <a:lnTo>
                  <a:pt x="532" y="267"/>
                </a:lnTo>
                <a:lnTo>
                  <a:pt x="534" y="267"/>
                </a:lnTo>
                <a:lnTo>
                  <a:pt x="537" y="267"/>
                </a:lnTo>
                <a:lnTo>
                  <a:pt x="539" y="267"/>
                </a:lnTo>
                <a:lnTo>
                  <a:pt x="540" y="267"/>
                </a:lnTo>
                <a:lnTo>
                  <a:pt x="543" y="267"/>
                </a:lnTo>
                <a:lnTo>
                  <a:pt x="545" y="267"/>
                </a:lnTo>
                <a:lnTo>
                  <a:pt x="548" y="267"/>
                </a:lnTo>
                <a:lnTo>
                  <a:pt x="550" y="267"/>
                </a:lnTo>
                <a:lnTo>
                  <a:pt x="553" y="267"/>
                </a:lnTo>
                <a:lnTo>
                  <a:pt x="554" y="267"/>
                </a:lnTo>
                <a:lnTo>
                  <a:pt x="557" y="267"/>
                </a:lnTo>
                <a:lnTo>
                  <a:pt x="559" y="267"/>
                </a:lnTo>
                <a:lnTo>
                  <a:pt x="561" y="267"/>
                </a:lnTo>
                <a:lnTo>
                  <a:pt x="564" y="267"/>
                </a:lnTo>
                <a:lnTo>
                  <a:pt x="565" y="267"/>
                </a:lnTo>
                <a:lnTo>
                  <a:pt x="568" y="267"/>
                </a:lnTo>
                <a:lnTo>
                  <a:pt x="570" y="267"/>
                </a:lnTo>
                <a:lnTo>
                  <a:pt x="573" y="267"/>
                </a:lnTo>
                <a:lnTo>
                  <a:pt x="575" y="267"/>
                </a:lnTo>
                <a:lnTo>
                  <a:pt x="576" y="267"/>
                </a:lnTo>
              </a:path>
            </a:pathLst>
          </a:custGeom>
          <a:noFill/>
          <a:ln w="3175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59545308-53BE-48E8-BD63-9625C3B04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3668" y="3953019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273BA2AF-5635-4B46-8811-2CE354E54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743" y="3987944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f’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1777D008-7274-4078-9A4D-7E5CA7DD7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143" y="4064144"/>
            <a:ext cx="471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f’’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A709117A-0FA7-4A0B-965D-02F5A1842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7143" y="3683144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D9E5535D-3EBE-4EF3-885E-A7D9F0204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7743" y="2886219"/>
            <a:ext cx="180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zero crossing</a:t>
            </a:r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0664B4BB-188B-45D5-86F6-9133F366C8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01543" y="3302144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4BE00B45-9454-4CBC-AF4F-0F4CD7BEA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7256" y="4624995"/>
            <a:ext cx="1392237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Laplacian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operator</a:t>
            </a:r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82F7B3C5-F916-4B54-9A7D-E194070F2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9718" y="504092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47AFCF7E-3396-4C52-BF11-71CB37972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0918" y="504092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1B070601-E13C-4A71-A7E7-FEF56E13F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6418" y="4736120"/>
            <a:ext cx="927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image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E2B1011F-9D26-470D-8FA0-258BCF8BF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931" y="4802795"/>
            <a:ext cx="18351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zero-crossing</a:t>
            </a:r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DF72E737-A7BF-449E-A6B9-F05BFE778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6618" y="504092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998B366C-BE56-4EF2-BA0B-1C4CFB5FE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6543" y="4624995"/>
            <a:ext cx="7588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edge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map</a:t>
            </a:r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EBC32F59-4DA1-4F5F-B696-7F20058C9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9143" y="5234595"/>
            <a:ext cx="8242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f(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i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BFA2269F-F220-49EA-8063-45F1170FF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818" y="5345720"/>
            <a:ext cx="9108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g(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i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5" name="Text Box 21">
            <a:extLst>
              <a:ext uri="{FF2B5EF4-FFF2-40B4-BE49-F238E27FC236}">
                <a16:creationId xmlns:a16="http://schemas.microsoft.com/office/drawing/2014/main" id="{D6642E7E-DF70-4B62-A060-421D0EA7B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2406" y="5269520"/>
            <a:ext cx="9268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E(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i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03053C-FAAF-4C72-A204-DC5D7C952B58}"/>
              </a:ext>
            </a:extLst>
          </p:cNvPr>
          <p:cNvSpPr txBox="1"/>
          <p:nvPr/>
        </p:nvSpPr>
        <p:spPr>
          <a:xfrm>
            <a:off x="719084" y="1362422"/>
            <a:ext cx="107342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Unlike first-order filters that detect the edges based on local maxima or minima, Laplacian detects the edges at zero crossings i.e. where the value changes from negative to positive and vice-versa.</a:t>
            </a:r>
          </a:p>
        </p:txBody>
      </p:sp>
    </p:spTree>
    <p:extLst>
      <p:ext uri="{BB962C8B-B14F-4D97-AF65-F5344CB8AC3E}">
        <p14:creationId xmlns:p14="http://schemas.microsoft.com/office/powerpoint/2010/main" val="1114483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F818-FB02-4A90-B922-E80475AD8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D3773-6F22-4DE8-96D1-C79246BDC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92306"/>
            <a:ext cx="11102787" cy="40018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 "/>
              </a:rPr>
              <a:t>Create a region-based segmentation method applying the splitting technique.</a:t>
            </a:r>
          </a:p>
          <a:p>
            <a:pPr marL="0" indent="0">
              <a:buNone/>
            </a:pPr>
            <a:r>
              <a:rPr lang="en-US" dirty="0">
                <a:latin typeface="Calibri "/>
              </a:rPr>
              <a:t>Instructions: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 "/>
              </a:rPr>
              <a:t>Use RGB image.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 "/>
              </a:rPr>
              <a:t>Show the change in the merged image with the variation of the threshold, which will be user-input.</a:t>
            </a:r>
          </a:p>
          <a:p>
            <a:pPr marL="514350" indent="-514350">
              <a:buAutoNum type="arabicPeriod"/>
            </a:pPr>
            <a:endParaRPr lang="en-US" dirty="0">
              <a:latin typeface="Calibri "/>
            </a:endParaRPr>
          </a:p>
          <a:p>
            <a:pPr marL="514350" indent="-514350">
              <a:buAutoNum type="arabicPeriod"/>
            </a:pPr>
            <a:endParaRPr lang="en-US" dirty="0">
              <a:latin typeface="Calibri 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E3E05-C1E9-4D65-9735-C5BFEFF25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7C37-845A-4C38-B4AC-8817F85CDC8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9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9D3D-E942-4E94-AB44-0DD25B91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C8D0D-61F2-4A3C-999D-B1C7172FF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It starts with the assumption that the entire image is homogeneous.</a:t>
            </a:r>
          </a:p>
          <a:p>
            <a:pPr marL="0" indent="0" eaLnBrk="1" hangingPunct="1">
              <a:buNone/>
            </a:pPr>
            <a:r>
              <a:rPr lang="en-US" dirty="0"/>
              <a:t>Homogeneity can be considered as the standard deviation of the sub-image &lt; threshold.</a:t>
            </a:r>
            <a:endParaRPr lang="en-US" alt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Check if the image is homogenous: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altLang="en-US" dirty="0"/>
              <a:t>If this is not true, the image is split into four sub-images.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altLang="en-US" dirty="0"/>
              <a:t>This splitting procedure is repeated recursively until we split the image into homogeneous regions.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Return the concatenated split sub-images.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02A88-6E2B-400C-A4E0-FF44BB03D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7C37-845A-4C38-B4AC-8817F85CDC8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54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E599-45E0-4F8E-BCCF-DE1D7B2CA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Quadtree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199DD-974D-406F-9728-B3C1679A0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8" y="1192307"/>
            <a:ext cx="10717306" cy="1268506"/>
          </a:xfrm>
        </p:spPr>
        <p:txBody>
          <a:bodyPr>
            <a:normAutofit fontScale="77500" lnSpcReduction="20000"/>
          </a:bodyPr>
          <a:lstStyle/>
          <a:p>
            <a:pPr eaLnBrk="1" hangingPunct="1"/>
            <a:r>
              <a:rPr lang="en-US" altLang="en-US" sz="2800" dirty="0"/>
              <a:t>If the original image is square N x N, all regions produced but the splitting algorithm are squares having dimensions   M x M.</a:t>
            </a:r>
          </a:p>
          <a:p>
            <a:pPr eaLnBrk="1" hangingPunct="1"/>
            <a:r>
              <a:rPr lang="en-US" altLang="en-US" sz="2800" dirty="0"/>
              <a:t>Since the procedure is recursive, it produces an image representation that can be described by a tree whose nodes have four sons each. Such a tree is called a Quadtree.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B16DF-45A6-4766-8B7E-5E7D751EB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50"/>
            <a:ext cx="2057400" cy="365125"/>
          </a:xfrm>
        </p:spPr>
        <p:txBody>
          <a:bodyPr/>
          <a:lstStyle/>
          <a:p>
            <a:fld id="{F2FA7C37-845A-4C38-B4AC-8817F85CDC8B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3FB9D6-252E-4C17-A227-F9C443EB3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6660" y="3330388"/>
            <a:ext cx="2286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DE3542-C8AE-48A3-807F-C3703CEB9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6660" y="4397188"/>
            <a:ext cx="1143000" cy="1066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42E5C9-EB19-46CC-B634-B7DA1D696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9660" y="4397188"/>
            <a:ext cx="1143000" cy="1066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49E99C-87F1-4EF1-8D64-74BFC5CB0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9660" y="3330388"/>
            <a:ext cx="1143000" cy="1066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861CCE-6E87-46F9-AFE2-C3077C1BC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6660" y="3330388"/>
            <a:ext cx="1143000" cy="1066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B7EAE8-B866-4C2D-97F1-8089F1ECF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6660" y="3330388"/>
            <a:ext cx="6096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26B91F-90F8-46C5-B0B3-4FA7BD177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260" y="3863788"/>
            <a:ext cx="5334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8E0E67-33DF-428A-9CE0-1B22C4151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260" y="3330388"/>
            <a:ext cx="533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28B222-6986-48D3-B61A-8195DA534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214" y="4674253"/>
            <a:ext cx="3810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C66BC00-1A59-4DD4-B830-EF08F158C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5411" y="4725911"/>
            <a:ext cx="3810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8364872-A79F-46BA-BDEA-C5175AF38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1448" y="4751350"/>
            <a:ext cx="3810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BC4A771-C49D-444B-A411-1E453EE2E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494" y="4725911"/>
            <a:ext cx="424554" cy="47052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6C5A7C1-1698-4CA5-A9A0-14C5799F5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3686" y="3859234"/>
            <a:ext cx="381000" cy="31325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C911C32-8F2C-48B7-A6B9-7F88677BF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4840" y="3851109"/>
            <a:ext cx="381000" cy="31325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98430C9-A6E1-4694-9152-207BCBAC8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2200" y="3876468"/>
            <a:ext cx="381000" cy="31325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034331E-B4F4-419E-BF5F-AE14223FB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1286" y="2793563"/>
            <a:ext cx="304800" cy="30411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9E3F9F5-E0CB-4386-99AF-240C3CC56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3086" y="3952890"/>
            <a:ext cx="374268" cy="32860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AACDE524-FC5A-4C06-8F88-4E195AFCB1F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43686" y="2936709"/>
            <a:ext cx="228600" cy="9397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6382F525-1AAA-41E6-96C5-E316D7EBED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43686" y="2936709"/>
            <a:ext cx="762000" cy="9397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CAA4FB22-763C-443E-BBEA-5E8E5B5F4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43686" y="2936709"/>
            <a:ext cx="1295400" cy="9397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1AE60737-B4BB-4D85-9412-9EC0DA5CF0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81686" y="2936709"/>
            <a:ext cx="759754" cy="10681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C92A7B45-6EC0-47FD-8006-C31F444A88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65576" y="4307159"/>
            <a:ext cx="979680" cy="3948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DA1CE042-1181-45CB-9FB4-BC7046CD10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54250" y="4279865"/>
            <a:ext cx="609953" cy="484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E4CB0EB4-72C2-471E-B774-94D29F04A0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8214" y="4222944"/>
            <a:ext cx="152400" cy="5742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18876486-8551-4AE3-AAD6-B0EA24544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7090" y="4273376"/>
            <a:ext cx="304800" cy="5742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16478B1D-870A-426A-992C-753C64ECA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660" y="3635188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829DD1B3-E536-4CA9-A906-3CFA0C3F7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860" y="3711388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E3A746D4-74C4-4582-9494-2EE90B931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660" y="3635188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28632BE0-5B6F-4852-ABB0-20AAA9EED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860" y="3558988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R0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69A87A78-6745-46A7-B1CF-62ADA3EB0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4024" y="3558988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R1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89594CF9-B209-4784-98A0-DD92386CC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860" y="4701988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R2</a:t>
            </a: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CF858376-9E0A-41F9-874E-F6B143944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4024" y="4473388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R3</a:t>
            </a:r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6D9068FD-3319-4177-954C-C330256B0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5886" y="3863788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R0</a:t>
            </a:r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80DCF4DB-16D9-439D-83D7-EAE1CBFA2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1440" y="4231459"/>
            <a:ext cx="533400" cy="251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R1</a:t>
            </a: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6F7C8F95-B3AF-467D-9257-79A35B899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8086" y="5531222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R00</a:t>
            </a:r>
          </a:p>
        </p:txBody>
      </p:sp>
      <p:sp>
        <p:nvSpPr>
          <p:cNvPr id="40" name="Text Box 39">
            <a:extLst>
              <a:ext uri="{FF2B5EF4-FFF2-40B4-BE49-F238E27FC236}">
                <a16:creationId xmlns:a16="http://schemas.microsoft.com/office/drawing/2014/main" id="{31B7E8ED-97CD-44C5-9BE5-57FB4CE02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086" y="5531222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R01</a:t>
            </a:r>
          </a:p>
        </p:txBody>
      </p:sp>
      <p:sp>
        <p:nvSpPr>
          <p:cNvPr id="41" name="Text Box 40">
            <a:extLst>
              <a:ext uri="{FF2B5EF4-FFF2-40B4-BE49-F238E27FC236}">
                <a16:creationId xmlns:a16="http://schemas.microsoft.com/office/drawing/2014/main" id="{0D0C14BB-FBCA-483A-BF43-36B410B37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5886" y="5531222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R02</a:t>
            </a:r>
          </a:p>
        </p:txBody>
      </p:sp>
      <p:sp>
        <p:nvSpPr>
          <p:cNvPr id="42" name="Text Box 41">
            <a:extLst>
              <a:ext uri="{FF2B5EF4-FFF2-40B4-BE49-F238E27FC236}">
                <a16:creationId xmlns:a16="http://schemas.microsoft.com/office/drawing/2014/main" id="{CB51182F-913B-4BC4-B9AB-1CD4F2B66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7886" y="5531222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R04</a:t>
            </a:r>
          </a:p>
        </p:txBody>
      </p:sp>
      <p:sp>
        <p:nvSpPr>
          <p:cNvPr id="43" name="Text Box 34">
            <a:extLst>
              <a:ext uri="{FF2B5EF4-FFF2-40B4-BE49-F238E27FC236}">
                <a16:creationId xmlns:a16="http://schemas.microsoft.com/office/drawing/2014/main" id="{A3E975AF-5415-4E8B-951C-4DE3F71A0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4840" y="421983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R2</a:t>
            </a:r>
          </a:p>
        </p:txBody>
      </p:sp>
      <p:sp>
        <p:nvSpPr>
          <p:cNvPr id="44" name="Text Box 35">
            <a:extLst>
              <a:ext uri="{FF2B5EF4-FFF2-40B4-BE49-F238E27FC236}">
                <a16:creationId xmlns:a16="http://schemas.microsoft.com/office/drawing/2014/main" id="{25CB876E-08E2-43B0-8AD7-88595D933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0" y="4230620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R3</a:t>
            </a:r>
          </a:p>
        </p:txBody>
      </p:sp>
    </p:spTree>
    <p:extLst>
      <p:ext uri="{BB962C8B-B14F-4D97-AF65-F5344CB8AC3E}">
        <p14:creationId xmlns:p14="http://schemas.microsoft.com/office/powerpoint/2010/main" val="2309894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DD893-0B76-4AFD-AE90-F14AF41B1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F41B7-3F00-4F60-A8DC-773E5B76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7C37-845A-4C38-B4AC-8817F85CDC8B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454AAE-443A-4E35-B37B-6C6FB5DBF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69" y="2060052"/>
            <a:ext cx="2819644" cy="2804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54464C-7C47-4F03-A7DD-871DF7B02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585" y="2060052"/>
            <a:ext cx="2781290" cy="28044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4EF190-263D-4BBD-AFB0-C8B8936FE30A}"/>
              </a:ext>
            </a:extLst>
          </p:cNvPr>
          <p:cNvSpPr txBox="1"/>
          <p:nvPr/>
        </p:nvSpPr>
        <p:spPr>
          <a:xfrm>
            <a:off x="1837366" y="4963276"/>
            <a:ext cx="1308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image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880503-4D81-4FF1-8CEF-B5C558AC26A4}"/>
              </a:ext>
            </a:extLst>
          </p:cNvPr>
          <p:cNvSpPr txBox="1"/>
          <p:nvPr/>
        </p:nvSpPr>
        <p:spPr>
          <a:xfrm>
            <a:off x="4452149" y="5147942"/>
            <a:ext cx="2467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 into 2X2 and merge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9904D-B775-4303-9192-50214F0E9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247" y="1910302"/>
            <a:ext cx="3099673" cy="31039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775F01-DC1A-40F4-97CC-F01E9687E0CA}"/>
              </a:ext>
            </a:extLst>
          </p:cNvPr>
          <p:cNvSpPr txBox="1"/>
          <p:nvPr/>
        </p:nvSpPr>
        <p:spPr>
          <a:xfrm>
            <a:off x="7873946" y="5147942"/>
            <a:ext cx="324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image, with threshold 25</a:t>
            </a:r>
          </a:p>
        </p:txBody>
      </p:sp>
    </p:spTree>
    <p:extLst>
      <p:ext uri="{BB962C8B-B14F-4D97-AF65-F5344CB8AC3E}">
        <p14:creationId xmlns:p14="http://schemas.microsoft.com/office/powerpoint/2010/main" val="3252889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2194</TotalTime>
  <Words>712</Words>
  <Application>Microsoft Office PowerPoint</Application>
  <PresentationFormat>Widescreen</PresentationFormat>
  <Paragraphs>205</Paragraphs>
  <Slides>14</Slides>
  <Notes>0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</vt:lpstr>
      <vt:lpstr>Calibri Light</vt:lpstr>
      <vt:lpstr>Symbol</vt:lpstr>
      <vt:lpstr>Times New Roman</vt:lpstr>
      <vt:lpstr>Office Theme</vt:lpstr>
      <vt:lpstr>Equation</vt:lpstr>
      <vt:lpstr>CSE 4128 Image Processing and Computer Vision  Laboratory  Week 2: Segmentation(Edge Detection)</vt:lpstr>
      <vt:lpstr>Segmentation</vt:lpstr>
      <vt:lpstr>Edge Detection</vt:lpstr>
      <vt:lpstr>Edge and Derivatives</vt:lpstr>
      <vt:lpstr>Segmentation with Edge Detection</vt:lpstr>
      <vt:lpstr>Robust Laplacian-based Edge Detector </vt:lpstr>
      <vt:lpstr>Laplacian Of Gaussian</vt:lpstr>
      <vt:lpstr>Zero crossing and Thresholding</vt:lpstr>
      <vt:lpstr>Region of interest and Standard Deviation</vt:lpstr>
      <vt:lpstr>Laplacian Edge Detection</vt:lpstr>
      <vt:lpstr>Assignment</vt:lpstr>
      <vt:lpstr>Algorithm</vt:lpstr>
      <vt:lpstr>Quadtree</vt:lpstr>
      <vt:lpstr>Output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 B</dc:creator>
  <cp:lastModifiedBy>soft lab</cp:lastModifiedBy>
  <cp:revision>51</cp:revision>
  <dcterms:created xsi:type="dcterms:W3CDTF">2024-02-19T07:05:35Z</dcterms:created>
  <dcterms:modified xsi:type="dcterms:W3CDTF">2024-02-28T05:34:03Z</dcterms:modified>
</cp:coreProperties>
</file>