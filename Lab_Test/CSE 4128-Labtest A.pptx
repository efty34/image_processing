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65" r:id="rId4"/>
    <p:sldId id="258" r:id="rId5"/>
    <p:sldId id="261" r:id="rId6"/>
    <p:sldId id="26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F5521-0ED6-4E68-813E-AD3E963E9DC9}" type="datetimeFigureOut">
              <a:rPr lang="en-US" smtClean="0"/>
              <a:t>27-Oct-25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96388D-89D0-480E-AB71-793F50C89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928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54270f1316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2" name="Google Shape;92;g254270f1316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76427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54324282be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g254324282be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36695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B9C37-DE51-4D5F-BBE1-CF817ADA3A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32EDF4-EE6A-48B8-9EE6-AF7BB68E9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1E48D-711B-4DD3-89F1-40E8BC2A8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E202A-2FED-4B68-9852-C1EA53D7283B}" type="datetimeFigureOut">
              <a:rPr lang="en-US" smtClean="0"/>
              <a:t>27-Oct-25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F443E-E7E8-470C-AD31-2E5482DDE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B605E-8700-4984-8431-0C06D830C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FC223-5101-4414-80AE-142343271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26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3CBDD-D47F-426E-BD9B-208CC8C27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7863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CE95C-5176-4223-81F3-957BE5148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C418E-75FC-4985-B21D-77FC1DE24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E202A-2FED-4B68-9852-C1EA53D7283B}" type="datetimeFigureOut">
              <a:rPr lang="en-US" smtClean="0"/>
              <a:t>27-Oct-25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FB725-6CAE-41B5-B591-13FA88641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A9318-83DE-47CC-BAC4-141EE6E3B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FC223-5101-4414-80AE-142343271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750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4300A-2832-42B9-9DAC-B8062B1FF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29AFB9-A0B1-4BB4-9CF1-5A336E3C3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F0EFC-036F-4ED9-AFC7-31612897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E202A-2FED-4B68-9852-C1EA53D7283B}" type="datetimeFigureOut">
              <a:rPr lang="en-US" smtClean="0"/>
              <a:t>27-Oct-25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19C46-8C11-4B70-8832-E141D0921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4E6DB-8EA4-44E8-A7FD-7DA710B0D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FC223-5101-4414-80AE-142343271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163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1B150-80DE-45D9-9376-D3B1A34A7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2230B-D939-4944-BD7C-55229E9247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BFC9C5-9DD1-4ACD-B996-49361EFE42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8788BE-6EB3-4D75-9F15-1425737B2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E202A-2FED-4B68-9852-C1EA53D7283B}" type="datetimeFigureOut">
              <a:rPr lang="en-US" smtClean="0"/>
              <a:t>27-Oct-25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F17CF-5BC0-4DA8-9DEA-5276267FE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3B07C7-8D9E-41E6-A927-884902260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FC223-5101-4414-80AE-142343271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62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3D112-2B9D-4988-AA7F-05AE6AA3C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FA434-E6D1-4EC5-A2CC-33A275465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25C17-22CF-45C4-BBE5-0E727EDCDF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D4B1C6-5CDE-4B55-B873-12367ED06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97EA38-28A8-4E98-BD30-0A4E281E17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2C03FD-DE90-4FC1-9EC6-793033CDC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E202A-2FED-4B68-9852-C1EA53D7283B}" type="datetimeFigureOut">
              <a:rPr lang="en-US" smtClean="0"/>
              <a:t>27-Oct-25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9242FA-3C4E-4415-B648-55688B10A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79C2ED-DBB2-4BD8-9C71-B8A45B5BF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FC223-5101-4414-80AE-142343271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770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803D-DF06-4545-BADD-12B49163B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7F36E-246E-4C3A-A2E4-38D7536E2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E202A-2FED-4B68-9852-C1EA53D7283B}" type="datetimeFigureOut">
              <a:rPr lang="en-US" smtClean="0"/>
              <a:t>27-Oct-25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E39DE6-2601-409D-9754-745068153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25058A-365D-4680-AA55-15E9E47C6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FC223-5101-4414-80AE-142343271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525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975705-1363-45E2-A036-063933EB0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E202A-2FED-4B68-9852-C1EA53D7283B}" type="datetimeFigureOut">
              <a:rPr lang="en-US" smtClean="0"/>
              <a:t>27-Oct-25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C94D3E-289F-493E-A9C1-EA88DC961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7B690-A6EF-41BD-9F7E-6F53B2732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FC223-5101-4414-80AE-142343271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783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A3E57-AB1C-4B4B-8698-554F41D3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46978-964D-46B9-9FCF-D96D425CB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4F7BAE-D748-493B-AF53-7802E03223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838F24-5373-4938-9BDA-450768EFE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E202A-2FED-4B68-9852-C1EA53D7283B}" type="datetimeFigureOut">
              <a:rPr lang="en-US" smtClean="0"/>
              <a:t>27-Oct-25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056162-805E-4A16-87C3-7CE9C87D7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664E6C-C8B1-43F9-AD1F-3E034C683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FC223-5101-4414-80AE-142343271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63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8015A-AC7C-4F20-A32A-A05AC1CB0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B1E5E5-B3E8-4D93-B419-76E0D028A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FFEFE-3F11-4746-919C-879F9FA320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593C33-4411-4A87-A893-007429AAA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E202A-2FED-4B68-9852-C1EA53D7283B}" type="datetimeFigureOut">
              <a:rPr lang="en-US" smtClean="0"/>
              <a:t>27-Oct-25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76C62C-E76F-42DF-BBF0-9016E9682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3B6EBA-DE45-44A9-80AE-F3BCB45CB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FC223-5101-4414-80AE-142343271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913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A01C9-EB24-4D64-B16B-82F115929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8F7C37-E270-4EB2-B54D-E48F373C8F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B7999-3926-4146-BCAC-64F3F1756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E202A-2FED-4B68-9852-C1EA53D7283B}" type="datetimeFigureOut">
              <a:rPr lang="en-US" smtClean="0"/>
              <a:t>27-Oct-25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0C3A3-009D-4F8C-8434-4FAEACF70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629A5-BB77-4674-BB59-62853330E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FC223-5101-4414-80AE-142343271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103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0AB557-2040-4104-BA23-4A6E6C9A74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02DC2F-A6BE-45A1-9597-4A2A1F806C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4F8F8-8562-4CA6-8365-9E57D7FBB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E202A-2FED-4B68-9852-C1EA53D7283B}" type="datetimeFigureOut">
              <a:rPr lang="en-US" smtClean="0"/>
              <a:t>27-Oct-25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8A8E-8E1B-47B7-8639-76788AF62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1A04E-9900-40A7-A176-4D1B74C17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FC223-5101-4414-80AE-142343271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293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0F5DC5-12F6-488B-984F-D640BBF3A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CB64DC-0B69-4774-8B45-7A1676125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A28B0-5482-456F-A0A7-D80583AD3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EE202A-2FED-4B68-9852-C1EA53D7283B}" type="datetimeFigureOut">
              <a:rPr lang="en-US" smtClean="0"/>
              <a:t>27-Oct-25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A799A-9EC6-4D8B-B028-EDF3FDA3FF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8F945-F1D1-4DFD-9C41-87DA143295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2FC223-5101-4414-80AE-142343271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06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7" Type="http://schemas.openxmlformats.org/officeDocument/2006/relationships/image" Target="../media/image13.jpeg"/><Relationship Id="rId12" Type="http://schemas.openxmlformats.org/officeDocument/2006/relationships/image" Target="../media/image18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11" Type="http://schemas.openxmlformats.org/officeDocument/2006/relationships/image" Target="../media/image17.jpeg"/><Relationship Id="rId5" Type="http://schemas.openxmlformats.org/officeDocument/2006/relationships/image" Target="../media/image11.png"/><Relationship Id="rId10" Type="http://schemas.openxmlformats.org/officeDocument/2006/relationships/image" Target="../media/image16.jpeg"/><Relationship Id="rId4" Type="http://schemas.openxmlformats.org/officeDocument/2006/relationships/image" Target="../media/image12.png"/><Relationship Id="rId9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AB41C-04CD-4134-A9AE-71595B004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62956"/>
            <a:ext cx="9144000" cy="1118813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+mn-lt"/>
              </a:rPr>
              <a:t>CSE 4128 </a:t>
            </a:r>
          </a:p>
        </p:txBody>
      </p:sp>
      <p:sp>
        <p:nvSpPr>
          <p:cNvPr id="4" name="Google Shape;85;p18">
            <a:extLst>
              <a:ext uri="{FF2B5EF4-FFF2-40B4-BE49-F238E27FC236}">
                <a16:creationId xmlns:a16="http://schemas.microsoft.com/office/drawing/2014/main" id="{6B08AE53-1BFD-4F4F-958D-2292393C2269}"/>
              </a:ext>
            </a:extLst>
          </p:cNvPr>
          <p:cNvSpPr txBox="1">
            <a:spLocks/>
          </p:cNvSpPr>
          <p:nvPr/>
        </p:nvSpPr>
        <p:spPr>
          <a:xfrm>
            <a:off x="2533509" y="1935691"/>
            <a:ext cx="7358063" cy="79474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dk1"/>
              </a:buClr>
              <a:buSzPts val="3600"/>
            </a:pPr>
            <a:r>
              <a:rPr lang="en-US" sz="3600" b="1" dirty="0"/>
              <a:t>LAB TEST: Section A </a:t>
            </a:r>
            <a:endParaRPr lang="en-US" sz="3600" dirty="0">
              <a:solidFill>
                <a:schemeClr val="dk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778D78-CAED-436F-B641-0D5A2588DF32}"/>
              </a:ext>
            </a:extLst>
          </p:cNvPr>
          <p:cNvSpPr txBox="1"/>
          <p:nvPr/>
        </p:nvSpPr>
        <p:spPr>
          <a:xfrm>
            <a:off x="979093" y="3598649"/>
            <a:ext cx="44823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7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Dr. Sk. Md.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Masudul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Ahsan</a:t>
            </a:r>
            <a:endParaRPr lang="en-US"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7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Professor, </a:t>
            </a:r>
            <a:endParaRPr lang="en-US"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7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Dept. of Computer Science and Engineering,</a:t>
            </a:r>
            <a:endParaRPr lang="en-US"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7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KUET</a:t>
            </a:r>
            <a:endParaRPr lang="en-US"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88;p18">
            <a:extLst>
              <a:ext uri="{FF2B5EF4-FFF2-40B4-BE49-F238E27FC236}">
                <a16:creationId xmlns:a16="http://schemas.microsoft.com/office/drawing/2014/main" id="{36B43853-5DF2-4CAA-91FE-580EE0D6F7CD}"/>
              </a:ext>
            </a:extLst>
          </p:cNvPr>
          <p:cNvSpPr txBox="1"/>
          <p:nvPr/>
        </p:nvSpPr>
        <p:spPr>
          <a:xfrm>
            <a:off x="6999495" y="3543761"/>
            <a:ext cx="4482353" cy="1180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7"/>
              <a:buFont typeface="Arial"/>
              <a:buNone/>
            </a:pPr>
            <a:r>
              <a:rPr lang="en-US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Md Tajmilur Rahman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7"/>
              <a:buFont typeface="Arial"/>
              <a:buNone/>
            </a:pPr>
            <a:r>
              <a:rPr lang="en-US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Lecturer,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7"/>
              <a:buFont typeface="Arial"/>
              <a:buNone/>
            </a:pPr>
            <a:r>
              <a:rPr lang="en-US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Dept. of Computer Science and Engineering, 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7"/>
              <a:buFont typeface="Arial"/>
              <a:buNone/>
            </a:pPr>
            <a:r>
              <a:rPr lang="en-US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KUET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8940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B8B50-4BBF-4AAA-A904-9E1D1428A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8216"/>
          </a:xfrm>
        </p:spPr>
        <p:txBody>
          <a:bodyPr/>
          <a:lstStyle/>
          <a:p>
            <a:r>
              <a:rPr lang="en-US" b="1" dirty="0"/>
              <a:t>Problem 1 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96F98-56D3-47B8-8013-AA7E71720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3342"/>
            <a:ext cx="6190129" cy="4823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Convolve the Lena image using Laplacian of Gaussian kernel.</a:t>
            </a:r>
            <a:endParaRPr lang="en-US" sz="3000" dirty="0"/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Generate kernel using Laplacian of Gaussian with user-defined kernel size and sigma.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Use the kernel to apply convolution on the following input image.</a:t>
            </a:r>
          </a:p>
          <a:p>
            <a:pPr marL="0" indent="0">
              <a:buNone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r>
              <a:rPr lang="en-US" sz="1600" dirty="0"/>
              <a:t>N.B.: You can use the library function for convolution. Use Sigma = 1, kernel size= 7X7 to match output</a:t>
            </a:r>
          </a:p>
          <a:p>
            <a:pPr marL="0" indent="0">
              <a:buNone/>
            </a:pP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588874-7750-43F8-B9A7-99BCD17D2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882" y="3637216"/>
            <a:ext cx="5188287" cy="1020647"/>
          </a:xfrm>
          <a:prstGeom prst="rect">
            <a:avLst/>
          </a:prstGeom>
        </p:spPr>
      </p:pic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CCE18AEA-F481-4C73-AF16-F60712933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953" y="3682766"/>
            <a:ext cx="2867377" cy="28555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6C1064-1357-4CE0-9033-E6C61E740D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4669" y="554224"/>
            <a:ext cx="2838661" cy="28555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81BB36-3358-4848-A2DC-46A9E1238E4D}"/>
              </a:ext>
            </a:extLst>
          </p:cNvPr>
          <p:cNvSpPr txBox="1"/>
          <p:nvPr/>
        </p:nvSpPr>
        <p:spPr>
          <a:xfrm>
            <a:off x="10540145" y="2185416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D1CD66-440F-45B5-8DD5-A9620810A34E}"/>
              </a:ext>
            </a:extLst>
          </p:cNvPr>
          <p:cNvSpPr txBox="1"/>
          <p:nvPr/>
        </p:nvSpPr>
        <p:spPr>
          <a:xfrm>
            <a:off x="10454385" y="4657863"/>
            <a:ext cx="16868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  <a:p>
            <a:r>
              <a:rPr lang="en-US" dirty="0"/>
              <a:t>Sigma = 1, </a:t>
            </a:r>
          </a:p>
          <a:p>
            <a:r>
              <a:rPr lang="en-US" dirty="0"/>
              <a:t>kernel size= 7X7</a:t>
            </a:r>
          </a:p>
        </p:txBody>
      </p:sp>
    </p:spTree>
    <p:extLst>
      <p:ext uri="{BB962C8B-B14F-4D97-AF65-F5344CB8AC3E}">
        <p14:creationId xmlns:p14="http://schemas.microsoft.com/office/powerpoint/2010/main" val="4045554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03254-55EA-4278-ACF0-E2264FB3D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2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4B189-9DC2-407F-B279-69A5CE460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716" y="1332746"/>
            <a:ext cx="7158318" cy="2801222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/>
              <a:t>Detect the edges of the given derivative image by finding zero cross points and Global Thresholding.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dirty="0"/>
              <a:t>Find the zero-cross points on the input.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dirty="0"/>
              <a:t>Apply Global thresholding in the on the zero-cross strength (ZS) map. Where, </a:t>
            </a:r>
            <a:r>
              <a:rPr lang="en-US" dirty="0">
                <a:cs typeface="Times New Roman" panose="02020603050405020304" pitchFamily="18" charset="0"/>
              </a:rPr>
              <a:t>Zero cross strength </a:t>
            </a:r>
          </a:p>
          <a:p>
            <a:pPr marL="457200" lvl="1" indent="0">
              <a:buNone/>
            </a:pPr>
            <a:r>
              <a:rPr lang="en-US" b="1" i="1" dirty="0">
                <a:cs typeface="Times New Roman" panose="02020603050405020304" pitchFamily="18" charset="0"/>
              </a:rPr>
              <a:t>         ZS</a:t>
            </a:r>
            <a:r>
              <a:rPr lang="en-US" dirty="0">
                <a:cs typeface="Times New Roman" panose="02020603050405020304" pitchFamily="18" charset="0"/>
              </a:rPr>
              <a:t> = ∑ |</a:t>
            </a:r>
            <a:r>
              <a:rPr lang="en-US" dirty="0" err="1">
                <a:cs typeface="Times New Roman" panose="02020603050405020304" pitchFamily="18" charset="0"/>
              </a:rPr>
              <a:t>current_pixel</a:t>
            </a:r>
            <a:r>
              <a:rPr lang="en-US" dirty="0">
                <a:cs typeface="Times New Roman" panose="02020603050405020304" pitchFamily="18" charset="0"/>
              </a:rPr>
              <a:t> – </a:t>
            </a:r>
            <a:r>
              <a:rPr lang="en-US" dirty="0" err="1">
                <a:cs typeface="Times New Roman" panose="02020603050405020304" pitchFamily="18" charset="0"/>
              </a:rPr>
              <a:t>neighbor_pixel</a:t>
            </a:r>
            <a:r>
              <a:rPr lang="en-US" dirty="0">
                <a:cs typeface="Times New Roman" panose="02020603050405020304" pitchFamily="18" charset="0"/>
              </a:rPr>
              <a:t>|</a:t>
            </a:r>
          </a:p>
          <a:p>
            <a:pPr marL="457200" lvl="1" indent="0">
              <a:buNone/>
            </a:pPr>
            <a:endParaRPr lang="en-US" sz="2900" dirty="0"/>
          </a:p>
          <a:p>
            <a:pPr marL="457200" lvl="1" indent="0">
              <a:buNone/>
            </a:pPr>
            <a:r>
              <a:rPr lang="en-US" sz="2900" dirty="0"/>
              <a:t>                                                                              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7">
                <a:extLst>
                  <a:ext uri="{FF2B5EF4-FFF2-40B4-BE49-F238E27FC236}">
                    <a16:creationId xmlns:a16="http://schemas.microsoft.com/office/drawing/2014/main" id="{1E4625E3-F874-434B-8614-A19327B91E81}"/>
                  </a:ext>
                </a:extLst>
              </p:cNvPr>
              <p:cNvSpPr txBox="1"/>
              <p:nvPr/>
            </p:nvSpPr>
            <p:spPr bwMode="auto">
              <a:xfrm>
                <a:off x="1384843" y="3392606"/>
                <a:ext cx="3494088" cy="7413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)&gt;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)≤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Object 7">
                <a:extLst>
                  <a:ext uri="{FF2B5EF4-FFF2-40B4-BE49-F238E27FC236}">
                    <a16:creationId xmlns:a16="http://schemas.microsoft.com/office/drawing/2014/main" id="{1E4625E3-F874-434B-8614-A19327B91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84843" y="3392606"/>
                <a:ext cx="3494088" cy="7413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656660C-2B2D-4CB9-8AE3-3FBA5EEA0A8B}"/>
              </a:ext>
            </a:extLst>
          </p:cNvPr>
          <p:cNvSpPr txBox="1"/>
          <p:nvPr/>
        </p:nvSpPr>
        <p:spPr>
          <a:xfrm>
            <a:off x="7162800" y="987642"/>
            <a:ext cx="502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Input = cv2.imread(‘LoG.tiff’, cv2.IMREAD_UNCHANGED)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EB725C-24D7-4AAC-A8FF-9D3C5D8DE818}"/>
              </a:ext>
            </a:extLst>
          </p:cNvPr>
          <p:cNvSpPr txBox="1"/>
          <p:nvPr/>
        </p:nvSpPr>
        <p:spPr>
          <a:xfrm>
            <a:off x="10780959" y="4947112"/>
            <a:ext cx="856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  <a:p>
            <a:r>
              <a:rPr lang="en-US" dirty="0"/>
              <a:t> T = 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A9E787-8B54-4C93-AC93-A41E6144FAEC}"/>
              </a:ext>
            </a:extLst>
          </p:cNvPr>
          <p:cNvSpPr txBox="1"/>
          <p:nvPr/>
        </p:nvSpPr>
        <p:spPr>
          <a:xfrm>
            <a:off x="424263" y="6377265"/>
            <a:ext cx="33954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N.B.: You can use any library functions </a:t>
            </a:r>
          </a:p>
        </p:txBody>
      </p:sp>
      <p:sp>
        <p:nvSpPr>
          <p:cNvPr id="16" name="Line 4">
            <a:extLst>
              <a:ext uri="{FF2B5EF4-FFF2-40B4-BE49-F238E27FC236}">
                <a16:creationId xmlns:a16="http://schemas.microsoft.com/office/drawing/2014/main" id="{8D628941-20C2-4975-98B6-680C18229500}"/>
              </a:ext>
            </a:extLst>
          </p:cNvPr>
          <p:cNvSpPr>
            <a:spLocks noChangeShapeType="1"/>
          </p:cNvSpPr>
          <p:nvPr/>
        </p:nvSpPr>
        <p:spPr bwMode="auto">
          <a:xfrm>
            <a:off x="2023286" y="4852734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/>
          </a:p>
        </p:txBody>
      </p:sp>
      <p:sp>
        <p:nvSpPr>
          <p:cNvPr id="18" name="Text Box 6">
            <a:extLst>
              <a:ext uri="{FF2B5EF4-FFF2-40B4-BE49-F238E27FC236}">
                <a16:creationId xmlns:a16="http://schemas.microsoft.com/office/drawing/2014/main" id="{28A26F49-B3D6-4985-B4E4-9212AD75AA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085" y="4628330"/>
            <a:ext cx="142859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Input Image</a:t>
            </a:r>
          </a:p>
        </p:txBody>
      </p:sp>
      <p:sp>
        <p:nvSpPr>
          <p:cNvPr id="19" name="Text Box 7">
            <a:extLst>
              <a:ext uri="{FF2B5EF4-FFF2-40B4-BE49-F238E27FC236}">
                <a16:creationId xmlns:a16="http://schemas.microsoft.com/office/drawing/2014/main" id="{F0809063-6824-4E78-85ED-A912BA03E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2323" y="4456592"/>
            <a:ext cx="1151277" cy="70788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zero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crossing?</a:t>
            </a:r>
          </a:p>
        </p:txBody>
      </p:sp>
      <p:sp>
        <p:nvSpPr>
          <p:cNvPr id="20" name="Line 8">
            <a:extLst>
              <a:ext uri="{FF2B5EF4-FFF2-40B4-BE49-F238E27FC236}">
                <a16:creationId xmlns:a16="http://schemas.microsoft.com/office/drawing/2014/main" id="{AA223944-B134-49E8-8F7E-825CA993FEB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0268" y="4872517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/>
          </a:p>
        </p:txBody>
      </p:sp>
      <p:sp>
        <p:nvSpPr>
          <p:cNvPr id="21" name="Text Box 12">
            <a:extLst>
              <a:ext uri="{FF2B5EF4-FFF2-40B4-BE49-F238E27FC236}">
                <a16:creationId xmlns:a16="http://schemas.microsoft.com/office/drawing/2014/main" id="{54CFB837-8D74-448F-BCCE-FF405B40C2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0053" y="4595538"/>
            <a:ext cx="909416" cy="4001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ZS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 &gt; T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22" name="Line 16">
            <a:extLst>
              <a:ext uri="{FF2B5EF4-FFF2-40B4-BE49-F238E27FC236}">
                <a16:creationId xmlns:a16="http://schemas.microsoft.com/office/drawing/2014/main" id="{2616B721-8BA6-40EF-B6A2-7FBCDD8B789D}"/>
              </a:ext>
            </a:extLst>
          </p:cNvPr>
          <p:cNvSpPr>
            <a:spLocks noChangeShapeType="1"/>
          </p:cNvSpPr>
          <p:nvPr/>
        </p:nvSpPr>
        <p:spPr bwMode="auto">
          <a:xfrm>
            <a:off x="3325488" y="5251271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/>
          </a:p>
        </p:txBody>
      </p:sp>
      <p:sp>
        <p:nvSpPr>
          <p:cNvPr id="23" name="Line 17">
            <a:extLst>
              <a:ext uri="{FF2B5EF4-FFF2-40B4-BE49-F238E27FC236}">
                <a16:creationId xmlns:a16="http://schemas.microsoft.com/office/drawing/2014/main" id="{EC05644F-660C-4937-8CD6-7EC10D45FAD6}"/>
              </a:ext>
            </a:extLst>
          </p:cNvPr>
          <p:cNvSpPr>
            <a:spLocks noChangeShapeType="1"/>
          </p:cNvSpPr>
          <p:nvPr/>
        </p:nvSpPr>
        <p:spPr bwMode="auto">
          <a:xfrm>
            <a:off x="5779499" y="4797979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24" name="Line 18">
            <a:extLst>
              <a:ext uri="{FF2B5EF4-FFF2-40B4-BE49-F238E27FC236}">
                <a16:creationId xmlns:a16="http://schemas.microsoft.com/office/drawing/2014/main" id="{BB920FAA-A8BB-4A5C-8E8F-09DE0CBA690D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4761" y="504421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/>
          </a:p>
        </p:txBody>
      </p:sp>
      <p:sp>
        <p:nvSpPr>
          <p:cNvPr id="25" name="Text Box 19">
            <a:extLst>
              <a:ext uri="{FF2B5EF4-FFF2-40B4-BE49-F238E27FC236}">
                <a16:creationId xmlns:a16="http://schemas.microsoft.com/office/drawing/2014/main" id="{09F59393-7C05-4417-912E-433EB93530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7628" y="5716087"/>
            <a:ext cx="154193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not an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edge point</a:t>
            </a:r>
          </a:p>
        </p:txBody>
      </p:sp>
      <p:sp>
        <p:nvSpPr>
          <p:cNvPr id="26" name="Text Box 20">
            <a:extLst>
              <a:ext uri="{FF2B5EF4-FFF2-40B4-BE49-F238E27FC236}">
                <a16:creationId xmlns:a16="http://schemas.microsoft.com/office/drawing/2014/main" id="{3A8BC0A4-2000-44B8-BE88-7820AA5974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8593" y="5259867"/>
            <a:ext cx="49885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No</a:t>
            </a:r>
          </a:p>
        </p:txBody>
      </p:sp>
      <p:sp>
        <p:nvSpPr>
          <p:cNvPr id="27" name="Text Box 21">
            <a:extLst>
              <a:ext uri="{FF2B5EF4-FFF2-40B4-BE49-F238E27FC236}">
                <a16:creationId xmlns:a16="http://schemas.microsoft.com/office/drawing/2014/main" id="{C08C9180-2367-4D93-9665-0C75464EB1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2947" y="4394273"/>
            <a:ext cx="52610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28" name="Text Box 22">
            <a:extLst>
              <a:ext uri="{FF2B5EF4-FFF2-40B4-BE49-F238E27FC236}">
                <a16:creationId xmlns:a16="http://schemas.microsoft.com/office/drawing/2014/main" id="{174B891F-F823-44C8-A609-F108D1314E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0644" y="5089681"/>
            <a:ext cx="49885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No</a:t>
            </a:r>
          </a:p>
        </p:txBody>
      </p:sp>
      <p:sp>
        <p:nvSpPr>
          <p:cNvPr id="29" name="Text Box 23">
            <a:extLst>
              <a:ext uri="{FF2B5EF4-FFF2-40B4-BE49-F238E27FC236}">
                <a16:creationId xmlns:a16="http://schemas.microsoft.com/office/drawing/2014/main" id="{F436F11F-0CB1-4EE1-8E5F-E555E546CE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0505" y="5584807"/>
            <a:ext cx="159787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not an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edge point</a:t>
            </a:r>
          </a:p>
        </p:txBody>
      </p:sp>
      <p:sp>
        <p:nvSpPr>
          <p:cNvPr id="30" name="Text Box 24">
            <a:extLst>
              <a:ext uri="{FF2B5EF4-FFF2-40B4-BE49-F238E27FC236}">
                <a16:creationId xmlns:a16="http://schemas.microsoft.com/office/drawing/2014/main" id="{DE305A72-C5DD-4F85-88EC-2ED4B5143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7766" y="4369184"/>
            <a:ext cx="181295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Edge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point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D81B76-6AE8-441A-8A61-78450AF47843}"/>
              </a:ext>
            </a:extLst>
          </p:cNvPr>
          <p:cNvSpPr txBox="1"/>
          <p:nvPr/>
        </p:nvSpPr>
        <p:spPr>
          <a:xfrm>
            <a:off x="3635379" y="3156962"/>
            <a:ext cx="261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82C22D-23A6-4750-91E1-529967DC5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7261" y="1425021"/>
            <a:ext cx="2529896" cy="24686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C30AF0-BE92-45F2-8567-9FA2C9BDE5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7261" y="4083101"/>
            <a:ext cx="2523967" cy="257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325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4270f1316_0_8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15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b="1" dirty="0"/>
              <a:t>Problem 3 </a:t>
            </a:r>
            <a:endParaRPr b="1" dirty="0"/>
          </a:p>
        </p:txBody>
      </p:sp>
      <p:sp>
        <p:nvSpPr>
          <p:cNvPr id="95" name="Google Shape;95;g254270f1316_0_87"/>
          <p:cNvSpPr txBox="1"/>
          <p:nvPr/>
        </p:nvSpPr>
        <p:spPr>
          <a:xfrm>
            <a:off x="838199" y="1221750"/>
            <a:ext cx="7124435" cy="14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buClr>
                <a:srgbClr val="000000"/>
              </a:buClr>
              <a:buSzPts val="2800"/>
            </a:pPr>
            <a:r>
              <a:rPr lang="en-US" sz="2800" dirty="0"/>
              <a:t>Apply the following Notch reject filters on the Fourier domain to remove periodic noise from the image.</a:t>
            </a:r>
          </a:p>
        </p:txBody>
      </p:sp>
      <p:sp>
        <p:nvSpPr>
          <p:cNvPr id="97" name="Google Shape;97;g254270f1316_0_87"/>
          <p:cNvSpPr txBox="1"/>
          <p:nvPr/>
        </p:nvSpPr>
        <p:spPr>
          <a:xfrm>
            <a:off x="769144" y="4232593"/>
            <a:ext cx="7290127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As for the center, use the given input values</a:t>
            </a: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2400" b="1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center</a:t>
            </a: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(X,Y)=(261, 261), and   D</a:t>
            </a:r>
            <a:r>
              <a:rPr lang="en-US" sz="2400" b="1" i="0" u="none" strike="noStrike" cap="none" baseline="-250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o</a:t>
            </a:r>
            <a:r>
              <a:rPr lang="en-US" sz="2400" b="1" i="0" u="none" strike="noStrike" cap="none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=5</a:t>
            </a:r>
            <a:endParaRPr sz="2400" b="1" i="0" u="none" strike="noStrike" cap="none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254270f1316_0_87"/>
          <p:cNvSpPr txBox="1"/>
          <p:nvPr/>
        </p:nvSpPr>
        <p:spPr>
          <a:xfrm>
            <a:off x="1981199" y="2727911"/>
            <a:ext cx="6723299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H(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u,v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= 0,	 if D(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u,v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)&lt;=D</a:t>
            </a:r>
            <a:r>
              <a:rPr lang="en-US" sz="2400" b="0" i="0" u="none" strike="noStrike" cap="none" baseline="-25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</a:t>
            </a: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2400" baseline="-25000" dirty="0">
                <a:latin typeface="Calibri"/>
                <a:ea typeface="Calibri"/>
                <a:cs typeface="Calibri"/>
                <a:sym typeface="Calibri"/>
              </a:rPr>
              <a:t>	  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1, 	 if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D(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u,v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)&gt; D</a:t>
            </a:r>
            <a:r>
              <a:rPr lang="en-US" sz="2400" b="0" i="0" u="none" strike="noStrike" cap="none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D376B9-B21E-4F29-8135-0C8502AB8F96}"/>
              </a:ext>
            </a:extLst>
          </p:cNvPr>
          <p:cNvSpPr txBox="1"/>
          <p:nvPr/>
        </p:nvSpPr>
        <p:spPr>
          <a:xfrm>
            <a:off x="11104924" y="2552970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25C65E-0A82-4DEE-95E9-90F8E5DFC6B6}"/>
              </a:ext>
            </a:extLst>
          </p:cNvPr>
          <p:cNvSpPr txBox="1"/>
          <p:nvPr/>
        </p:nvSpPr>
        <p:spPr>
          <a:xfrm>
            <a:off x="11019164" y="5025417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72D894-3410-4F99-8CC6-2FB5760498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341" y="513976"/>
            <a:ext cx="2663950" cy="26639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667390-6384-4C2B-87C6-DBBE3090DC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7342" y="3412305"/>
            <a:ext cx="2648280" cy="26639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54324282be_0_81"/>
          <p:cNvSpPr txBox="1">
            <a:spLocks noGrp="1"/>
          </p:cNvSpPr>
          <p:nvPr>
            <p:ph type="title"/>
          </p:nvPr>
        </p:nvSpPr>
        <p:spPr>
          <a:xfrm>
            <a:off x="838200" y="459701"/>
            <a:ext cx="105156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b="1" dirty="0"/>
              <a:t>Problem 4  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B332099-9CE6-4BF6-A0C4-85A3DFE38269}"/>
              </a:ext>
            </a:extLst>
          </p:cNvPr>
          <p:cNvSpPr txBox="1">
            <a:spLocks/>
          </p:cNvSpPr>
          <p:nvPr/>
        </p:nvSpPr>
        <p:spPr>
          <a:xfrm>
            <a:off x="935854" y="2473002"/>
            <a:ext cx="5012555" cy="3031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457200">
              <a:buFont typeface="Arial"/>
              <a:buAutoNum type="arabicPeriod"/>
            </a:pPr>
            <a:r>
              <a:rPr lang="en-US" sz="2000" dirty="0"/>
              <a:t>Perform equalization in the intensity Value channel of the HSV model.</a:t>
            </a:r>
          </a:p>
          <a:p>
            <a:pPr indent="-457200">
              <a:buFont typeface="Arial"/>
              <a:buAutoNum type="arabicPeriod"/>
            </a:pPr>
            <a:r>
              <a:rPr lang="en-US" sz="2000" dirty="0"/>
              <a:t>Show the output image in RGB mode with the histogram of the input image and the equalized image.</a:t>
            </a:r>
          </a:p>
          <a:p>
            <a:pPr indent="-457200">
              <a:buFont typeface="Arial"/>
              <a:buAutoNum type="arabicPeriod"/>
            </a:pPr>
            <a:r>
              <a:rPr lang="en-US" sz="2000" dirty="0"/>
              <a:t>Plot the pdf and </a:t>
            </a:r>
            <a:r>
              <a:rPr lang="en-US" sz="2000" dirty="0" err="1"/>
              <a:t>cdf</a:t>
            </a:r>
            <a:r>
              <a:rPr lang="en-US" sz="2000" dirty="0"/>
              <a:t> for bot input and output images.</a:t>
            </a:r>
          </a:p>
          <a:p>
            <a:pPr marL="457200" lvl="1" indent="0">
              <a:buFont typeface="Arial"/>
              <a:buNone/>
            </a:pPr>
            <a:endParaRPr lang="en-US" sz="2000" dirty="0"/>
          </a:p>
          <a:p>
            <a:pPr marL="457200" lvl="1" indent="0">
              <a:buFont typeface="Arial"/>
              <a:buNone/>
            </a:pP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1AA7DA-BD2F-4DA2-94F0-4D188F8926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118" y="1534287"/>
            <a:ext cx="3248003" cy="21485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A2B266-2955-4605-AC5D-D38E54A183C1}"/>
              </a:ext>
            </a:extLst>
          </p:cNvPr>
          <p:cNvSpPr txBox="1"/>
          <p:nvPr/>
        </p:nvSpPr>
        <p:spPr>
          <a:xfrm>
            <a:off x="838200" y="1290481"/>
            <a:ext cx="652182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Stretch the image so that its histogram is equalized over the whole intensity.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6FD57B-041F-4FC1-8EB7-5797E272A6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9118" y="3862782"/>
            <a:ext cx="3248003" cy="20952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0C0812-24C2-4FAA-8587-528FDC6DE86C}"/>
              </a:ext>
            </a:extLst>
          </p:cNvPr>
          <p:cNvSpPr txBox="1"/>
          <p:nvPr/>
        </p:nvSpPr>
        <p:spPr>
          <a:xfrm>
            <a:off x="10827016" y="2552970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1391D8-D608-4340-94CA-66BDBB8B7D43}"/>
              </a:ext>
            </a:extLst>
          </p:cNvPr>
          <p:cNvSpPr txBox="1"/>
          <p:nvPr/>
        </p:nvSpPr>
        <p:spPr>
          <a:xfrm>
            <a:off x="10741256" y="5025417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6400E-BF97-4DC7-BA06-293B1157D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6971"/>
            <a:ext cx="10515600" cy="907863"/>
          </a:xfrm>
        </p:spPr>
        <p:txBody>
          <a:bodyPr/>
          <a:lstStyle/>
          <a:p>
            <a:r>
              <a:rPr lang="en-US" b="1" dirty="0"/>
              <a:t>Problem 5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DDC5A-B0C7-42C2-B6AE-96A0EA725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5814"/>
            <a:ext cx="6405282" cy="11982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Calculate  </a:t>
            </a:r>
            <a:r>
              <a:rPr lang="en-US" sz="2400" b="1" dirty="0"/>
              <a:t>Form factor, Eccentricity, and Compactness </a:t>
            </a:r>
            <a:r>
              <a:rPr lang="en-US" sz="2400" dirty="0"/>
              <a:t>for the given Binary images and calculate their </a:t>
            </a:r>
            <a:r>
              <a:rPr lang="en-US" sz="2400" b="1" dirty="0"/>
              <a:t>similarity </a:t>
            </a:r>
            <a:r>
              <a:rPr lang="en-US" sz="2400" dirty="0"/>
              <a:t>using given equation.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60E778B-B2A4-4850-8139-C98E7D4490CC}"/>
                  </a:ext>
                </a:extLst>
              </p:cNvPr>
              <p:cNvSpPr txBox="1"/>
              <p:nvPr/>
            </p:nvSpPr>
            <p:spPr>
              <a:xfrm>
                <a:off x="838201" y="2452103"/>
                <a:ext cx="3751728" cy="19939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Compactness</a:t>
                </a:r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𝑃𝑒𝑟𝑖𝑚𝑒𝑡𝑒𝑟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𝐴𝑟𝑒𝑎</m:t>
                        </m:r>
                      </m:den>
                    </m:f>
                  </m:oMath>
                </a14:m>
                <a:endParaRPr lang="en-US" sz="2400" b="0" dirty="0"/>
              </a:p>
              <a:p>
                <a:r>
                  <a:rPr lang="en-US" sz="2400" b="1" dirty="0"/>
                  <a:t>Form</a:t>
                </a:r>
                <a:r>
                  <a:rPr lang="en-US" sz="2400" dirty="0"/>
                  <a:t> </a:t>
                </a:r>
                <a:r>
                  <a:rPr lang="en-US" sz="2400" b="1" dirty="0"/>
                  <a:t>factor</a:t>
                </a:r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𝐴𝑟𝑒𝑎</m:t>
                        </m:r>
                      </m:num>
                      <m:den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𝑃𝑒𝑟𝑖𝑚𝑒𝑡𝑒𝑟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sz="2400" b="0" dirty="0"/>
              </a:p>
              <a:p>
                <a:r>
                  <a:rPr lang="en-US" sz="2400" b="1" dirty="0"/>
                  <a:t>Eccentricity </a:t>
                </a:r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sz="2400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2400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60E778B-B2A4-4850-8139-C98E7D4490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2452103"/>
                <a:ext cx="3751728" cy="1993944"/>
              </a:xfrm>
              <a:prstGeom prst="rect">
                <a:avLst/>
              </a:prstGeom>
              <a:blipFill>
                <a:blip r:embed="rId2"/>
                <a:stretch>
                  <a:fillRect l="-2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AB4894E-3AE4-4E03-9ADE-61B73AC45DA1}"/>
                  </a:ext>
                </a:extLst>
              </p:cNvPr>
              <p:cNvSpPr txBox="1"/>
              <p:nvPr/>
            </p:nvSpPr>
            <p:spPr>
              <a:xfrm>
                <a:off x="838200" y="4610261"/>
                <a:ext cx="3647000" cy="7562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𝑫𝒊𝒔𝒕𝒂𝒏𝒄𝒆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AB4894E-3AE4-4E03-9ADE-61B73AC45D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610261"/>
                <a:ext cx="3647000" cy="7562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D39A5E2F-8F82-4600-8F04-D708C1187117}"/>
              </a:ext>
            </a:extLst>
          </p:cNvPr>
          <p:cNvSpPr txBox="1"/>
          <p:nvPr/>
        </p:nvSpPr>
        <p:spPr>
          <a:xfrm>
            <a:off x="838200" y="5652528"/>
            <a:ext cx="68759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Here, X and Y are the descriptor vectors for 2 images, n=3 for Form factor, Eccentricity, and Compactness. </a:t>
            </a:r>
            <a:r>
              <a:rPr lang="en-US" b="1" dirty="0"/>
              <a:t>Use p = 1 for the similarity measurement.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DD0FB5-6BC0-4A45-B993-EBEA11E972C0}"/>
              </a:ext>
            </a:extLst>
          </p:cNvPr>
          <p:cNvSpPr txBox="1"/>
          <p:nvPr/>
        </p:nvSpPr>
        <p:spPr>
          <a:xfrm>
            <a:off x="3728557" y="3619805"/>
            <a:ext cx="43209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/>
              <a:t>Where, </a:t>
            </a:r>
          </a:p>
          <a:p>
            <a:r>
              <a:rPr lang="en-US" sz="1600" i="1" dirty="0"/>
              <a:t>a = major axis length of the bounding ellipse</a:t>
            </a:r>
          </a:p>
          <a:p>
            <a:r>
              <a:rPr lang="en-US" sz="1600" i="1" dirty="0"/>
              <a:t>b = minor axis length of the bounding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5C1D16-CE32-496A-A121-EC48B7B7AA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9908" y="1520441"/>
            <a:ext cx="4166302" cy="27895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6357834-18E3-4C26-BADE-3E67C2EBBF6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7064" y="1617070"/>
            <a:ext cx="720852" cy="48443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B7CA1E0-CE15-47E4-9C17-D096014BA67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7929" y="1583734"/>
            <a:ext cx="595822" cy="5339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5293124-3832-4A3A-98B6-AA745C432C3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280" y="1583734"/>
            <a:ext cx="634255" cy="4928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D8C78E9-CBF8-4400-A744-CD5084A9FE9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3582" y="3728523"/>
            <a:ext cx="610158" cy="40199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05E5049-2F80-4823-921E-018A72AD3E8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064" y="3240337"/>
            <a:ext cx="610158" cy="45275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075375F-5CF4-4D5A-BFC6-699E89D1453C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3581" y="2144424"/>
            <a:ext cx="610159" cy="45275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6FDF6FE-B45A-48A8-8876-642E3385EFA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3581" y="2694216"/>
            <a:ext cx="610159" cy="50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656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5430</TotalTime>
  <Words>465</Words>
  <Application>Microsoft Office PowerPoint</Application>
  <PresentationFormat>Widescreen</PresentationFormat>
  <Paragraphs>73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Courier New</vt:lpstr>
      <vt:lpstr>Times New Roman</vt:lpstr>
      <vt:lpstr>Office Theme</vt:lpstr>
      <vt:lpstr>CSE 4128 </vt:lpstr>
      <vt:lpstr>Problem 1  </vt:lpstr>
      <vt:lpstr>Problem 2 </vt:lpstr>
      <vt:lpstr>Problem 3 </vt:lpstr>
      <vt:lpstr>Problem 4  </vt:lpstr>
      <vt:lpstr>Problem 5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4128</dc:title>
  <dc:creator>D B</dc:creator>
  <cp:lastModifiedBy>Efty Hasan</cp:lastModifiedBy>
  <cp:revision>40</cp:revision>
  <dcterms:created xsi:type="dcterms:W3CDTF">2024-05-31T20:51:01Z</dcterms:created>
  <dcterms:modified xsi:type="dcterms:W3CDTF">2025-10-27T02:11:49Z</dcterms:modified>
</cp:coreProperties>
</file>